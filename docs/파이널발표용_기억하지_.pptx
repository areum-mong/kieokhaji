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24384000" cy="13716000"/>
  <p:notesSz cx="6858000" cy="9144000"/>
  <p:embeddedFontLst>
    <p:embeddedFont>
      <p:font typeface="Pretendard ExtraBold"/>
      <p:bold r:id="rId51"/>
    </p:embeddedFont>
    <p:embeddedFont>
      <p:font typeface="Pretendard Medium"/>
      <p:bold r:id="rId52"/>
    </p:embeddedFont>
    <p:embeddedFont>
      <p:font typeface="Pretendard Bold"/>
      <p:bold r:id="rId53"/>
    </p:embeddedFont>
    <p:embeddedFont>
      <p:font typeface="Pretendard Regular"/>
      <p:regular r:id="rId54"/>
    </p:embeddedFont>
    <p:embeddedFont>
      <p:font typeface="Hakgyoansim Allimjang TTF R"/>
      <p:regular r:id="rId55"/>
    </p:embeddedFont>
    <p:embeddedFont>
      <p:font typeface="Pretendard SemiBold"/>
      <p:bold r:id="rId56"/>
    </p:embeddedFont>
    <p:embeddedFont>
      <p:font typeface="THEBlackjackL"/>
      <p:regular r:id="rId57"/>
    </p:embeddedFont>
    <p:embeddedFont>
      <p:font typeface="Hakgyoansim Allimjang TTF B"/>
      <p:bold r:id="rId58"/>
    </p:embeddedFont>
    <p:embeddedFont>
      <p:font typeface="NanumSquare Bold"/>
      <p:bold r:id="rId59"/>
    </p:embeddedFont>
    <p:embeddedFont>
      <p:font typeface="NanumSquare ExtraBold"/>
      <p:bold r:id="rId60"/>
    </p:embeddedFont>
    <p:embeddedFont>
      <p:font typeface="NanumSquare Regular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1.fntdata" Type="http://schemas.openxmlformats.org/officeDocument/2006/relationships/font"/><Relationship Id="rId52" Target="fonts/font2.fntdata" Type="http://schemas.openxmlformats.org/officeDocument/2006/relationships/font"/><Relationship Id="rId53" Target="fonts/font3.fntdata" Type="http://schemas.openxmlformats.org/officeDocument/2006/relationships/font"/><Relationship Id="rId54" Target="fonts/font4.fntdata" Type="http://schemas.openxmlformats.org/officeDocument/2006/relationships/font"/><Relationship Id="rId55" Target="fonts/font5.fntdata" Type="http://schemas.openxmlformats.org/officeDocument/2006/relationships/font"/><Relationship Id="rId56" Target="fonts/font6.fntdata" Type="http://schemas.openxmlformats.org/officeDocument/2006/relationships/font"/><Relationship Id="rId57" Target="fonts/font7.fntdata" Type="http://schemas.openxmlformats.org/officeDocument/2006/relationships/font"/><Relationship Id="rId58" Target="fonts/font8.fntdata" Type="http://schemas.openxmlformats.org/officeDocument/2006/relationships/font"/><Relationship Id="rId59" Target="fonts/font9.fntdata" Type="http://schemas.openxmlformats.org/officeDocument/2006/relationships/font"/><Relationship Id="rId6" Target="slides/slide1.xml" Type="http://schemas.openxmlformats.org/officeDocument/2006/relationships/slide"/><Relationship Id="rId60" Target="fonts/font10.fntdata" Type="http://schemas.openxmlformats.org/officeDocument/2006/relationships/font"/><Relationship Id="rId61" Target="fonts/font11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68.png" Type="http://schemas.openxmlformats.org/officeDocument/2006/relationships/image"/><Relationship Id="rId15" Target="../media/image69.png" Type="http://schemas.openxmlformats.org/officeDocument/2006/relationships/image"/><Relationship Id="rId16" Target="../media/image70.png" Type="http://schemas.openxmlformats.org/officeDocument/2006/relationships/image"/><Relationship Id="rId17" Target="../media/image71.png" Type="http://schemas.openxmlformats.org/officeDocument/2006/relationships/image"/><Relationship Id="rId18" Target="../media/image72.png" Type="http://schemas.openxmlformats.org/officeDocument/2006/relationships/image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84.png" Type="http://schemas.openxmlformats.org/officeDocument/2006/relationships/image"/><Relationship Id="rId14" Target="../media/image85.png" Type="http://schemas.openxmlformats.org/officeDocument/2006/relationships/image"/><Relationship Id="rId15" Target="../media/image86.png" Type="http://schemas.openxmlformats.org/officeDocument/2006/relationships/image"/><Relationship Id="rId16" Target="../media/image59.png" Type="http://schemas.openxmlformats.org/officeDocument/2006/relationships/image"/><Relationship Id="rId17" Target="../media/image87.png" Type="http://schemas.openxmlformats.org/officeDocument/2006/relationships/image"/><Relationship Id="rId18" Target="../media/image88.png" Type="http://schemas.openxmlformats.org/officeDocument/2006/relationships/image"/><Relationship Id="rId19" Target="../media/image89.png" Type="http://schemas.openxmlformats.org/officeDocument/2006/relationships/image"/><Relationship Id="rId2" Target="../media/image73.png" Type="http://schemas.openxmlformats.org/officeDocument/2006/relationships/image"/><Relationship Id="rId20" Target="../media/image90.png" Type="http://schemas.openxmlformats.org/officeDocument/2006/relationships/image"/><Relationship Id="rId21" Target="../media/image41.png" Type="http://schemas.openxmlformats.org/officeDocument/2006/relationships/image"/><Relationship Id="rId22" Target="../media/image42.png" Type="http://schemas.openxmlformats.org/officeDocument/2006/relationships/image"/><Relationship Id="rId23" Target="../media/image91.png" Type="http://schemas.openxmlformats.org/officeDocument/2006/relationships/image"/><Relationship Id="rId24" Target="../media/image92.png" Type="http://schemas.openxmlformats.org/officeDocument/2006/relationships/image"/><Relationship Id="rId25" Target="../media/image93.png" Type="http://schemas.openxmlformats.org/officeDocument/2006/relationships/image"/><Relationship Id="rId26" Target="../media/image94.png" Type="http://schemas.openxmlformats.org/officeDocument/2006/relationships/image"/><Relationship Id="rId27" Target="../media/image95.png" Type="http://schemas.openxmlformats.org/officeDocument/2006/relationships/image"/><Relationship Id="rId28" Target="../media/image96.png" Type="http://schemas.openxmlformats.org/officeDocument/2006/relationships/image"/><Relationship Id="rId29" Target="../media/image97.png" Type="http://schemas.openxmlformats.org/officeDocument/2006/relationships/image"/><Relationship Id="rId3" Target="../media/image74.png" Type="http://schemas.openxmlformats.org/officeDocument/2006/relationships/image"/><Relationship Id="rId30" Target="../media/image98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png" Type="http://schemas.openxmlformats.org/officeDocument/2006/relationships/image"/><Relationship Id="rId12" Target="../media/image109.png" Type="http://schemas.openxmlformats.org/officeDocument/2006/relationships/image"/><Relationship Id="rId13" Target="../media/image110.png" Type="http://schemas.openxmlformats.org/officeDocument/2006/relationships/image"/><Relationship Id="rId14" Target="../media/image111.png" Type="http://schemas.openxmlformats.org/officeDocument/2006/relationships/image"/><Relationship Id="rId15" Target="../media/image112.png" Type="http://schemas.openxmlformats.org/officeDocument/2006/relationships/image"/><Relationship Id="rId16" Target="../media/image113.png" Type="http://schemas.openxmlformats.org/officeDocument/2006/relationships/image"/><Relationship Id="rId17" Target="../media/image114.png" Type="http://schemas.openxmlformats.org/officeDocument/2006/relationships/image"/><Relationship Id="rId18" Target="../media/image115.png" Type="http://schemas.openxmlformats.org/officeDocument/2006/relationships/image"/><Relationship Id="rId19" Target="../media/image116.png" Type="http://schemas.openxmlformats.org/officeDocument/2006/relationships/image"/><Relationship Id="rId2" Target="../media/image99.png" Type="http://schemas.openxmlformats.org/officeDocument/2006/relationships/image"/><Relationship Id="rId20" Target="../media/image117.png" Type="http://schemas.openxmlformats.org/officeDocument/2006/relationships/image"/><Relationship Id="rId21" Target="../media/image118.png" Type="http://schemas.openxmlformats.org/officeDocument/2006/relationships/image"/><Relationship Id="rId22" Target="../media/image119.png" Type="http://schemas.openxmlformats.org/officeDocument/2006/relationships/image"/><Relationship Id="rId23" Target="../media/image120.png" Type="http://schemas.openxmlformats.org/officeDocument/2006/relationships/image"/><Relationship Id="rId24" Target="../media/image121.png" Type="http://schemas.openxmlformats.org/officeDocument/2006/relationships/image"/><Relationship Id="rId25" Target="../media/image122.png" Type="http://schemas.openxmlformats.org/officeDocument/2006/relationships/image"/><Relationship Id="rId26" Target="../media/image123.png" Type="http://schemas.openxmlformats.org/officeDocument/2006/relationships/image"/><Relationship Id="rId27" Target="../media/image124.png" Type="http://schemas.openxmlformats.org/officeDocument/2006/relationships/image"/><Relationship Id="rId28" Target="../media/image125.png" Type="http://schemas.openxmlformats.org/officeDocument/2006/relationships/image"/><Relationship Id="rId29" Target="../media/image41.png" Type="http://schemas.openxmlformats.org/officeDocument/2006/relationships/image"/><Relationship Id="rId3" Target="../media/image100.png" Type="http://schemas.openxmlformats.org/officeDocument/2006/relationships/image"/><Relationship Id="rId30" Target="../media/image42.png" Type="http://schemas.openxmlformats.org/officeDocument/2006/relationships/image"/><Relationship Id="rId31" Target="../media/image126.png" Type="http://schemas.openxmlformats.org/officeDocument/2006/relationships/image"/><Relationship Id="rId32" Target="../media/image127.pn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6.png" Type="http://schemas.openxmlformats.org/officeDocument/2006/relationships/image"/><Relationship Id="rId11" Target="../media/image137.png" Type="http://schemas.openxmlformats.org/officeDocument/2006/relationships/image"/><Relationship Id="rId12" Target="../media/image138.png" Type="http://schemas.openxmlformats.org/officeDocument/2006/relationships/image"/><Relationship Id="rId13" Target="../media/image139.png" Type="http://schemas.openxmlformats.org/officeDocument/2006/relationships/image"/><Relationship Id="rId14" Target="../media/image140.png" Type="http://schemas.openxmlformats.org/officeDocument/2006/relationships/image"/><Relationship Id="rId15" Target="../media/image141.png" Type="http://schemas.openxmlformats.org/officeDocument/2006/relationships/image"/><Relationship Id="rId16" Target="../media/image142.png" Type="http://schemas.openxmlformats.org/officeDocument/2006/relationships/image"/><Relationship Id="rId17" Target="../media/image143.png" Type="http://schemas.openxmlformats.org/officeDocument/2006/relationships/image"/><Relationship Id="rId18" Target="../media/image144.png" Type="http://schemas.openxmlformats.org/officeDocument/2006/relationships/image"/><Relationship Id="rId19" Target="../media/image41.png" Type="http://schemas.openxmlformats.org/officeDocument/2006/relationships/image"/><Relationship Id="rId2" Target="../media/image128.png" Type="http://schemas.openxmlformats.org/officeDocument/2006/relationships/image"/><Relationship Id="rId20" Target="../media/image42.png" Type="http://schemas.openxmlformats.org/officeDocument/2006/relationships/image"/><Relationship Id="rId3" Target="../media/image129.png" Type="http://schemas.openxmlformats.org/officeDocument/2006/relationships/image"/><Relationship Id="rId4" Target="../media/image130.png" Type="http://schemas.openxmlformats.org/officeDocument/2006/relationships/image"/><Relationship Id="rId5" Target="../media/image131.png" Type="http://schemas.openxmlformats.org/officeDocument/2006/relationships/image"/><Relationship Id="rId6" Target="../media/image132.png" Type="http://schemas.openxmlformats.org/officeDocument/2006/relationships/image"/><Relationship Id="rId7" Target="../media/image133.png" Type="http://schemas.openxmlformats.org/officeDocument/2006/relationships/image"/><Relationship Id="rId8" Target="../media/image134.png" Type="http://schemas.openxmlformats.org/officeDocument/2006/relationships/image"/><Relationship Id="rId9" Target="../media/image1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png" Type="http://schemas.openxmlformats.org/officeDocument/2006/relationships/image"/><Relationship Id="rId12" Target="../media/image155.png" Type="http://schemas.openxmlformats.org/officeDocument/2006/relationships/image"/><Relationship Id="rId13" Target="../media/image156.png" Type="http://schemas.openxmlformats.org/officeDocument/2006/relationships/image"/><Relationship Id="rId14" Target="../media/image157.png" Type="http://schemas.openxmlformats.org/officeDocument/2006/relationships/image"/><Relationship Id="rId15" Target="../media/image158.png" Type="http://schemas.openxmlformats.org/officeDocument/2006/relationships/image"/><Relationship Id="rId16" Target="../media/image159.png" Type="http://schemas.openxmlformats.org/officeDocument/2006/relationships/image"/><Relationship Id="rId17" Target="../media/image160.png" Type="http://schemas.openxmlformats.org/officeDocument/2006/relationships/image"/><Relationship Id="rId18" Target="../media/image161.png" Type="http://schemas.openxmlformats.org/officeDocument/2006/relationships/image"/><Relationship Id="rId19" Target="../media/image162.png" Type="http://schemas.openxmlformats.org/officeDocument/2006/relationships/image"/><Relationship Id="rId2" Target="../media/image145.png" Type="http://schemas.openxmlformats.org/officeDocument/2006/relationships/image"/><Relationship Id="rId20" Target="../media/image163.png" Type="http://schemas.openxmlformats.org/officeDocument/2006/relationships/image"/><Relationship Id="rId21" Target="../media/image164.png" Type="http://schemas.openxmlformats.org/officeDocument/2006/relationships/image"/><Relationship Id="rId22" Target="../media/image41.png" Type="http://schemas.openxmlformats.org/officeDocument/2006/relationships/image"/><Relationship Id="rId23" Target="../media/image42.png" Type="http://schemas.openxmlformats.org/officeDocument/2006/relationships/image"/><Relationship Id="rId24" Target="../media/image76.png" Type="http://schemas.openxmlformats.org/officeDocument/2006/relationships/image"/><Relationship Id="rId25" Target="../media/image165.png" Type="http://schemas.openxmlformats.org/officeDocument/2006/relationships/image"/><Relationship Id="rId3" Target="../media/image146.png" Type="http://schemas.openxmlformats.org/officeDocument/2006/relationships/image"/><Relationship Id="rId4" Target="../media/image147.png" Type="http://schemas.openxmlformats.org/officeDocument/2006/relationships/image"/><Relationship Id="rId5" Target="../media/image148.png" Type="http://schemas.openxmlformats.org/officeDocument/2006/relationships/image"/><Relationship Id="rId6" Target="../media/image149.png" Type="http://schemas.openxmlformats.org/officeDocument/2006/relationships/image"/><Relationship Id="rId7" Target="../media/image150.png" Type="http://schemas.openxmlformats.org/officeDocument/2006/relationships/image"/><Relationship Id="rId8" Target="../media/image151.png" Type="http://schemas.openxmlformats.org/officeDocument/2006/relationships/image"/><Relationship Id="rId9" Target="../media/image1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4.png" Type="http://schemas.openxmlformats.org/officeDocument/2006/relationships/image"/><Relationship Id="rId11" Target="../media/image175.png" Type="http://schemas.openxmlformats.org/officeDocument/2006/relationships/image"/><Relationship Id="rId12" Target="../media/image176.png" Type="http://schemas.openxmlformats.org/officeDocument/2006/relationships/image"/><Relationship Id="rId13" Target="../media/image177.png" Type="http://schemas.openxmlformats.org/officeDocument/2006/relationships/image"/><Relationship Id="rId14" Target="../media/image178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2" Target="../media/image166.png" Type="http://schemas.openxmlformats.org/officeDocument/2006/relationships/image"/><Relationship Id="rId3" Target="../media/image167.png" Type="http://schemas.openxmlformats.org/officeDocument/2006/relationships/image"/><Relationship Id="rId4" Target="../media/image168.png" Type="http://schemas.openxmlformats.org/officeDocument/2006/relationships/image"/><Relationship Id="rId5" Target="../media/image169.png" Type="http://schemas.openxmlformats.org/officeDocument/2006/relationships/image"/><Relationship Id="rId6" Target="../media/image170.png" Type="http://schemas.openxmlformats.org/officeDocument/2006/relationships/image"/><Relationship Id="rId7" Target="../media/image171.png" Type="http://schemas.openxmlformats.org/officeDocument/2006/relationships/image"/><Relationship Id="rId8" Target="../media/image172.png" Type="http://schemas.openxmlformats.org/officeDocument/2006/relationships/image"/><Relationship Id="rId9" Target="../media/image17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17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6.png" Type="http://schemas.openxmlformats.org/officeDocument/2006/relationships/image"/><Relationship Id="rId11" Target="../media/image187.png" Type="http://schemas.openxmlformats.org/officeDocument/2006/relationships/image"/><Relationship Id="rId12" Target="../media/image188.png" Type="http://schemas.openxmlformats.org/officeDocument/2006/relationships/image"/><Relationship Id="rId13" Target="../media/image189.png" Type="http://schemas.openxmlformats.org/officeDocument/2006/relationships/image"/><Relationship Id="rId14" Target="../media/image190.png" Type="http://schemas.openxmlformats.org/officeDocument/2006/relationships/image"/><Relationship Id="rId15" Target="../media/image191.png" Type="http://schemas.openxmlformats.org/officeDocument/2006/relationships/image"/><Relationship Id="rId16" Target="../media/image192.png" Type="http://schemas.openxmlformats.org/officeDocument/2006/relationships/image"/><Relationship Id="rId17" Target="../media/image193.png" Type="http://schemas.openxmlformats.org/officeDocument/2006/relationships/image"/><Relationship Id="rId18" Target="../media/image194.png" Type="http://schemas.openxmlformats.org/officeDocument/2006/relationships/image"/><Relationship Id="rId19" Target="../media/image195.png" Type="http://schemas.openxmlformats.org/officeDocument/2006/relationships/image"/><Relationship Id="rId2" Target="../media/image180.png" Type="http://schemas.openxmlformats.org/officeDocument/2006/relationships/image"/><Relationship Id="rId20" Target="../media/image196.png" Type="http://schemas.openxmlformats.org/officeDocument/2006/relationships/image"/><Relationship Id="rId21" Target="../media/image197.png" Type="http://schemas.openxmlformats.org/officeDocument/2006/relationships/image"/><Relationship Id="rId22" Target="../media/image198.png" Type="http://schemas.openxmlformats.org/officeDocument/2006/relationships/image"/><Relationship Id="rId23" Target="../media/image199.png" Type="http://schemas.openxmlformats.org/officeDocument/2006/relationships/image"/><Relationship Id="rId24" Target="../media/image200.png" Type="http://schemas.openxmlformats.org/officeDocument/2006/relationships/image"/><Relationship Id="rId25" Target="../media/image201.png" Type="http://schemas.openxmlformats.org/officeDocument/2006/relationships/image"/><Relationship Id="rId26" Target="../media/image202.png" Type="http://schemas.openxmlformats.org/officeDocument/2006/relationships/image"/><Relationship Id="rId27" Target="../media/image203.png" Type="http://schemas.openxmlformats.org/officeDocument/2006/relationships/image"/><Relationship Id="rId28" Target="../media/image204.png" Type="http://schemas.openxmlformats.org/officeDocument/2006/relationships/image"/><Relationship Id="rId29" Target="../media/image205.png" Type="http://schemas.openxmlformats.org/officeDocument/2006/relationships/image"/><Relationship Id="rId3" Target="../media/image41.png" Type="http://schemas.openxmlformats.org/officeDocument/2006/relationships/image"/><Relationship Id="rId30" Target="../media/image206.png" Type="http://schemas.openxmlformats.org/officeDocument/2006/relationships/image"/><Relationship Id="rId4" Target="../media/image42.png" Type="http://schemas.openxmlformats.org/officeDocument/2006/relationships/image"/><Relationship Id="rId5" Target="../media/image181.png" Type="http://schemas.openxmlformats.org/officeDocument/2006/relationships/image"/><Relationship Id="rId6" Target="../media/image182.png" Type="http://schemas.openxmlformats.org/officeDocument/2006/relationships/image"/><Relationship Id="rId7" Target="../media/image183.png" Type="http://schemas.openxmlformats.org/officeDocument/2006/relationships/image"/><Relationship Id="rId8" Target="../media/image184.png" Type="http://schemas.openxmlformats.org/officeDocument/2006/relationships/image"/><Relationship Id="rId9" Target="../media/image18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5.png" Type="http://schemas.openxmlformats.org/officeDocument/2006/relationships/image"/><Relationship Id="rId11" Target="../media/image216.png" Type="http://schemas.openxmlformats.org/officeDocument/2006/relationships/image"/><Relationship Id="rId12" Target="../media/image217.png" Type="http://schemas.openxmlformats.org/officeDocument/2006/relationships/image"/><Relationship Id="rId13" Target="../media/image218.png" Type="http://schemas.openxmlformats.org/officeDocument/2006/relationships/image"/><Relationship Id="rId14" Target="../media/image219.png" Type="http://schemas.openxmlformats.org/officeDocument/2006/relationships/image"/><Relationship Id="rId15" Target="../media/image220.png" Type="http://schemas.openxmlformats.org/officeDocument/2006/relationships/image"/><Relationship Id="rId16" Target="../media/image41.png" Type="http://schemas.openxmlformats.org/officeDocument/2006/relationships/image"/><Relationship Id="rId17" Target="../media/image42.png" Type="http://schemas.openxmlformats.org/officeDocument/2006/relationships/image"/><Relationship Id="rId2" Target="../media/image207.png" Type="http://schemas.openxmlformats.org/officeDocument/2006/relationships/image"/><Relationship Id="rId3" Target="../media/image208.png" Type="http://schemas.openxmlformats.org/officeDocument/2006/relationships/image"/><Relationship Id="rId4" Target="../media/image209.png" Type="http://schemas.openxmlformats.org/officeDocument/2006/relationships/image"/><Relationship Id="rId5" Target="../media/image210.png" Type="http://schemas.openxmlformats.org/officeDocument/2006/relationships/image"/><Relationship Id="rId6" Target="../media/image211.png" Type="http://schemas.openxmlformats.org/officeDocument/2006/relationships/image"/><Relationship Id="rId7" Target="../media/image212.png" Type="http://schemas.openxmlformats.org/officeDocument/2006/relationships/image"/><Relationship Id="rId8" Target="../media/image213.png" Type="http://schemas.openxmlformats.org/officeDocument/2006/relationships/image"/><Relationship Id="rId9" Target="../media/image2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7.png" Type="http://schemas.openxmlformats.org/officeDocument/2006/relationships/image"/><Relationship Id="rId11" Target="../media/image228.png" Type="http://schemas.openxmlformats.org/officeDocument/2006/relationships/image"/><Relationship Id="rId12" Target="../media/image229.png" Type="http://schemas.openxmlformats.org/officeDocument/2006/relationships/image"/><Relationship Id="rId13" Target="../media/image230.png" Type="http://schemas.openxmlformats.org/officeDocument/2006/relationships/image"/><Relationship Id="rId14" Target="../media/image231.png" Type="http://schemas.openxmlformats.org/officeDocument/2006/relationships/image"/><Relationship Id="rId15" Target="../media/image232.png" Type="http://schemas.openxmlformats.org/officeDocument/2006/relationships/image"/><Relationship Id="rId16" Target="../media/image233.png" Type="http://schemas.openxmlformats.org/officeDocument/2006/relationships/image"/><Relationship Id="rId17" Target="../media/image234.png" Type="http://schemas.openxmlformats.org/officeDocument/2006/relationships/image"/><Relationship Id="rId18" Target="../media/image235.png" Type="http://schemas.openxmlformats.org/officeDocument/2006/relationships/image"/><Relationship Id="rId19" Target="../media/image236.png" Type="http://schemas.openxmlformats.org/officeDocument/2006/relationships/image"/><Relationship Id="rId2" Target="../media/image221.png" Type="http://schemas.openxmlformats.org/officeDocument/2006/relationships/image"/><Relationship Id="rId20" Target="../media/image237.png" Type="http://schemas.openxmlformats.org/officeDocument/2006/relationships/image"/><Relationship Id="rId21" Target="../media/image238.png" Type="http://schemas.openxmlformats.org/officeDocument/2006/relationships/image"/><Relationship Id="rId22" Target="../media/image239.png" Type="http://schemas.openxmlformats.org/officeDocument/2006/relationships/image"/><Relationship Id="rId3" Target="../media/image222.png" Type="http://schemas.openxmlformats.org/officeDocument/2006/relationships/image"/><Relationship Id="rId4" Target="../media/image223.png" Type="http://schemas.openxmlformats.org/officeDocument/2006/relationships/image"/><Relationship Id="rId5" Target="../media/image224.png" Type="http://schemas.openxmlformats.org/officeDocument/2006/relationships/image"/><Relationship Id="rId6" Target="../media/image225.png" Type="http://schemas.openxmlformats.org/officeDocument/2006/relationships/image"/><Relationship Id="rId7" Target="../media/image226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6.png" Type="http://schemas.openxmlformats.org/officeDocument/2006/relationships/image"/><Relationship Id="rId11" Target="../media/image247.png" Type="http://schemas.openxmlformats.org/officeDocument/2006/relationships/image"/><Relationship Id="rId12" Target="../media/image248.png" Type="http://schemas.openxmlformats.org/officeDocument/2006/relationships/image"/><Relationship Id="rId13" Target="../media/image249.png" Type="http://schemas.openxmlformats.org/officeDocument/2006/relationships/image"/><Relationship Id="rId14" Target="../media/image250.png" Type="http://schemas.openxmlformats.org/officeDocument/2006/relationships/image"/><Relationship Id="rId15" Target="../media/image251.png" Type="http://schemas.openxmlformats.org/officeDocument/2006/relationships/image"/><Relationship Id="rId16" Target="../media/image252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240.png" Type="http://schemas.openxmlformats.org/officeDocument/2006/relationships/image"/><Relationship Id="rId5" Target="../media/image241.png" Type="http://schemas.openxmlformats.org/officeDocument/2006/relationships/image"/><Relationship Id="rId6" Target="../media/image242.png" Type="http://schemas.openxmlformats.org/officeDocument/2006/relationships/image"/><Relationship Id="rId7" Target="../media/image243.png" Type="http://schemas.openxmlformats.org/officeDocument/2006/relationships/image"/><Relationship Id="rId8" Target="../media/image244.png" Type="http://schemas.openxmlformats.org/officeDocument/2006/relationships/image"/><Relationship Id="rId9" Target="../media/image24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9.png" Type="http://schemas.openxmlformats.org/officeDocument/2006/relationships/image"/><Relationship Id="rId11" Target="../media/image260.png" Type="http://schemas.openxmlformats.org/officeDocument/2006/relationships/image"/><Relationship Id="rId12" Target="../media/image261.png" Type="http://schemas.openxmlformats.org/officeDocument/2006/relationships/image"/><Relationship Id="rId13" Target="../media/image262.png" Type="http://schemas.openxmlformats.org/officeDocument/2006/relationships/image"/><Relationship Id="rId14" Target="../media/image263.png" Type="http://schemas.openxmlformats.org/officeDocument/2006/relationships/image"/><Relationship Id="rId15" Target="../media/image264.png" Type="http://schemas.openxmlformats.org/officeDocument/2006/relationships/image"/><Relationship Id="rId16" Target="../media/image265.png" Type="http://schemas.openxmlformats.org/officeDocument/2006/relationships/image"/><Relationship Id="rId17" Target="../media/image266.png" Type="http://schemas.openxmlformats.org/officeDocument/2006/relationships/image"/><Relationship Id="rId18" Target="../media/image267.png" Type="http://schemas.openxmlformats.org/officeDocument/2006/relationships/image"/><Relationship Id="rId19" Target="../media/image268.png" Type="http://schemas.openxmlformats.org/officeDocument/2006/relationships/image"/><Relationship Id="rId2" Target="../media/image253.png" Type="http://schemas.openxmlformats.org/officeDocument/2006/relationships/image"/><Relationship Id="rId20" Target="../media/image269.png" Type="http://schemas.openxmlformats.org/officeDocument/2006/relationships/image"/><Relationship Id="rId21" Target="../media/image270.png" Type="http://schemas.openxmlformats.org/officeDocument/2006/relationships/image"/><Relationship Id="rId22" Target="../media/image271.png" Type="http://schemas.openxmlformats.org/officeDocument/2006/relationships/image"/><Relationship Id="rId23" Target="../media/image272.png" Type="http://schemas.openxmlformats.org/officeDocument/2006/relationships/image"/><Relationship Id="rId24" Target="../media/image273.png" Type="http://schemas.openxmlformats.org/officeDocument/2006/relationships/image"/><Relationship Id="rId25" Target="../media/image274.png" Type="http://schemas.openxmlformats.org/officeDocument/2006/relationships/image"/><Relationship Id="rId26" Target="../media/image275.png" Type="http://schemas.openxmlformats.org/officeDocument/2006/relationships/image"/><Relationship Id="rId3" Target="../media/image254.png" Type="http://schemas.openxmlformats.org/officeDocument/2006/relationships/image"/><Relationship Id="rId4" Target="../media/image255.png" Type="http://schemas.openxmlformats.org/officeDocument/2006/relationships/image"/><Relationship Id="rId5" Target="../media/image256.png" Type="http://schemas.openxmlformats.org/officeDocument/2006/relationships/image"/><Relationship Id="rId6" Target="../media/image257.png" Type="http://schemas.openxmlformats.org/officeDocument/2006/relationships/image"/><Relationship Id="rId7" Target="../media/image258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2.png" Type="http://schemas.openxmlformats.org/officeDocument/2006/relationships/image"/><Relationship Id="rId11" Target="../media/image283.png" Type="http://schemas.openxmlformats.org/officeDocument/2006/relationships/image"/><Relationship Id="rId12" Target="../media/image284.png" Type="http://schemas.openxmlformats.org/officeDocument/2006/relationships/image"/><Relationship Id="rId13" Target="../media/image285.png" Type="http://schemas.openxmlformats.org/officeDocument/2006/relationships/image"/><Relationship Id="rId14" Target="../media/image286.png" Type="http://schemas.openxmlformats.org/officeDocument/2006/relationships/image"/><Relationship Id="rId15" Target="../media/image287.png" Type="http://schemas.openxmlformats.org/officeDocument/2006/relationships/image"/><Relationship Id="rId16" Target="../media/image288.png" Type="http://schemas.openxmlformats.org/officeDocument/2006/relationships/image"/><Relationship Id="rId17" Target="../media/image289.png" Type="http://schemas.openxmlformats.org/officeDocument/2006/relationships/image"/><Relationship Id="rId18" Target="../media/image290.png" Type="http://schemas.openxmlformats.org/officeDocument/2006/relationships/image"/><Relationship Id="rId19" Target="../media/image291.png" Type="http://schemas.openxmlformats.org/officeDocument/2006/relationships/image"/><Relationship Id="rId2" Target="../media/image41.png" Type="http://schemas.openxmlformats.org/officeDocument/2006/relationships/image"/><Relationship Id="rId20" Target="../media/image292.png" Type="http://schemas.openxmlformats.org/officeDocument/2006/relationships/image"/><Relationship Id="rId21" Target="../media/image293.png" Type="http://schemas.openxmlformats.org/officeDocument/2006/relationships/image"/><Relationship Id="rId22" Target="../media/image294.png" Type="http://schemas.openxmlformats.org/officeDocument/2006/relationships/image"/><Relationship Id="rId23" Target="../media/image295.png" Type="http://schemas.openxmlformats.org/officeDocument/2006/relationships/image"/><Relationship Id="rId24" Target="../media/image296.png" Type="http://schemas.openxmlformats.org/officeDocument/2006/relationships/image"/><Relationship Id="rId25" Target="../media/image297.png" Type="http://schemas.openxmlformats.org/officeDocument/2006/relationships/image"/><Relationship Id="rId26" Target="../media/image298.png" Type="http://schemas.openxmlformats.org/officeDocument/2006/relationships/image"/><Relationship Id="rId27" Target="../media/image299.png" Type="http://schemas.openxmlformats.org/officeDocument/2006/relationships/image"/><Relationship Id="rId28" Target="../media/image300.png" Type="http://schemas.openxmlformats.org/officeDocument/2006/relationships/image"/><Relationship Id="rId29" Target="../media/image301.png" Type="http://schemas.openxmlformats.org/officeDocument/2006/relationships/image"/><Relationship Id="rId3" Target="../media/image42.png" Type="http://schemas.openxmlformats.org/officeDocument/2006/relationships/image"/><Relationship Id="rId30" Target="../media/image302.png" Type="http://schemas.openxmlformats.org/officeDocument/2006/relationships/image"/><Relationship Id="rId4" Target="../media/image276.png" Type="http://schemas.openxmlformats.org/officeDocument/2006/relationships/image"/><Relationship Id="rId5" Target="../media/image277.png" Type="http://schemas.openxmlformats.org/officeDocument/2006/relationships/image"/><Relationship Id="rId6" Target="../media/image278.png" Type="http://schemas.openxmlformats.org/officeDocument/2006/relationships/image"/><Relationship Id="rId7" Target="../media/image279.png" Type="http://schemas.openxmlformats.org/officeDocument/2006/relationships/image"/><Relationship Id="rId8" Target="../media/image280.png" Type="http://schemas.openxmlformats.org/officeDocument/2006/relationships/image"/><Relationship Id="rId9" Target="../media/image28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8.png" Type="http://schemas.openxmlformats.org/officeDocument/2006/relationships/image"/><Relationship Id="rId11" Target="../media/image309.png" Type="http://schemas.openxmlformats.org/officeDocument/2006/relationships/image"/><Relationship Id="rId12" Target="../media/image310.png" Type="http://schemas.openxmlformats.org/officeDocument/2006/relationships/image"/><Relationship Id="rId13" Target="../media/image311.png" Type="http://schemas.openxmlformats.org/officeDocument/2006/relationships/image"/><Relationship Id="rId14" Target="../media/image312.png" Type="http://schemas.openxmlformats.org/officeDocument/2006/relationships/image"/><Relationship Id="rId15" Target="../media/image313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184.png" Type="http://schemas.openxmlformats.org/officeDocument/2006/relationships/image"/><Relationship Id="rId5" Target="../media/image303.png" Type="http://schemas.openxmlformats.org/officeDocument/2006/relationships/image"/><Relationship Id="rId6" Target="../media/image304.png" Type="http://schemas.openxmlformats.org/officeDocument/2006/relationships/image"/><Relationship Id="rId7" Target="../media/image305.png" Type="http://schemas.openxmlformats.org/officeDocument/2006/relationships/image"/><Relationship Id="rId8" Target="../media/image306.png" Type="http://schemas.openxmlformats.org/officeDocument/2006/relationships/image"/><Relationship Id="rId9" Target="../media/image30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184.png" Type="http://schemas.openxmlformats.org/officeDocument/2006/relationships/image"/><Relationship Id="rId5" Target="../media/image314.png" Type="http://schemas.openxmlformats.org/officeDocument/2006/relationships/image"/><Relationship Id="rId6" Target="../media/image315.png" Type="http://schemas.openxmlformats.org/officeDocument/2006/relationships/image"/><Relationship Id="rId7" Target="../media/image316.png" Type="http://schemas.openxmlformats.org/officeDocument/2006/relationships/image"/><Relationship Id="rId8" Target="../media/image317.png" Type="http://schemas.openxmlformats.org/officeDocument/2006/relationships/image"/><Relationship Id="rId9" Target="../media/image3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5.png" Type="http://schemas.openxmlformats.org/officeDocument/2006/relationships/image"/><Relationship Id="rId11" Target="../media/image326.png" Type="http://schemas.openxmlformats.org/officeDocument/2006/relationships/image"/><Relationship Id="rId12" Target="../media/image327.png" Type="http://schemas.openxmlformats.org/officeDocument/2006/relationships/image"/><Relationship Id="rId13" Target="../media/image328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320.png" Type="http://schemas.openxmlformats.org/officeDocument/2006/relationships/image"/><Relationship Id="rId5" Target="../media/image321.png" Type="http://schemas.openxmlformats.org/officeDocument/2006/relationships/image"/><Relationship Id="rId6" Target="../media/image322.png" Type="http://schemas.openxmlformats.org/officeDocument/2006/relationships/image"/><Relationship Id="rId7" Target="../media/image323.png" Type="http://schemas.openxmlformats.org/officeDocument/2006/relationships/image"/><Relationship Id="rId8" Target="../media/image324.png" Type="http://schemas.openxmlformats.org/officeDocument/2006/relationships/image"/><Relationship Id="rId9" Target="../media/image18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5.png" Type="http://schemas.openxmlformats.org/officeDocument/2006/relationships/image"/><Relationship Id="rId2" Target="../media/image41.png" Type="http://schemas.openxmlformats.org/officeDocument/2006/relationships/image"/><Relationship Id="rId3" Target="../media/image329.png" Type="http://schemas.openxmlformats.org/officeDocument/2006/relationships/image"/><Relationship Id="rId4" Target="../media/image42.png" Type="http://schemas.openxmlformats.org/officeDocument/2006/relationships/image"/><Relationship Id="rId5" Target="../media/image330.png" Type="http://schemas.openxmlformats.org/officeDocument/2006/relationships/image"/><Relationship Id="rId6" Target="../media/image331.png" Type="http://schemas.openxmlformats.org/officeDocument/2006/relationships/image"/><Relationship Id="rId7" Target="../media/image332.png" Type="http://schemas.openxmlformats.org/officeDocument/2006/relationships/image"/><Relationship Id="rId8" Target="../media/image333.png" Type="http://schemas.openxmlformats.org/officeDocument/2006/relationships/image"/><Relationship Id="rId9" Target="../media/image33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6.png" Type="http://schemas.openxmlformats.org/officeDocument/2006/relationships/image"/><Relationship Id="rId3" Target="../media/image337.png" Type="http://schemas.openxmlformats.org/officeDocument/2006/relationships/image"/><Relationship Id="rId4" Target="../media/image338.png" Type="http://schemas.openxmlformats.org/officeDocument/2006/relationships/image"/><Relationship Id="rId5" Target="../media/image339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340.png" Type="http://schemas.openxmlformats.org/officeDocument/2006/relationships/image"/><Relationship Id="rId5" Target="../media/image34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2.png" Type="http://schemas.openxmlformats.org/officeDocument/2006/relationships/image"/><Relationship Id="rId3" Target="../media/image23.png" Type="http://schemas.openxmlformats.org/officeDocument/2006/relationships/image"/><Relationship Id="rId4" Target="../media/image34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9.png" Type="http://schemas.openxmlformats.org/officeDocument/2006/relationships/image"/><Relationship Id="rId11" Target="../media/image188.png" Type="http://schemas.openxmlformats.org/officeDocument/2006/relationships/image"/><Relationship Id="rId12" Target="../media/image189.png" Type="http://schemas.openxmlformats.org/officeDocument/2006/relationships/image"/><Relationship Id="rId13" Target="../media/image190.png" Type="http://schemas.openxmlformats.org/officeDocument/2006/relationships/image"/><Relationship Id="rId14" Target="../media/image350.png" Type="http://schemas.openxmlformats.org/officeDocument/2006/relationships/image"/><Relationship Id="rId15" Target="../media/image192.png" Type="http://schemas.openxmlformats.org/officeDocument/2006/relationships/image"/><Relationship Id="rId16" Target="../media/image193.png" Type="http://schemas.openxmlformats.org/officeDocument/2006/relationships/image"/><Relationship Id="rId17" Target="../media/image194.png" Type="http://schemas.openxmlformats.org/officeDocument/2006/relationships/image"/><Relationship Id="rId18" Target="../media/image202.png" Type="http://schemas.openxmlformats.org/officeDocument/2006/relationships/image"/><Relationship Id="rId19" Target="../media/image351.png" Type="http://schemas.openxmlformats.org/officeDocument/2006/relationships/image"/><Relationship Id="rId2" Target="../media/image344.png" Type="http://schemas.openxmlformats.org/officeDocument/2006/relationships/image"/><Relationship Id="rId20" Target="../media/image195.png" Type="http://schemas.openxmlformats.org/officeDocument/2006/relationships/image"/><Relationship Id="rId21" Target="../media/image196.png" Type="http://schemas.openxmlformats.org/officeDocument/2006/relationships/image"/><Relationship Id="rId22" Target="../media/image197.png" Type="http://schemas.openxmlformats.org/officeDocument/2006/relationships/image"/><Relationship Id="rId23" Target="../media/image352.png" Type="http://schemas.openxmlformats.org/officeDocument/2006/relationships/image"/><Relationship Id="rId24" Target="../media/image353.png" Type="http://schemas.openxmlformats.org/officeDocument/2006/relationships/image"/><Relationship Id="rId25" Target="../media/image198.png" Type="http://schemas.openxmlformats.org/officeDocument/2006/relationships/image"/><Relationship Id="rId26" Target="../media/image199.png" Type="http://schemas.openxmlformats.org/officeDocument/2006/relationships/image"/><Relationship Id="rId27" Target="../media/image200.png" Type="http://schemas.openxmlformats.org/officeDocument/2006/relationships/image"/><Relationship Id="rId28" Target="../media/image354.png" Type="http://schemas.openxmlformats.org/officeDocument/2006/relationships/image"/><Relationship Id="rId29" Target="../media/image206.png" Type="http://schemas.openxmlformats.org/officeDocument/2006/relationships/image"/><Relationship Id="rId3" Target="../media/image345.png" Type="http://schemas.openxmlformats.org/officeDocument/2006/relationships/image"/><Relationship Id="rId4" Target="../media/image181.png" Type="http://schemas.openxmlformats.org/officeDocument/2006/relationships/image"/><Relationship Id="rId5" Target="../media/image182.png" Type="http://schemas.openxmlformats.org/officeDocument/2006/relationships/image"/><Relationship Id="rId6" Target="../media/image346.png" Type="http://schemas.openxmlformats.org/officeDocument/2006/relationships/image"/><Relationship Id="rId7" Target="../media/image347.png" Type="http://schemas.openxmlformats.org/officeDocument/2006/relationships/image"/><Relationship Id="rId8" Target="../media/image185.png" Type="http://schemas.openxmlformats.org/officeDocument/2006/relationships/image"/><Relationship Id="rId9" Target="../media/image34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5.png" Type="http://schemas.openxmlformats.org/officeDocument/2006/relationships/image"/><Relationship Id="rId3" Target="../media/image356.png" Type="http://schemas.openxmlformats.org/officeDocument/2006/relationships/image"/><Relationship Id="rId4" Target="../media/image357.png" Type="http://schemas.openxmlformats.org/officeDocument/2006/relationships/image"/><Relationship Id="rId5" Target="../media/image345.png" Type="http://schemas.openxmlformats.org/officeDocument/2006/relationships/image"/><Relationship Id="rId6" Target="../media/image358.png" Type="http://schemas.openxmlformats.org/officeDocument/2006/relationships/image"/><Relationship Id="rId7" Target="../media/image35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8.png" Type="http://schemas.openxmlformats.org/officeDocument/2006/relationships/image"/><Relationship Id="rId11" Target="../media/image369.png" Type="http://schemas.openxmlformats.org/officeDocument/2006/relationships/image"/><Relationship Id="rId12" Target="../media/image370.png" Type="http://schemas.openxmlformats.org/officeDocument/2006/relationships/image"/><Relationship Id="rId13" Target="../media/image371.png" Type="http://schemas.openxmlformats.org/officeDocument/2006/relationships/image"/><Relationship Id="rId14" Target="../media/image357.png" Type="http://schemas.openxmlformats.org/officeDocument/2006/relationships/image"/><Relationship Id="rId15" Target="../media/image345.png" Type="http://schemas.openxmlformats.org/officeDocument/2006/relationships/image"/><Relationship Id="rId16" Target="../media/image372.png" Type="http://schemas.openxmlformats.org/officeDocument/2006/relationships/image"/><Relationship Id="rId17" Target="../media/image373.png" Type="http://schemas.openxmlformats.org/officeDocument/2006/relationships/image"/><Relationship Id="rId18" Target="../media/image374.png" Type="http://schemas.openxmlformats.org/officeDocument/2006/relationships/image"/><Relationship Id="rId19" Target="../media/image375.png" Type="http://schemas.openxmlformats.org/officeDocument/2006/relationships/image"/><Relationship Id="rId2" Target="../media/image360.png" Type="http://schemas.openxmlformats.org/officeDocument/2006/relationships/image"/><Relationship Id="rId20" Target="../media/image376.png" Type="http://schemas.openxmlformats.org/officeDocument/2006/relationships/image"/><Relationship Id="rId21" Target="../media/image377.png" Type="http://schemas.openxmlformats.org/officeDocument/2006/relationships/image"/><Relationship Id="rId22" Target="../media/image378.png" Type="http://schemas.openxmlformats.org/officeDocument/2006/relationships/image"/><Relationship Id="rId23" Target="../media/image379.png" Type="http://schemas.openxmlformats.org/officeDocument/2006/relationships/image"/><Relationship Id="rId24" Target="../media/image380.png" Type="http://schemas.openxmlformats.org/officeDocument/2006/relationships/image"/><Relationship Id="rId25" Target="../media/image381.png" Type="http://schemas.openxmlformats.org/officeDocument/2006/relationships/image"/><Relationship Id="rId26" Target="../media/image382.png" Type="http://schemas.openxmlformats.org/officeDocument/2006/relationships/image"/><Relationship Id="rId27" Target="../media/image383.png" Type="http://schemas.openxmlformats.org/officeDocument/2006/relationships/image"/><Relationship Id="rId28" Target="../media/image384.png" Type="http://schemas.openxmlformats.org/officeDocument/2006/relationships/image"/><Relationship Id="rId29" Target="../media/image385.png" Type="http://schemas.openxmlformats.org/officeDocument/2006/relationships/image"/><Relationship Id="rId3" Target="../media/image361.png" Type="http://schemas.openxmlformats.org/officeDocument/2006/relationships/image"/><Relationship Id="rId30" Target="../media/image386.png" Type="http://schemas.openxmlformats.org/officeDocument/2006/relationships/image"/><Relationship Id="rId31" Target="../media/image387.png" Type="http://schemas.openxmlformats.org/officeDocument/2006/relationships/image"/><Relationship Id="rId32" Target="../media/image388.png" Type="http://schemas.openxmlformats.org/officeDocument/2006/relationships/image"/><Relationship Id="rId33" Target="../media/image389.png" Type="http://schemas.openxmlformats.org/officeDocument/2006/relationships/image"/><Relationship Id="rId34" Target="../media/image390.png" Type="http://schemas.openxmlformats.org/officeDocument/2006/relationships/image"/><Relationship Id="rId35" Target="../media/image391.png" Type="http://schemas.openxmlformats.org/officeDocument/2006/relationships/image"/><Relationship Id="rId36" Target="../media/image392.png" Type="http://schemas.openxmlformats.org/officeDocument/2006/relationships/image"/><Relationship Id="rId37" Target="../media/image393.png" Type="http://schemas.openxmlformats.org/officeDocument/2006/relationships/image"/><Relationship Id="rId38" Target="../media/image394.png" Type="http://schemas.openxmlformats.org/officeDocument/2006/relationships/image"/><Relationship Id="rId4" Target="../media/image362.png" Type="http://schemas.openxmlformats.org/officeDocument/2006/relationships/image"/><Relationship Id="rId5" Target="../media/image363.png" Type="http://schemas.openxmlformats.org/officeDocument/2006/relationships/image"/><Relationship Id="rId6" Target="../media/image364.png" Type="http://schemas.openxmlformats.org/officeDocument/2006/relationships/image"/><Relationship Id="rId7" Target="../media/image365.png" Type="http://schemas.openxmlformats.org/officeDocument/2006/relationships/image"/><Relationship Id="rId8" Target="../media/image366.png" Type="http://schemas.openxmlformats.org/officeDocument/2006/relationships/image"/><Relationship Id="rId9" Target="../media/image36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5.png" Type="http://schemas.openxmlformats.org/officeDocument/2006/relationships/image"/><Relationship Id="rId11" Target="../media/image401.png" Type="http://schemas.openxmlformats.org/officeDocument/2006/relationships/image"/><Relationship Id="rId12" Target="../media/image382.png" Type="http://schemas.openxmlformats.org/officeDocument/2006/relationships/image"/><Relationship Id="rId13" Target="../media/image383.png" Type="http://schemas.openxmlformats.org/officeDocument/2006/relationships/image"/><Relationship Id="rId14" Target="../media/image402.png" Type="http://schemas.openxmlformats.org/officeDocument/2006/relationships/image"/><Relationship Id="rId15" Target="../media/image403.png" Type="http://schemas.openxmlformats.org/officeDocument/2006/relationships/image"/><Relationship Id="rId16" Target="../media/image404.png" Type="http://schemas.openxmlformats.org/officeDocument/2006/relationships/image"/><Relationship Id="rId17" Target="../media/image405.png" Type="http://schemas.openxmlformats.org/officeDocument/2006/relationships/image"/><Relationship Id="rId18" Target="../media/image406.png" Type="http://schemas.openxmlformats.org/officeDocument/2006/relationships/image"/><Relationship Id="rId19" Target="../media/image407.png" Type="http://schemas.openxmlformats.org/officeDocument/2006/relationships/image"/><Relationship Id="rId2" Target="../media/image395.png" Type="http://schemas.openxmlformats.org/officeDocument/2006/relationships/image"/><Relationship Id="rId20" Target="../media/image408.png" Type="http://schemas.openxmlformats.org/officeDocument/2006/relationships/image"/><Relationship Id="rId21" Target="../media/image409.png" Type="http://schemas.openxmlformats.org/officeDocument/2006/relationships/image"/><Relationship Id="rId22" Target="../media/image410.png" Type="http://schemas.openxmlformats.org/officeDocument/2006/relationships/image"/><Relationship Id="rId3" Target="../media/image396.png" Type="http://schemas.openxmlformats.org/officeDocument/2006/relationships/image"/><Relationship Id="rId4" Target="../media/image357.png" Type="http://schemas.openxmlformats.org/officeDocument/2006/relationships/image"/><Relationship Id="rId5" Target="../media/image345.png" Type="http://schemas.openxmlformats.org/officeDocument/2006/relationships/image"/><Relationship Id="rId6" Target="../media/image397.png" Type="http://schemas.openxmlformats.org/officeDocument/2006/relationships/image"/><Relationship Id="rId7" Target="../media/image398.png" Type="http://schemas.openxmlformats.org/officeDocument/2006/relationships/image"/><Relationship Id="rId8" Target="../media/image399.png" Type="http://schemas.openxmlformats.org/officeDocument/2006/relationships/image"/><Relationship Id="rId9" Target="../media/image40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8.png" Type="http://schemas.openxmlformats.org/officeDocument/2006/relationships/image"/><Relationship Id="rId11" Target="../media/image419.png" Type="http://schemas.openxmlformats.org/officeDocument/2006/relationships/image"/><Relationship Id="rId12" Target="../media/image420.png" Type="http://schemas.openxmlformats.org/officeDocument/2006/relationships/image"/><Relationship Id="rId13" Target="../media/image421.png" Type="http://schemas.openxmlformats.org/officeDocument/2006/relationships/image"/><Relationship Id="rId2" Target="../media/image395.png" Type="http://schemas.openxmlformats.org/officeDocument/2006/relationships/image"/><Relationship Id="rId3" Target="../media/image411.png" Type="http://schemas.openxmlformats.org/officeDocument/2006/relationships/image"/><Relationship Id="rId4" Target="../media/image412.png" Type="http://schemas.openxmlformats.org/officeDocument/2006/relationships/image"/><Relationship Id="rId5" Target="../media/image413.png" Type="http://schemas.openxmlformats.org/officeDocument/2006/relationships/image"/><Relationship Id="rId6" Target="../media/image414.png" Type="http://schemas.openxmlformats.org/officeDocument/2006/relationships/image"/><Relationship Id="rId7" Target="../media/image415.png" Type="http://schemas.openxmlformats.org/officeDocument/2006/relationships/image"/><Relationship Id="rId8" Target="../media/image416.png" Type="http://schemas.openxmlformats.org/officeDocument/2006/relationships/image"/><Relationship Id="rId9" Target="../media/image41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0.png" Type="http://schemas.openxmlformats.org/officeDocument/2006/relationships/image"/><Relationship Id="rId11" Target="../media/image431.png" Type="http://schemas.openxmlformats.org/officeDocument/2006/relationships/image"/><Relationship Id="rId12" Target="../media/image432.png" Type="http://schemas.openxmlformats.org/officeDocument/2006/relationships/image"/><Relationship Id="rId13" Target="../media/image433.png" Type="http://schemas.openxmlformats.org/officeDocument/2006/relationships/image"/><Relationship Id="rId14" Target="../media/image434.png" Type="http://schemas.openxmlformats.org/officeDocument/2006/relationships/image"/><Relationship Id="rId15" Target="../media/image435.png" Type="http://schemas.openxmlformats.org/officeDocument/2006/relationships/image"/><Relationship Id="rId16" Target="../media/image436.png" Type="http://schemas.openxmlformats.org/officeDocument/2006/relationships/image"/><Relationship Id="rId17" Target="../media/image437.png" Type="http://schemas.openxmlformats.org/officeDocument/2006/relationships/image"/><Relationship Id="rId18" Target="../media/image438.png" Type="http://schemas.openxmlformats.org/officeDocument/2006/relationships/image"/><Relationship Id="rId19" Target="../media/image439.png" Type="http://schemas.openxmlformats.org/officeDocument/2006/relationships/image"/><Relationship Id="rId2" Target="../media/image422.png" Type="http://schemas.openxmlformats.org/officeDocument/2006/relationships/image"/><Relationship Id="rId20" Target="../media/image440.png" Type="http://schemas.openxmlformats.org/officeDocument/2006/relationships/image"/><Relationship Id="rId21" Target="../media/image441.png" Type="http://schemas.openxmlformats.org/officeDocument/2006/relationships/image"/><Relationship Id="rId22" Target="../media/image442.png" Type="http://schemas.openxmlformats.org/officeDocument/2006/relationships/image"/><Relationship Id="rId23" Target="../media/image443.png" Type="http://schemas.openxmlformats.org/officeDocument/2006/relationships/image"/><Relationship Id="rId24" Target="../media/image444.png" Type="http://schemas.openxmlformats.org/officeDocument/2006/relationships/image"/><Relationship Id="rId25" Target="../media/image445.png" Type="http://schemas.openxmlformats.org/officeDocument/2006/relationships/image"/><Relationship Id="rId26" Target="../media/image446.png" Type="http://schemas.openxmlformats.org/officeDocument/2006/relationships/image"/><Relationship Id="rId27" Target="../media/image447.png" Type="http://schemas.openxmlformats.org/officeDocument/2006/relationships/image"/><Relationship Id="rId28" Target="../media/image448.png" Type="http://schemas.openxmlformats.org/officeDocument/2006/relationships/image"/><Relationship Id="rId29" Target="../media/image41.png" Type="http://schemas.openxmlformats.org/officeDocument/2006/relationships/image"/><Relationship Id="rId3" Target="../media/image423.png" Type="http://schemas.openxmlformats.org/officeDocument/2006/relationships/image"/><Relationship Id="rId30" Target="../media/image42.png" Type="http://schemas.openxmlformats.org/officeDocument/2006/relationships/image"/><Relationship Id="rId31" Target="../media/image449.png" Type="http://schemas.openxmlformats.org/officeDocument/2006/relationships/image"/><Relationship Id="rId32" Target="../media/image450.png" Type="http://schemas.openxmlformats.org/officeDocument/2006/relationships/image"/><Relationship Id="rId33" Target="../media/image451.png" Type="http://schemas.openxmlformats.org/officeDocument/2006/relationships/image"/><Relationship Id="rId34" Target="../media/image452.png" Type="http://schemas.openxmlformats.org/officeDocument/2006/relationships/image"/><Relationship Id="rId35" Target="../media/image453.png" Type="http://schemas.openxmlformats.org/officeDocument/2006/relationships/image"/><Relationship Id="rId36" Target="../media/image454.png" Type="http://schemas.openxmlformats.org/officeDocument/2006/relationships/image"/><Relationship Id="rId37" Target="../media/image455.png" Type="http://schemas.openxmlformats.org/officeDocument/2006/relationships/image"/><Relationship Id="rId38" Target="../media/image456.png" Type="http://schemas.openxmlformats.org/officeDocument/2006/relationships/image"/><Relationship Id="rId39" Target="../media/image457.png" Type="http://schemas.openxmlformats.org/officeDocument/2006/relationships/image"/><Relationship Id="rId4" Target="../media/image424.png" Type="http://schemas.openxmlformats.org/officeDocument/2006/relationships/image"/><Relationship Id="rId40" Target="../media/image458.png" Type="http://schemas.openxmlformats.org/officeDocument/2006/relationships/image"/><Relationship Id="rId41" Target="../media/image459.png" Type="http://schemas.openxmlformats.org/officeDocument/2006/relationships/image"/><Relationship Id="rId42" Target="../media/image460.png" Type="http://schemas.openxmlformats.org/officeDocument/2006/relationships/image"/><Relationship Id="rId43" Target="../media/image461.png" Type="http://schemas.openxmlformats.org/officeDocument/2006/relationships/image"/><Relationship Id="rId44" Target="../media/image462.png" Type="http://schemas.openxmlformats.org/officeDocument/2006/relationships/image"/><Relationship Id="rId45" Target="../media/image463.png" Type="http://schemas.openxmlformats.org/officeDocument/2006/relationships/image"/><Relationship Id="rId46" Target="../media/image464.png" Type="http://schemas.openxmlformats.org/officeDocument/2006/relationships/image"/><Relationship Id="rId47" Target="../media/image465.png" Type="http://schemas.openxmlformats.org/officeDocument/2006/relationships/image"/><Relationship Id="rId48" Target="../media/image466.png" Type="http://schemas.openxmlformats.org/officeDocument/2006/relationships/image"/><Relationship Id="rId49" Target="../media/image467.png" Type="http://schemas.openxmlformats.org/officeDocument/2006/relationships/image"/><Relationship Id="rId5" Target="../media/image425.png" Type="http://schemas.openxmlformats.org/officeDocument/2006/relationships/image"/><Relationship Id="rId50" Target="../media/image468.png" Type="http://schemas.openxmlformats.org/officeDocument/2006/relationships/image"/><Relationship Id="rId6" Target="../media/image426.png" Type="http://schemas.openxmlformats.org/officeDocument/2006/relationships/image"/><Relationship Id="rId7" Target="../media/image427.png" Type="http://schemas.openxmlformats.org/officeDocument/2006/relationships/image"/><Relationship Id="rId8" Target="../media/image428.png" Type="http://schemas.openxmlformats.org/officeDocument/2006/relationships/image"/><Relationship Id="rId9" Target="../media/image42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46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8.png" Type="http://schemas.openxmlformats.org/officeDocument/2006/relationships/image"/><Relationship Id="rId11" Target="../media/image479.png" Type="http://schemas.openxmlformats.org/officeDocument/2006/relationships/image"/><Relationship Id="rId12" Target="../media/image480.png" Type="http://schemas.openxmlformats.org/officeDocument/2006/relationships/image"/><Relationship Id="rId13" Target="../media/image481.png" Type="http://schemas.openxmlformats.org/officeDocument/2006/relationships/image"/><Relationship Id="rId14" Target="../media/image482.png" Type="http://schemas.openxmlformats.org/officeDocument/2006/relationships/image"/><Relationship Id="rId15" Target="../media/image483.png" Type="http://schemas.openxmlformats.org/officeDocument/2006/relationships/image"/><Relationship Id="rId16" Target="../media/image484.png" Type="http://schemas.openxmlformats.org/officeDocument/2006/relationships/image"/><Relationship Id="rId17" Target="../media/image485.png" Type="http://schemas.openxmlformats.org/officeDocument/2006/relationships/image"/><Relationship Id="rId18" Target="../media/image486.png" Type="http://schemas.openxmlformats.org/officeDocument/2006/relationships/image"/><Relationship Id="rId19" Target="../media/image487.png" Type="http://schemas.openxmlformats.org/officeDocument/2006/relationships/image"/><Relationship Id="rId2" Target="../media/image470.png" Type="http://schemas.openxmlformats.org/officeDocument/2006/relationships/image"/><Relationship Id="rId20" Target="../media/image488.png" Type="http://schemas.openxmlformats.org/officeDocument/2006/relationships/image"/><Relationship Id="rId21" Target="../media/image489.png" Type="http://schemas.openxmlformats.org/officeDocument/2006/relationships/image"/><Relationship Id="rId22" Target="../media/image490.png" Type="http://schemas.openxmlformats.org/officeDocument/2006/relationships/image"/><Relationship Id="rId23" Target="../media/image491.png" Type="http://schemas.openxmlformats.org/officeDocument/2006/relationships/image"/><Relationship Id="rId24" Target="../media/image492.png" Type="http://schemas.openxmlformats.org/officeDocument/2006/relationships/image"/><Relationship Id="rId25" Target="../media/image493.png" Type="http://schemas.openxmlformats.org/officeDocument/2006/relationships/image"/><Relationship Id="rId26" Target="../media/image42.png" Type="http://schemas.openxmlformats.org/officeDocument/2006/relationships/image"/><Relationship Id="rId27" Target="../media/image494.png" Type="http://schemas.openxmlformats.org/officeDocument/2006/relationships/image"/><Relationship Id="rId28" Target="../media/image495.png" Type="http://schemas.openxmlformats.org/officeDocument/2006/relationships/image"/><Relationship Id="rId29" Target="../media/image496.png" Type="http://schemas.openxmlformats.org/officeDocument/2006/relationships/image"/><Relationship Id="rId3" Target="../media/image471.png" Type="http://schemas.openxmlformats.org/officeDocument/2006/relationships/image"/><Relationship Id="rId30" Target="../media/image497.png" Type="http://schemas.openxmlformats.org/officeDocument/2006/relationships/image"/><Relationship Id="rId31" Target="../media/image498.png" Type="http://schemas.openxmlformats.org/officeDocument/2006/relationships/image"/><Relationship Id="rId32" Target="../media/image499.png" Type="http://schemas.openxmlformats.org/officeDocument/2006/relationships/image"/><Relationship Id="rId33" Target="../media/image500.png" Type="http://schemas.openxmlformats.org/officeDocument/2006/relationships/image"/><Relationship Id="rId34" Target="../media/image501.png" Type="http://schemas.openxmlformats.org/officeDocument/2006/relationships/image"/><Relationship Id="rId35" Target="../media/image41.png" Type="http://schemas.openxmlformats.org/officeDocument/2006/relationships/image"/><Relationship Id="rId4" Target="../media/image472.png" Type="http://schemas.openxmlformats.org/officeDocument/2006/relationships/image"/><Relationship Id="rId5" Target="../media/image473.png" Type="http://schemas.openxmlformats.org/officeDocument/2006/relationships/image"/><Relationship Id="rId6" Target="../media/image474.png" Type="http://schemas.openxmlformats.org/officeDocument/2006/relationships/image"/><Relationship Id="rId7" Target="../media/image475.png" Type="http://schemas.openxmlformats.org/officeDocument/2006/relationships/image"/><Relationship Id="rId8" Target="../media/image476.png" Type="http://schemas.openxmlformats.org/officeDocument/2006/relationships/image"/><Relationship Id="rId9" Target="../media/image47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XWorO0NBku.mp4" Type="http://schemas.microsoft.com/office/2007/relationships/media"/><Relationship Id="rId11" Target="../media/XWorO0NBku.mp4" Type="http://schemas.openxmlformats.org/officeDocument/2006/relationships/video"/><Relationship Id="rId12" Target="../media/image508.png" Type="http://schemas.openxmlformats.org/officeDocument/2006/relationships/image"/><Relationship Id="rId13" Target="../media/qJUu1vyRH4.mp4" Type="http://schemas.microsoft.com/office/2007/relationships/media"/><Relationship Id="rId14" Target="../media/qJUu1vyRH4.mp4" Type="http://schemas.openxmlformats.org/officeDocument/2006/relationships/video"/><Relationship Id="rId15" Target="../media/image509.png" Type="http://schemas.openxmlformats.org/officeDocument/2006/relationships/image"/><Relationship Id="rId16" Target="../media/image510.png" Type="http://schemas.openxmlformats.org/officeDocument/2006/relationships/image"/><Relationship Id="rId17" Target="../media/image511.png" Type="http://schemas.openxmlformats.org/officeDocument/2006/relationships/image"/><Relationship Id="rId18" Target="../media/image512.png" Type="http://schemas.openxmlformats.org/officeDocument/2006/relationships/image"/><Relationship Id="rId19" Target="../media/image513.png" Type="http://schemas.openxmlformats.org/officeDocument/2006/relationships/image"/><Relationship Id="rId2" Target="../media/image41.png" Type="http://schemas.openxmlformats.org/officeDocument/2006/relationships/image"/><Relationship Id="rId20" Target="../media/image514.png" Type="http://schemas.openxmlformats.org/officeDocument/2006/relationships/image"/><Relationship Id="rId21" Target="../media/image515.png" Type="http://schemas.openxmlformats.org/officeDocument/2006/relationships/image"/><Relationship Id="rId22" Target="../media/image516.png" Type="http://schemas.openxmlformats.org/officeDocument/2006/relationships/image"/><Relationship Id="rId23" Target="../media/image517.png" Type="http://schemas.openxmlformats.org/officeDocument/2006/relationships/image"/><Relationship Id="rId3" Target="../media/image502.png" Type="http://schemas.openxmlformats.org/officeDocument/2006/relationships/image"/><Relationship Id="rId4" Target="../media/image42.png" Type="http://schemas.openxmlformats.org/officeDocument/2006/relationships/image"/><Relationship Id="rId5" Target="../media/image503.png" Type="http://schemas.openxmlformats.org/officeDocument/2006/relationships/image"/><Relationship Id="rId6" Target="../media/image504.png" Type="http://schemas.openxmlformats.org/officeDocument/2006/relationships/image"/><Relationship Id="rId7" Target="../media/image505.png" Type="http://schemas.openxmlformats.org/officeDocument/2006/relationships/image"/><Relationship Id="rId8" Target="../media/image506.png" Type="http://schemas.openxmlformats.org/officeDocument/2006/relationships/image"/><Relationship Id="rId9" Target="../media/image50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6.png" Type="http://schemas.openxmlformats.org/officeDocument/2006/relationships/image"/><Relationship Id="rId11" Target="../media/image527.png" Type="http://schemas.openxmlformats.org/officeDocument/2006/relationships/image"/><Relationship Id="rId12" Target="../media/image528.png" Type="http://schemas.openxmlformats.org/officeDocument/2006/relationships/image"/><Relationship Id="rId13" Target="../media/image529.png" Type="http://schemas.openxmlformats.org/officeDocument/2006/relationships/image"/><Relationship Id="rId14" Target="../media/image530.png" Type="http://schemas.openxmlformats.org/officeDocument/2006/relationships/image"/><Relationship Id="rId15" Target="../media/image531.png" Type="http://schemas.openxmlformats.org/officeDocument/2006/relationships/image"/><Relationship Id="rId16" Target="../media/image532.png" Type="http://schemas.openxmlformats.org/officeDocument/2006/relationships/image"/><Relationship Id="rId17" Target="../media/image42.png" Type="http://schemas.openxmlformats.org/officeDocument/2006/relationships/image"/><Relationship Id="rId18" Target="../media/image533.png" Type="http://schemas.openxmlformats.org/officeDocument/2006/relationships/image"/><Relationship Id="rId19" Target="../media/image534.png" Type="http://schemas.openxmlformats.org/officeDocument/2006/relationships/image"/><Relationship Id="rId2" Target="../media/image518.png" Type="http://schemas.openxmlformats.org/officeDocument/2006/relationships/image"/><Relationship Id="rId20" Target="../media/image535.png" Type="http://schemas.openxmlformats.org/officeDocument/2006/relationships/image"/><Relationship Id="rId21" Target="../media/image536.png" Type="http://schemas.openxmlformats.org/officeDocument/2006/relationships/image"/><Relationship Id="rId22" Target="../media/image537.png" Type="http://schemas.openxmlformats.org/officeDocument/2006/relationships/image"/><Relationship Id="rId23" Target="../media/image538.png" Type="http://schemas.openxmlformats.org/officeDocument/2006/relationships/image"/><Relationship Id="rId24" Target="../media/image41.png" Type="http://schemas.openxmlformats.org/officeDocument/2006/relationships/image"/><Relationship Id="rId3" Target="../media/image519.png" Type="http://schemas.openxmlformats.org/officeDocument/2006/relationships/image"/><Relationship Id="rId4" Target="../media/image520.png" Type="http://schemas.openxmlformats.org/officeDocument/2006/relationships/image"/><Relationship Id="rId5" Target="../media/image521.png" Type="http://schemas.openxmlformats.org/officeDocument/2006/relationships/image"/><Relationship Id="rId6" Target="../media/image522.png" Type="http://schemas.openxmlformats.org/officeDocument/2006/relationships/image"/><Relationship Id="rId7" Target="../media/image523.png" Type="http://schemas.openxmlformats.org/officeDocument/2006/relationships/image"/><Relationship Id="rId8" Target="../media/image524.png" Type="http://schemas.openxmlformats.org/officeDocument/2006/relationships/image"/><Relationship Id="rId9" Target="../media/image52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9.png" Type="http://schemas.openxmlformats.org/officeDocument/2006/relationships/image"/><Relationship Id="rId3" Target="../media/image42.png" Type="http://schemas.openxmlformats.org/officeDocument/2006/relationships/image"/><Relationship Id="rId4" Target="../media/image5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8.png" Type="http://schemas.openxmlformats.org/officeDocument/2006/relationships/image"/><Relationship Id="rId11" Target="../media/image549.png" Type="http://schemas.openxmlformats.org/officeDocument/2006/relationships/image"/><Relationship Id="rId12" Target="../media/image550.png" Type="http://schemas.openxmlformats.org/officeDocument/2006/relationships/image"/><Relationship Id="rId13" Target="../media/image551.png" Type="http://schemas.openxmlformats.org/officeDocument/2006/relationships/image"/><Relationship Id="rId14" Target="../media/image552.png" Type="http://schemas.openxmlformats.org/officeDocument/2006/relationships/image"/><Relationship Id="rId15" Target="../media/image553.png" Type="http://schemas.openxmlformats.org/officeDocument/2006/relationships/image"/><Relationship Id="rId16" Target="../media/image554.png" Type="http://schemas.openxmlformats.org/officeDocument/2006/relationships/image"/><Relationship Id="rId17" Target="../media/image555.png" Type="http://schemas.openxmlformats.org/officeDocument/2006/relationships/image"/><Relationship Id="rId18" Target="../media/image41.png" Type="http://schemas.openxmlformats.org/officeDocument/2006/relationships/image"/><Relationship Id="rId2" Target="../media/image541.png" Type="http://schemas.openxmlformats.org/officeDocument/2006/relationships/image"/><Relationship Id="rId3" Target="../media/image42.png" Type="http://schemas.openxmlformats.org/officeDocument/2006/relationships/image"/><Relationship Id="rId4" Target="../media/image542.png" Type="http://schemas.openxmlformats.org/officeDocument/2006/relationships/image"/><Relationship Id="rId5" Target="../media/image543.png" Type="http://schemas.openxmlformats.org/officeDocument/2006/relationships/image"/><Relationship Id="rId6" Target="../media/image544.png" Type="http://schemas.openxmlformats.org/officeDocument/2006/relationships/image"/><Relationship Id="rId7" Target="../media/image545.png" Type="http://schemas.openxmlformats.org/officeDocument/2006/relationships/image"/><Relationship Id="rId8" Target="../media/image546.png" Type="http://schemas.openxmlformats.org/officeDocument/2006/relationships/image"/><Relationship Id="rId9" Target="../media/image547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556.png" Type="http://schemas.openxmlformats.org/officeDocument/2006/relationships/image"/><Relationship Id="rId5" Target="../media/image557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8.png" Type="http://schemas.openxmlformats.org/officeDocument/2006/relationships/image"/><Relationship Id="rId3" Target="../media/image559.png" Type="http://schemas.openxmlformats.org/officeDocument/2006/relationships/image"/><Relationship Id="rId4" Target="../media/image560.png" Type="http://schemas.openxmlformats.org/officeDocument/2006/relationships/image"/><Relationship Id="rId5" Target="../media/image561.png" Type="http://schemas.openxmlformats.org/officeDocument/2006/relationships/image"/><Relationship Id="rId6" Target="../media/image562.png" Type="http://schemas.openxmlformats.org/officeDocument/2006/relationships/image"/><Relationship Id="rId7" Target="../media/image563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2.png" Type="http://schemas.openxmlformats.org/officeDocument/2006/relationships/image"/><Relationship Id="rId11" Target="../media/image573.png" Type="http://schemas.openxmlformats.org/officeDocument/2006/relationships/image"/><Relationship Id="rId12" Target="../media/image574.png" Type="http://schemas.openxmlformats.org/officeDocument/2006/relationships/image"/><Relationship Id="rId13" Target="../media/image575.png" Type="http://schemas.openxmlformats.org/officeDocument/2006/relationships/image"/><Relationship Id="rId14" Target="../media/image576.png" Type="http://schemas.openxmlformats.org/officeDocument/2006/relationships/image"/><Relationship Id="rId15" Target="../media/image577.png" Type="http://schemas.openxmlformats.org/officeDocument/2006/relationships/image"/><Relationship Id="rId16" Target="../media/image578.png" Type="http://schemas.openxmlformats.org/officeDocument/2006/relationships/image"/><Relationship Id="rId17" Target="../media/image579.png" Type="http://schemas.openxmlformats.org/officeDocument/2006/relationships/image"/><Relationship Id="rId18" Target="../media/image580.png" Type="http://schemas.openxmlformats.org/officeDocument/2006/relationships/image"/><Relationship Id="rId19" Target="../media/image581.png" Type="http://schemas.openxmlformats.org/officeDocument/2006/relationships/image"/><Relationship Id="rId2" Target="../media/image564.png" Type="http://schemas.openxmlformats.org/officeDocument/2006/relationships/image"/><Relationship Id="rId20" Target="../media/image582.png" Type="http://schemas.openxmlformats.org/officeDocument/2006/relationships/image"/><Relationship Id="rId21" Target="../media/image42.png" Type="http://schemas.openxmlformats.org/officeDocument/2006/relationships/image"/><Relationship Id="rId22" Target="../media/image41.png" Type="http://schemas.openxmlformats.org/officeDocument/2006/relationships/image"/><Relationship Id="rId3" Target="../media/image565.png" Type="http://schemas.openxmlformats.org/officeDocument/2006/relationships/image"/><Relationship Id="rId4" Target="../media/image566.png" Type="http://schemas.openxmlformats.org/officeDocument/2006/relationships/image"/><Relationship Id="rId5" Target="../media/image567.png" Type="http://schemas.openxmlformats.org/officeDocument/2006/relationships/image"/><Relationship Id="rId6" Target="../media/image568.png" Type="http://schemas.openxmlformats.org/officeDocument/2006/relationships/image"/><Relationship Id="rId7" Target="../media/image569.png" Type="http://schemas.openxmlformats.org/officeDocument/2006/relationships/image"/><Relationship Id="rId8" Target="../media/image570.png" Type="http://schemas.openxmlformats.org/officeDocument/2006/relationships/image"/><Relationship Id="rId9" Target="../media/image57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1.png" Type="http://schemas.openxmlformats.org/officeDocument/2006/relationships/image"/><Relationship Id="rId11" Target="../media/image592.png" Type="http://schemas.openxmlformats.org/officeDocument/2006/relationships/image"/><Relationship Id="rId12" Target="../media/image593.png" Type="http://schemas.openxmlformats.org/officeDocument/2006/relationships/image"/><Relationship Id="rId13" Target="../media/image594.png" Type="http://schemas.openxmlformats.org/officeDocument/2006/relationships/image"/><Relationship Id="rId14" Target="../media/image595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2" Target="../media/image583.png" Type="http://schemas.openxmlformats.org/officeDocument/2006/relationships/image"/><Relationship Id="rId3" Target="../media/image584.png" Type="http://schemas.openxmlformats.org/officeDocument/2006/relationships/image"/><Relationship Id="rId4" Target="../media/image585.png" Type="http://schemas.openxmlformats.org/officeDocument/2006/relationships/image"/><Relationship Id="rId5" Target="../media/image586.png" Type="http://schemas.openxmlformats.org/officeDocument/2006/relationships/image"/><Relationship Id="rId6" Target="../media/image587.png" Type="http://schemas.openxmlformats.org/officeDocument/2006/relationships/image"/><Relationship Id="rId7" Target="../media/image588.png" Type="http://schemas.openxmlformats.org/officeDocument/2006/relationships/image"/><Relationship Id="rId8" Target="../media/image589.png" Type="http://schemas.openxmlformats.org/officeDocument/2006/relationships/image"/><Relationship Id="rId9" Target="../media/image590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4.png" Type="http://schemas.openxmlformats.org/officeDocument/2006/relationships/image"/><Relationship Id="rId11" Target="../media/image605.png" Type="http://schemas.openxmlformats.org/officeDocument/2006/relationships/image"/><Relationship Id="rId12" Target="../media/image606.png" Type="http://schemas.openxmlformats.org/officeDocument/2006/relationships/image"/><Relationship Id="rId13" Target="../media/image607.png" Type="http://schemas.openxmlformats.org/officeDocument/2006/relationships/image"/><Relationship Id="rId14" Target="../media/image608.png" Type="http://schemas.openxmlformats.org/officeDocument/2006/relationships/image"/><Relationship Id="rId15" Target="../media/image41.png" Type="http://schemas.openxmlformats.org/officeDocument/2006/relationships/image"/><Relationship Id="rId16" Target="../media/image42.png" Type="http://schemas.openxmlformats.org/officeDocument/2006/relationships/image"/><Relationship Id="rId17" Target="../media/image609.png" Type="http://schemas.openxmlformats.org/officeDocument/2006/relationships/image"/><Relationship Id="rId18" Target="../media/image610.png" Type="http://schemas.openxmlformats.org/officeDocument/2006/relationships/image"/><Relationship Id="rId19" Target="../media/image611.png" Type="http://schemas.openxmlformats.org/officeDocument/2006/relationships/image"/><Relationship Id="rId2" Target="../media/image596.png" Type="http://schemas.openxmlformats.org/officeDocument/2006/relationships/image"/><Relationship Id="rId20" Target="../media/image612.png" Type="http://schemas.openxmlformats.org/officeDocument/2006/relationships/image"/><Relationship Id="rId21" Target="../media/image613.png" Type="http://schemas.openxmlformats.org/officeDocument/2006/relationships/image"/><Relationship Id="rId22" Target="../media/image614.png" Type="http://schemas.openxmlformats.org/officeDocument/2006/relationships/image"/><Relationship Id="rId23" Target="../media/image615.png" Type="http://schemas.openxmlformats.org/officeDocument/2006/relationships/image"/><Relationship Id="rId24" Target="../media/image616.png" Type="http://schemas.openxmlformats.org/officeDocument/2006/relationships/image"/><Relationship Id="rId3" Target="../media/image597.png" Type="http://schemas.openxmlformats.org/officeDocument/2006/relationships/image"/><Relationship Id="rId4" Target="../media/image598.png" Type="http://schemas.openxmlformats.org/officeDocument/2006/relationships/image"/><Relationship Id="rId5" Target="../media/image599.png" Type="http://schemas.openxmlformats.org/officeDocument/2006/relationships/image"/><Relationship Id="rId6" Target="../media/image600.png" Type="http://schemas.openxmlformats.org/officeDocument/2006/relationships/image"/><Relationship Id="rId7" Target="../media/image601.png" Type="http://schemas.openxmlformats.org/officeDocument/2006/relationships/image"/><Relationship Id="rId8" Target="../media/image602.png" Type="http://schemas.openxmlformats.org/officeDocument/2006/relationships/image"/><Relationship Id="rId9" Target="../media/image60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495300"/>
            <a:ext cx="23279100" cy="12712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28800" y="3073400"/>
            <a:ext cx="208153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19431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48300" y="6184900"/>
            <a:ext cx="58166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10200" y="9994900"/>
            <a:ext cx="58166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60700" y="6184900"/>
            <a:ext cx="5816600" cy="6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60700" y="9994900"/>
            <a:ext cx="5816600" cy="63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705100" y="1625600"/>
            <a:ext cx="6959600" cy="1168400"/>
          </a:xfrm>
          <a:prstGeom prst="rect">
            <a:avLst/>
          </a:prstGeom>
        </p:spPr>
        <p:txBody>
          <a:bodyPr anchor="t" rtlCol="false" lIns="0" tIns="81280" rIns="0" bIns="0"/>
          <a:lstStyle/>
          <a:p>
            <a:pPr algn="l" lvl="0">
              <a:lnSpc>
                <a:spcPct val="99600"/>
              </a:lnSpc>
            </a:pPr>
            <a:r>
              <a:rPr lang="en-US" sz="6400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>팀 구성 및 역할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6300" y="3454400"/>
            <a:ext cx="198882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'신인류' 팀은 </a:t>
            </a:r>
            <a:r>
              <a:rPr lang="en-US" sz="3200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시니어의 신체·인지기능 저하를 조기에 발견</a:t>
            </a:r>
            <a:r>
              <a:rPr lang="en-US" sz="32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하고, </a:t>
            </a:r>
            <a:r>
              <a:rPr lang="en-US" sz="3200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개인 맞춤형 이중과제 훈련</a:t>
            </a:r>
            <a:r>
              <a:rPr lang="en-US" sz="32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을 통해 </a:t>
            </a:r>
          </a:p>
          <a:p>
            <a:pPr algn="l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건강한 노화(Aging in Place)를 지원하는</a:t>
            </a:r>
            <a:r>
              <a:rPr lang="en-US" sz="3200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 홈케어 솔루션 '기억하지'</a:t>
            </a:r>
            <a:r>
              <a:rPr lang="en-US" sz="3200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를 만들어갑니다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70600" y="5308600"/>
            <a:ext cx="17018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김아름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94400" y="6489700"/>
            <a:ext cx="5334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프로젝트 기획</a:t>
            </a:r>
          </a:p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서비스 기획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18400" y="5473700"/>
            <a:ext cx="33274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2E3D86"/>
                </a:solidFill>
                <a:latin typeface="Pretendard Bold"/>
                <a:ea typeface="Pretendard Bold"/>
                <a:cs typeface="Pretendard Bold"/>
              </a:rPr>
              <a:t>AA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83000" y="5308600"/>
            <a:ext cx="16383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양지현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56200" y="5473700"/>
            <a:ext cx="33274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2E3D86"/>
                </a:solidFill>
                <a:latin typeface="Pretendard Bold"/>
                <a:ea typeface="Pretendard Bold"/>
                <a:cs typeface="Pretendard Bold"/>
              </a:rPr>
              <a:t>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70600" y="9131300"/>
            <a:ext cx="17018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김희원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94400" y="10337800"/>
            <a:ext cx="5334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데이터 전처리</a:t>
            </a:r>
          </a:p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탐색적 데이터 분석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8400" y="9296400"/>
            <a:ext cx="33274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2E3D86"/>
                </a:solidFill>
                <a:latin typeface="Pretendard Bold"/>
                <a:ea typeface="Pretendard Bold"/>
                <a:cs typeface="Pretendard Bold"/>
              </a:rPr>
              <a:t>팀장  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70300" y="9131300"/>
            <a:ext cx="1701800" cy="698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343434"/>
                </a:solidFill>
                <a:latin typeface="Pretendard Bold"/>
                <a:ea typeface="Pretendard Bold"/>
                <a:cs typeface="Pretendard Bold"/>
              </a:rPr>
              <a:t>장종혁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46500" y="10337800"/>
            <a:ext cx="53340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모델 구축</a:t>
            </a:r>
          </a:p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F3F3F"/>
                </a:solidFill>
                <a:latin typeface="Pretendard Medium"/>
                <a:ea typeface="Pretendard Medium"/>
                <a:cs typeface="Pretendard Medium"/>
              </a:rPr>
              <a:t>서비스 구현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034000" y="9309100"/>
            <a:ext cx="596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2E3D86"/>
                </a:solidFill>
                <a:latin typeface="Pretendard Bold"/>
                <a:ea typeface="Pretendard Bold"/>
                <a:cs typeface="Pretendard Bold"/>
              </a:rPr>
              <a:t>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08400" y="6489700"/>
            <a:ext cx="5321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43434"/>
                </a:solidFill>
                <a:latin typeface="Pretendard Medium"/>
                <a:ea typeface="Pretendard Medium"/>
                <a:cs typeface="Pretendard Medium"/>
              </a:rPr>
              <a:t>데이터 전처리</a:t>
            </a:r>
          </a:p>
          <a:p>
            <a:pPr algn="l" lvl="1" marL="342900" indent="-342900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43434"/>
                </a:solidFill>
                <a:latin typeface="Pretendard Medium"/>
                <a:ea typeface="Pretendard Medium"/>
                <a:cs typeface="Pretendard Medium"/>
              </a:rPr>
              <a:t>탐색적 데이터 분석 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042900" y="8775700"/>
            <a:ext cx="2501900" cy="3162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131800" y="4914900"/>
            <a:ext cx="2425700" cy="3175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59100" y="8610600"/>
            <a:ext cx="2349500" cy="3327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59100" y="4914900"/>
            <a:ext cx="2349500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76300"/>
            <a:ext cx="22631400" cy="11963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0" y="11112500"/>
            <a:ext cx="13792200" cy="1003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800" y="7378700"/>
            <a:ext cx="16230600" cy="2019300"/>
          </a:xfrm>
          <a:prstGeom prst="rect">
            <a:avLst/>
          </a:prstGeom>
        </p:spPr>
        <p:txBody>
          <a:bodyPr anchor="t" rtlCol="false" lIns="0" tIns="97367" rIns="0" bIns="0"/>
          <a:lstStyle/>
          <a:p>
            <a:pPr algn="l" lvl="0">
              <a:lnSpc>
                <a:spcPct val="95449"/>
              </a:lnSpc>
            </a:pPr>
            <a:r>
              <a:rPr lang="en-US" sz="6133" b="false" i="false" u="none" strike="noStrike">
                <a:solidFill>
                  <a:srgbClr val="D94925"/>
                </a:solidFill>
                <a:latin typeface="Pretendard ExtraBold"/>
                <a:ea typeface="Pretendard ExtraBold"/>
                <a:cs typeface="Pretendard ExtraBold"/>
              </a:rPr>
              <a:t>디지털 바이오마커</a:t>
            </a:r>
            <a:r>
              <a:rPr lang="en-US" sz="6133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와 AI 어시스턴트를 활용한 </a:t>
            </a:r>
          </a:p>
          <a:p>
            <a:pPr algn="l" lvl="0">
              <a:lnSpc>
                <a:spcPct val="95449"/>
              </a:lnSpc>
            </a:pPr>
            <a:r>
              <a:rPr lang="en-US" sz="6133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시니어 맞춤형 홈케어 </a:t>
            </a:r>
            <a:r>
              <a:rPr lang="en-US" sz="6133" b="false" i="false" u="none" strike="noStrike">
                <a:solidFill>
                  <a:srgbClr val="D94925"/>
                </a:solidFill>
                <a:latin typeface="Pretendard ExtraBold"/>
                <a:ea typeface="Pretendard ExtraBold"/>
                <a:cs typeface="Pretendard ExtraBold"/>
              </a:rPr>
              <a:t>낙상·치매 예방</a:t>
            </a:r>
            <a:r>
              <a:rPr lang="en-US" sz="6133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 운동 솔루션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40400" y="11303000"/>
            <a:ext cx="12941300" cy="6223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1팀  신인류  |    2026년 07월 29일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17800" y="2044700"/>
            <a:ext cx="6248400" cy="525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948499">
            <a:off x="17284700" y="2819400"/>
            <a:ext cx="6375400" cy="847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650200" y="8140700"/>
            <a:ext cx="21082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469900"/>
            <a:ext cx="23279100" cy="12611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426700" y="1168400"/>
            <a:ext cx="3543300" cy="18034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ctr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343434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0">
            <a:off x="4495800" y="3200400"/>
            <a:ext cx="6959600" cy="927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981700" y="3390900"/>
            <a:ext cx="5283200" cy="533400"/>
          </a:xfrm>
          <a:prstGeom prst="rect">
            <a:avLst/>
          </a:prstGeom>
        </p:spPr>
        <p:txBody>
          <a:bodyPr anchor="ctr" rtlCol="false" lIns="0" tIns="19473" rIns="0" bIns="19473"/>
          <a:lstStyle/>
          <a:p>
            <a:pPr algn="l" lvl="0">
              <a:lnSpc>
                <a:spcPct val="107899"/>
              </a:lnSpc>
            </a:pPr>
            <a:r>
              <a:rPr lang="en-US" sz="284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05100" y="3200400"/>
            <a:ext cx="2908300" cy="927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895600" y="3390900"/>
            <a:ext cx="2514600" cy="520700"/>
          </a:xfrm>
          <a:prstGeom prst="rect">
            <a:avLst/>
          </a:prstGeom>
        </p:spPr>
        <p:txBody>
          <a:bodyPr anchor="ctr" rtlCol="false" lIns="0" tIns="18626" rIns="0" bIns="18626"/>
          <a:lstStyle/>
          <a:p>
            <a:pPr algn="ctr" lvl="0">
              <a:lnSpc>
                <a:spcPct val="107899"/>
              </a:lnSpc>
            </a:pPr>
            <a:r>
              <a:rPr lang="en-US" sz="2722" b="fals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CHAPTER 1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4394200"/>
            <a:ext cx="254000" cy="254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400800" y="4305300"/>
            <a:ext cx="4394200" cy="4318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227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기획 배경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4838700"/>
            <a:ext cx="254000" cy="254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400800" y="4749800"/>
            <a:ext cx="4394200" cy="4318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227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문제 정의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0">
            <a:off x="14325600" y="3200400"/>
            <a:ext cx="6959600" cy="927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798800" y="3403600"/>
            <a:ext cx="5969000" cy="495300"/>
          </a:xfrm>
          <a:prstGeom prst="rect">
            <a:avLst/>
          </a:prstGeom>
        </p:spPr>
        <p:txBody>
          <a:bodyPr anchor="ctr" rtlCol="false" lIns="0" tIns="17780" rIns="0" bIns="17780"/>
          <a:lstStyle/>
          <a:p>
            <a:pPr algn="l" lvl="0">
              <a:lnSpc>
                <a:spcPct val="107899"/>
              </a:lnSpc>
            </a:pPr>
            <a:r>
              <a:rPr lang="en-US" sz="2598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인지 기능 평가 디지털 구현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09500" y="3200400"/>
            <a:ext cx="2908300" cy="92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5753100"/>
            <a:ext cx="254000" cy="254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725400" y="3390900"/>
            <a:ext cx="2514600" cy="520700"/>
          </a:xfrm>
          <a:prstGeom prst="rect">
            <a:avLst/>
          </a:prstGeom>
        </p:spPr>
        <p:txBody>
          <a:bodyPr anchor="ctr" rtlCol="false" lIns="0" tIns="18626" rIns="0" bIns="18626"/>
          <a:lstStyle/>
          <a:p>
            <a:pPr algn="ctr" lvl="0">
              <a:lnSpc>
                <a:spcPct val="107899"/>
              </a:lnSpc>
            </a:pPr>
            <a:r>
              <a:rPr lang="en-US" sz="2722" b="fals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CHAPTER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13500" y="5664200"/>
            <a:ext cx="4394200" cy="4318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227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솔루션 컨셉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0">
            <a:off x="4495800" y="7442200"/>
            <a:ext cx="6959600" cy="927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981700" y="7632700"/>
            <a:ext cx="5283200" cy="533400"/>
          </a:xfrm>
          <a:prstGeom prst="rect">
            <a:avLst/>
          </a:prstGeom>
        </p:spPr>
        <p:txBody>
          <a:bodyPr anchor="ctr" rtlCol="false" lIns="0" tIns="19473" rIns="0" bIns="19473"/>
          <a:lstStyle/>
          <a:p>
            <a:pPr algn="l" lvl="0">
              <a:lnSpc>
                <a:spcPct val="107899"/>
              </a:lnSpc>
            </a:pPr>
            <a:r>
              <a:rPr lang="en-US" sz="284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92400" y="7442200"/>
            <a:ext cx="2908300" cy="927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895600" y="7632700"/>
            <a:ext cx="2514600" cy="520700"/>
          </a:xfrm>
          <a:prstGeom prst="rect">
            <a:avLst/>
          </a:prstGeom>
        </p:spPr>
        <p:txBody>
          <a:bodyPr anchor="ctr" rtlCol="false" lIns="0" tIns="18626" rIns="0" bIns="18626"/>
          <a:lstStyle/>
          <a:p>
            <a:pPr algn="ctr" lvl="0">
              <a:lnSpc>
                <a:spcPct val="107899"/>
              </a:lnSpc>
            </a:pPr>
            <a:r>
              <a:rPr lang="en-US" sz="2722" b="fals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CHAPTER 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0">
            <a:off x="14325600" y="6591300"/>
            <a:ext cx="6959600" cy="9271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5811500" y="6781800"/>
            <a:ext cx="5283200" cy="533400"/>
          </a:xfrm>
          <a:prstGeom prst="rect">
            <a:avLst/>
          </a:prstGeom>
        </p:spPr>
        <p:txBody>
          <a:bodyPr anchor="ctr" rtlCol="false" lIns="0" tIns="19473" rIns="0" bIns="19473"/>
          <a:lstStyle/>
          <a:p>
            <a:pPr algn="l" lvl="0">
              <a:lnSpc>
                <a:spcPct val="107899"/>
              </a:lnSpc>
            </a:pPr>
            <a:r>
              <a:rPr lang="en-US" sz="284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솔루션 소개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09500" y="6591300"/>
            <a:ext cx="2908300" cy="9271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725400" y="6781800"/>
            <a:ext cx="2514600" cy="520700"/>
          </a:xfrm>
          <a:prstGeom prst="rect">
            <a:avLst/>
          </a:prstGeom>
        </p:spPr>
        <p:txBody>
          <a:bodyPr anchor="ctr" rtlCol="false" lIns="0" tIns="18626" rIns="0" bIns="18626"/>
          <a:lstStyle/>
          <a:p>
            <a:pPr algn="ctr" lvl="0">
              <a:lnSpc>
                <a:spcPct val="107899"/>
              </a:lnSpc>
            </a:pPr>
            <a:r>
              <a:rPr lang="en-US" sz="2722" b="fals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CHAPTER 4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0">
            <a:off x="14325600" y="9893300"/>
            <a:ext cx="6959600" cy="927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5811500" y="10083800"/>
            <a:ext cx="5283200" cy="533400"/>
          </a:xfrm>
          <a:prstGeom prst="rect">
            <a:avLst/>
          </a:prstGeom>
        </p:spPr>
        <p:txBody>
          <a:bodyPr anchor="ctr" rtlCol="false" lIns="0" tIns="19473" rIns="0" bIns="19473"/>
          <a:lstStyle/>
          <a:p>
            <a:pPr algn="l" lvl="0">
              <a:lnSpc>
                <a:spcPct val="107899"/>
              </a:lnSpc>
            </a:pPr>
            <a:r>
              <a:rPr lang="en-US" sz="284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확장성 및 사업화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09500" y="9893300"/>
            <a:ext cx="2908300" cy="927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725400" y="10083800"/>
            <a:ext cx="2514600" cy="520700"/>
          </a:xfrm>
          <a:prstGeom prst="rect">
            <a:avLst/>
          </a:prstGeom>
        </p:spPr>
        <p:txBody>
          <a:bodyPr anchor="ctr" rtlCol="false" lIns="0" tIns="18626" rIns="0" bIns="18626"/>
          <a:lstStyle/>
          <a:p>
            <a:pPr algn="ctr" lvl="0">
              <a:lnSpc>
                <a:spcPct val="107899"/>
              </a:lnSpc>
            </a:pPr>
            <a:r>
              <a:rPr lang="en-US" sz="2722" b="false" i="false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CHAPTER 5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49600" y="11112500"/>
            <a:ext cx="254000" cy="2540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6230600" y="11010900"/>
            <a:ext cx="4394200" cy="4318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227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한계점 및 향후과제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49600" y="11557000"/>
            <a:ext cx="254000" cy="2540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6230600" y="11455400"/>
            <a:ext cx="4394200" cy="4318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227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기대효과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81700" y="5283200"/>
            <a:ext cx="254000" cy="2540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6413500" y="5194300"/>
            <a:ext cx="4394200" cy="4318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227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해결 방안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49600" y="4787900"/>
            <a:ext cx="241300" cy="2413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6205200" y="4686300"/>
            <a:ext cx="60833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47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몬트리올 인지 평가지(MoCA) 디지털화 도입 전후 비교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49600" y="5232400"/>
            <a:ext cx="241300" cy="2413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6217900" y="5130800"/>
            <a:ext cx="51943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47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인지평가 설문지 디지털(자동화) 아키텍처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49600" y="4330700"/>
            <a:ext cx="241300" cy="2413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16217900" y="4229100"/>
            <a:ext cx="49276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47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인지 기능 평가 _ 몬트리올 인지 평가 기반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49600" y="5651500"/>
            <a:ext cx="241300" cy="2413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6217900" y="5562600"/>
            <a:ext cx="51943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47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기술 아키텍쳐_보행,인지,통합 솔루션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81700" y="9004300"/>
            <a:ext cx="254000" cy="2540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6388100" y="8928100"/>
            <a:ext cx="42672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66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데이터 수집 및 탐색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81700" y="9436100"/>
            <a:ext cx="254000" cy="2540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6388100" y="9359900"/>
            <a:ext cx="42672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66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데이터 전처리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81700" y="9867900"/>
            <a:ext cx="254000" cy="2540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6350000" y="9779000"/>
            <a:ext cx="42672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66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모델  설계 및 개발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81700" y="10299700"/>
            <a:ext cx="254000" cy="2540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6350000" y="10210800"/>
            <a:ext cx="42672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66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최종 모델 비교 및 선정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81700" y="10706100"/>
            <a:ext cx="254000" cy="254000"/>
          </a:xfrm>
          <a:prstGeom prst="rect">
            <a:avLst/>
          </a:prstGeom>
        </p:spPr>
      </p:pic>
      <p:sp>
        <p:nvSpPr>
          <p:cNvPr name="TextBox 53" id="53"/>
          <p:cNvSpPr txBox="true"/>
          <p:nvPr/>
        </p:nvSpPr>
        <p:spPr>
          <a:xfrm rot="0">
            <a:off x="6350000" y="10617200"/>
            <a:ext cx="42672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66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신체 기능 디지털 바이오 마커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81700" y="8585200"/>
            <a:ext cx="254000" cy="254000"/>
          </a:xfrm>
          <a:prstGeom prst="rect">
            <a:avLst/>
          </a:prstGeom>
        </p:spPr>
      </p:pic>
      <p:sp>
        <p:nvSpPr>
          <p:cNvPr name="TextBox 55" id="55"/>
          <p:cNvSpPr txBox="true"/>
          <p:nvPr/>
        </p:nvSpPr>
        <p:spPr>
          <a:xfrm rot="0">
            <a:off x="6388100" y="8496300"/>
            <a:ext cx="4267200" cy="419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166" b="false" i="false" u="none" strike="noStrike" spc="-2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기술아키텍처 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49600" y="7759700"/>
            <a:ext cx="266700" cy="266700"/>
          </a:xfrm>
          <a:prstGeom prst="rect">
            <a:avLst/>
          </a:prstGeom>
        </p:spPr>
      </p:pic>
      <p:sp>
        <p:nvSpPr>
          <p:cNvPr name="TextBox 57" id="57"/>
          <p:cNvSpPr txBox="true"/>
          <p:nvPr/>
        </p:nvSpPr>
        <p:spPr>
          <a:xfrm rot="0">
            <a:off x="16243300" y="7658100"/>
            <a:ext cx="4699000" cy="457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381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'기억하지' 솔루션 아키텍처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49600" y="11988800"/>
            <a:ext cx="266700" cy="2667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6243300" y="11887200"/>
            <a:ext cx="4699000" cy="457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381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비즈니스 모델 캔버스(BMC)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49600" y="8597900"/>
            <a:ext cx="266700" cy="266700"/>
          </a:xfrm>
          <a:prstGeom prst="rect">
            <a:avLst/>
          </a:prstGeom>
        </p:spPr>
      </p:pic>
      <p:sp>
        <p:nvSpPr>
          <p:cNvPr name="TextBox 61" id="61"/>
          <p:cNvSpPr txBox="true"/>
          <p:nvPr/>
        </p:nvSpPr>
        <p:spPr>
          <a:xfrm rot="0">
            <a:off x="16243300" y="8483600"/>
            <a:ext cx="4699000" cy="457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381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AI Assistant 펭트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49600" y="8178800"/>
            <a:ext cx="266700" cy="266700"/>
          </a:xfrm>
          <a:prstGeom prst="rect">
            <a:avLst/>
          </a:prstGeom>
        </p:spPr>
      </p:pic>
      <p:sp>
        <p:nvSpPr>
          <p:cNvPr name="TextBox 63" id="63"/>
          <p:cNvSpPr txBox="true"/>
          <p:nvPr/>
        </p:nvSpPr>
        <p:spPr>
          <a:xfrm rot="0">
            <a:off x="16243300" y="8077200"/>
            <a:ext cx="4699000" cy="457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381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'기억하지' 솔루션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8800" y="482600"/>
            <a:ext cx="23279100" cy="127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116800" y="9994900"/>
            <a:ext cx="2997200" cy="257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57400" y="3429000"/>
            <a:ext cx="16344900" cy="18034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ctr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2E3D86"/>
                </a:solidFill>
                <a:latin typeface="Pretendard ExtraBold"/>
                <a:ea typeface="Pretendard ExtraBold"/>
                <a:cs typeface="Pretendard ExtraBold"/>
              </a:rPr>
              <a:t>1.</a:t>
            </a:r>
            <a:r>
              <a:rPr lang="en-US" sz="10000" b="false" i="false" u="none" strike="noStrike">
                <a:solidFill>
                  <a:srgbClr val="4467E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000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프로젝트 정의 및 목표 설정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67200" y="5346700"/>
            <a:ext cx="393700" cy="393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953000" y="5207000"/>
            <a:ext cx="70866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602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기획 배경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67200" y="6057900"/>
            <a:ext cx="393700" cy="393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953000" y="5918200"/>
            <a:ext cx="70866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602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문제 정의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67200" y="7531100"/>
            <a:ext cx="393700" cy="393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978400" y="7391400"/>
            <a:ext cx="70866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602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솔루션 컨셉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67200" y="6781800"/>
            <a:ext cx="393700" cy="393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978400" y="6642100"/>
            <a:ext cx="70866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602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해결 방안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2100" y="6197600"/>
            <a:ext cx="7594600" cy="5969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91500" y="5181600"/>
            <a:ext cx="7632700" cy="914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089900" y="6197600"/>
            <a:ext cx="7734300" cy="5969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2100" y="5181600"/>
            <a:ext cx="7594600" cy="91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9100" y="6464300"/>
            <a:ext cx="7251700" cy="5702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89500" y="6184900"/>
            <a:ext cx="2781300" cy="530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2824">
            <a:off x="2171700" y="7962900"/>
            <a:ext cx="3835400" cy="3479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11200" y="5270500"/>
            <a:ext cx="67818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476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1. 초고령화 사회 진입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21900" y="5270500"/>
            <a:ext cx="41021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476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2. 독거 노인 증가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04200" y="12090400"/>
            <a:ext cx="4368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29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[출처: 보건복지부 노인실태조사]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8600" y="12090400"/>
            <a:ext cx="72644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29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[출처:통계청 장래인구추계, 2024국가통계포털]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800" y="6083300"/>
            <a:ext cx="330200" cy="17526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l" lvl="0">
              <a:lnSpc>
                <a:spcPct val="116199"/>
              </a:lnSpc>
            </a:pPr>
            <a:r>
              <a:rPr lang="en-US" sz="138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고령인구비율 (%)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62400" y="11214100"/>
            <a:ext cx="71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  도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05200" y="6324600"/>
            <a:ext cx="74549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205200" y="7023100"/>
            <a:ext cx="7454900" cy="838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05200" y="8534400"/>
            <a:ext cx="7454900" cy="355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05200" y="7823200"/>
            <a:ext cx="3454400" cy="736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179800" y="5181600"/>
            <a:ext cx="7594600" cy="9271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6586200" y="5295900"/>
            <a:ext cx="68199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95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3. 돌봄 인력 부족 심화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141700" y="6184900"/>
            <a:ext cx="7632700" cy="5994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6179800" y="12179300"/>
            <a:ext cx="3619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40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[출처: 국민일보 기사, 2026]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204200" y="6350000"/>
            <a:ext cx="7480300" cy="5664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46100" y="3505200"/>
            <a:ext cx="23342600" cy="1028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65200" y="3556000"/>
            <a:ext cx="889000" cy="8890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2108200" y="3644900"/>
            <a:ext cx="22453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초고령사회와 돌봄 인력 부족</a:t>
            </a:r>
            <a:r>
              <a:rPr lang="en-US" sz="43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으로,</a:t>
            </a:r>
            <a:r>
              <a:rPr lang="en-US" sz="43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노인이 스스로 건강을 예방·관리할 수 있는 디지털 헬스케어</a:t>
            </a:r>
            <a:r>
              <a:rPr lang="en-US" sz="43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 필수.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663700" y="1638300"/>
            <a:ext cx="60960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기획 배경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6000"/>
          </a:blip>
          <a:stretch>
            <a:fillRect/>
          </a:stretch>
        </p:blipFill>
        <p:spPr>
          <a:xfrm rot="0">
            <a:off x="1879600" y="2933700"/>
            <a:ext cx="10795000" cy="9448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7289800" y="12433300"/>
            <a:ext cx="54610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23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 : WHO(세계보건기구), CDC(질병통제예방센터)]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81300" y="8013700"/>
            <a:ext cx="9156700" cy="3962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476500" y="2946400"/>
            <a:ext cx="9232900" cy="4724400"/>
          </a:xfrm>
          <a:prstGeom prst="rect">
            <a:avLst/>
          </a:prstGeom>
        </p:spPr>
        <p:txBody>
          <a:bodyPr anchor="t" rtlCol="false" lIns="0" tIns="409741" rIns="0" bIns="0"/>
          <a:lstStyle/>
          <a:p>
            <a:pPr algn="ctr" lvl="0">
              <a:lnSpc>
                <a:spcPct val="58928"/>
              </a:lnSpc>
            </a:pPr>
            <a:r>
              <a:rPr lang="en-US" sz="16570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949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명</a:t>
            </a:r>
            <a:r>
              <a:rPr lang="en-US" sz="949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중 </a:t>
            </a:r>
            <a:r>
              <a:rPr lang="en-US" sz="16428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949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명</a:t>
            </a:r>
            <a:br>
              <a:rPr lang="en-US" sz="949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949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매년</a:t>
            </a:r>
            <a:r>
              <a:rPr lang="en-US" sz="949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낙상을 경험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 rot="0">
            <a:off x="13919200" y="3390900"/>
            <a:ext cx="7442200" cy="4076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46000"/>
          </a:blip>
          <a:stretch>
            <a:fillRect/>
          </a:stretch>
        </p:blipFill>
        <p:spPr>
          <a:xfrm rot="0">
            <a:off x="13919200" y="7861300"/>
            <a:ext cx="7581900" cy="4076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541500" y="4330700"/>
            <a:ext cx="6667500" cy="236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45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낙상 후 6개월 내 
</a:t>
            </a:r>
            <a:r>
              <a:rPr lang="en-US" sz="5226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사망률 </a:t>
            </a:r>
            <a:r>
              <a:rPr lang="en-US" sz="8666" b="true" i="false" u="none" strike="noStrike">
                <a:solidFill>
                  <a:srgbClr val="D94925"/>
                </a:solidFill>
                <a:latin typeface="Pretendard ExtraBold"/>
                <a:ea typeface="Pretendard ExtraBold"/>
                <a:cs typeface="Pretendard ExtraBold"/>
              </a:rPr>
              <a:t>20~30</a:t>
            </a:r>
            <a:r>
              <a:rPr lang="en-US" sz="561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%</a:t>
            </a:r>
            <a:br>
              <a:rPr lang="en-US" sz="561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</a:br>
          </a:p>
        </p:txBody>
      </p:sp>
      <p:sp>
        <p:nvSpPr>
          <p:cNvPr name="TextBox 9" id="9"/>
          <p:cNvSpPr txBox="true"/>
          <p:nvPr/>
        </p:nvSpPr>
        <p:spPr>
          <a:xfrm rot="0">
            <a:off x="14605000" y="8636000"/>
            <a:ext cx="5956300" cy="252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4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비의도적 부상</a:t>
            </a:r>
          </a:p>
          <a:p>
            <a:pPr algn="l" lvl="0">
              <a:lnSpc>
                <a:spcPct val="116199"/>
              </a:lnSpc>
            </a:pPr>
            <a:r>
              <a:rPr lang="en-US" sz="484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사망 원인 </a:t>
            </a:r>
            <a:r>
              <a:rPr lang="en-US" sz="9221" b="true" i="false" u="none" strike="noStrike">
                <a:solidFill>
                  <a:srgbClr val="D94925"/>
                </a:solidFill>
                <a:latin typeface="Pretendard ExtraBold"/>
                <a:ea typeface="Pretendard ExtraBold"/>
                <a:cs typeface="Pretendard ExtraBold"/>
              </a:rPr>
              <a:t>1위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961100" y="9004300"/>
            <a:ext cx="1651000" cy="222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63700" y="1638300"/>
            <a:ext cx="134747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문제정의 ① 노인의 독립적 일상을 위협하는 낙상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87700" y="5041900"/>
            <a:ext cx="11176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노인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14600" y="3175000"/>
            <a:ext cx="8051800" cy="9321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527800" y="12458700"/>
            <a:ext cx="42418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66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 : 중앙치매센터, 통계청(KOSTAT)]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13200" y="11112500"/>
            <a:ext cx="1092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2025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835400" y="8978900"/>
            <a:ext cx="1371600" cy="2184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911600" y="6235700"/>
            <a:ext cx="1752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6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97</a:t>
            </a:r>
            <a:r>
              <a:rPr lang="en-US" sz="296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만명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0" y="6705600"/>
            <a:ext cx="1536700" cy="4533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899400" y="11214100"/>
            <a:ext cx="12065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2044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319037">
            <a:off x="5372100" y="6299200"/>
            <a:ext cx="2425700" cy="4902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023100" y="3848100"/>
            <a:ext cx="47371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806" b="true" i="false" u="none" strike="noStrike">
                <a:solidFill>
                  <a:srgbClr val="202020"/>
                </a:solidFill>
                <a:latin typeface="Pretendard SemiBold"/>
                <a:ea typeface="Pretendard SemiBold"/>
                <a:cs typeface="Pretendard SemiBold"/>
              </a:rPr>
              <a:t>200</a:t>
            </a:r>
            <a:r>
              <a:rPr lang="en-US" sz="4790" b="true" i="false" u="none" strike="noStrike">
                <a:solidFill>
                  <a:srgbClr val="202020"/>
                </a:solidFill>
                <a:latin typeface="Pretendard Regular"/>
                <a:ea typeface="Pretendard Regular"/>
                <a:cs typeface="Pretendard Regular"/>
              </a:rPr>
              <a:t>만명+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13300" y="11658600"/>
            <a:ext cx="3289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3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[치매 환자수 현황]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64200" y="8597900"/>
            <a:ext cx="3225800" cy="1397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019800" y="7175500"/>
            <a:ext cx="5245100" cy="293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20년이내</a:t>
            </a:r>
            <a:br>
              <a:rPr lang="en-US" sz="375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8129" b="true" i="false" u="none" strike="noStrike">
                <a:solidFill>
                  <a:srgbClr val="AE3A1E"/>
                </a:solidFill>
                <a:latin typeface="Pretendard SemiBold"/>
                <a:ea typeface="Pretendard SemiBold"/>
                <a:cs typeface="Pretendard SemiBold"/>
              </a:rPr>
              <a:t>2배</a:t>
            </a:r>
            <a:r>
              <a:rPr lang="en-US" sz="7329" b="true" i="false" u="none" strike="noStrike">
                <a:solidFill>
                  <a:srgbClr val="AE3A1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이상</a:t>
            </a:r>
            <a:r>
              <a:rPr lang="en-US" sz="4000" b="true" i="false" u="none" strike="noStrike">
                <a:solidFill>
                  <a:srgbClr val="AE3A1E"/>
                </a:solidFill>
                <a:latin typeface="Pretendard SemiBold"/>
                <a:ea typeface="Pretendard SemiBold"/>
                <a:cs typeface="Pretendard SemiBold"/>
              </a:rPr>
              <a:t>  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증가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734300" y="5346700"/>
            <a:ext cx="1333500" cy="1333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937000" y="7632700"/>
            <a:ext cx="1333500" cy="1333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676400" y="1638300"/>
            <a:ext cx="126873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문제정의 ② 노인의 삶을 무너뜨리는 치매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alphaModFix amt="46000"/>
          </a:blip>
          <a:stretch>
            <a:fillRect/>
          </a:stretch>
        </p:blipFill>
        <p:spPr>
          <a:xfrm rot="0">
            <a:off x="13919200" y="3390900"/>
            <a:ext cx="7442200" cy="9105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4541500" y="5689600"/>
            <a:ext cx="6565900" cy="171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최대</a:t>
            </a:r>
            <a:r>
              <a:rPr lang="en-US" sz="6940" b="false" i="false" u="none" strike="noStrike">
                <a:solidFill>
                  <a:srgbClr val="2E3D86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9474" b="fals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3,138</a:t>
            </a:r>
            <a:r>
              <a:rPr lang="en-US" sz="6940" b="fals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만원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08500" y="12458700"/>
            <a:ext cx="42418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66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 : 2023 치매실태조사, 보건복지부]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681200" y="4457700"/>
            <a:ext cx="5918200" cy="10414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4846300" y="4521200"/>
            <a:ext cx="56134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586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치매 환자 1인당 연간 관리비용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7170400" y="7810500"/>
            <a:ext cx="952500" cy="939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808200" y="9359900"/>
            <a:ext cx="5664200" cy="240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6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개인과 사회에 
큰 비용 부담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20700" y="2882900"/>
            <a:ext cx="23342600" cy="1663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628900" y="2984500"/>
            <a:ext cx="16294100" cy="1435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인지기능과 신체기능은 서로 영향을 주고받으며 악순환을 반복하기 때문에, 
이를 동시에 관리하는것이 중요함.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01800" y="2908300"/>
            <a:ext cx="9652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96300" y="4965700"/>
            <a:ext cx="7404100" cy="1155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18600" y="5143500"/>
            <a:ext cx="6197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300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신체 기능 저하의 인지 영향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864600" y="9118600"/>
            <a:ext cx="6883400" cy="1155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182100" y="9296400"/>
            <a:ext cx="61468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300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인지 기능 저하의 신체 영향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277100" y="6210300"/>
            <a:ext cx="9969500" cy="256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75500" y="10439400"/>
            <a:ext cx="9829800" cy="262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86600" y="6235700"/>
            <a:ext cx="9969500" cy="2654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213600" y="10325100"/>
            <a:ext cx="9829800" cy="274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alphaModFix amt="83000"/>
          </a:blip>
          <a:stretch>
            <a:fillRect/>
          </a:stretch>
        </p:blipFill>
        <p:spPr>
          <a:xfrm rot="0">
            <a:off x="4940300" y="4927600"/>
            <a:ext cx="2362200" cy="7670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alphaModFix amt="83000"/>
          </a:blip>
          <a:stretch>
            <a:fillRect/>
          </a:stretch>
        </p:blipFill>
        <p:spPr>
          <a:xfrm rot="0">
            <a:off x="16700500" y="5143500"/>
            <a:ext cx="2082800" cy="767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676400" y="1638300"/>
            <a:ext cx="155829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문제정의 ③신체·인지 기능 저하의 악순환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72000" y="13144500"/>
            <a:ext cx="15328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43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[출처:Association Between Physical Performance and Cognitive Function in Older Adults Across Multiple Studies: A Pooled Analysis Study]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269200" y="10833100"/>
            <a:ext cx="3924300" cy="2679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0358100" y="12115800"/>
            <a:ext cx="3759200" cy="127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34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853400" y="10655300"/>
            <a:ext cx="2705100" cy="4191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1043900" y="10668000"/>
            <a:ext cx="2463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1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연관성 근거 (연구 결과)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0777200" y="11150600"/>
            <a:ext cx="914400" cy="914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2910800" y="11112500"/>
            <a:ext cx="838200" cy="9017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20307300" y="12026900"/>
            <a:ext cx="18161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6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처리 속도 평가
(DSST)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428200" y="12026900"/>
            <a:ext cx="18034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5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수행 능력 평가
(SPPB)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1475700" y="11404600"/>
            <a:ext cx="1651000" cy="6096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21805900" y="11201400"/>
            <a:ext cx="9906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492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>베타계수</a:t>
            </a:r>
            <a:br>
              <a:rPr lang="en-US" sz="1492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</a:br>
            <a:r>
              <a:rPr lang="en-US" sz="1999" b="true" i="false" u="none" strike="noStrike">
                <a:solidFill>
                  <a:srgbClr val="FF3131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>0.75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320000" y="12827000"/>
            <a:ext cx="39370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63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연구 결과, 인지기능검사와 신체수행 능력 간,</a:t>
            </a:r>
            <a:r>
              <a:rPr lang="en-US" sz="163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연관성</a:t>
            </a:r>
            <a:r>
              <a:rPr lang="en-US" sz="163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보임 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551900" y="12242800"/>
            <a:ext cx="203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69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647400" y="12280900"/>
            <a:ext cx="228600" cy="25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69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2)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032000" y="4013200"/>
            <a:ext cx="9334500" cy="9575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661900" y="4013200"/>
            <a:ext cx="9334500" cy="9575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0"/>
            <a:ext cx="23876000" cy="1028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5588000" y="2882900"/>
            <a:ext cx="22453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개인 차이를 반영하지 못하고, 노인이 사용하기 어려운 서비스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175000" y="4330700"/>
            <a:ext cx="927100" cy="1168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200400" y="4483100"/>
            <a:ext cx="8890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520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30300" y="4330700"/>
            <a:ext cx="927100" cy="1130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843000" y="4483100"/>
            <a:ext cx="889000" cy="83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520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36800" y="4254500"/>
            <a:ext cx="69088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노인의 디지털 기기 사용 어려움</a:t>
            </a: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으로
서비스 이용 제한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995620">
            <a:off x="8509000" y="9601200"/>
            <a:ext cx="190500" cy="228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033500" y="11963400"/>
            <a:ext cx="64008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   Ⓧ 사용하기 어려운 서비스 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47900" y="8470900"/>
            <a:ext cx="2387600" cy="349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8597900"/>
            <a:ext cx="2527300" cy="3276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4394200" y="4254500"/>
            <a:ext cx="53340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개인 차이를 고려하지 않는
 </a:t>
            </a:r>
            <a:r>
              <a:rPr lang="en-US" sz="3600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획일적 운동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79800" y="7721600"/>
            <a:ext cx="6235700" cy="685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747000" y="8458200"/>
            <a:ext cx="3556000" cy="336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51400" y="12242800"/>
            <a:ext cx="812800" cy="812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898900" y="7696200"/>
            <a:ext cx="5384800" cy="685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19300" y="12420600"/>
            <a:ext cx="6096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267700" y="12204700"/>
            <a:ext cx="812800" cy="812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115800" y="5753100"/>
            <a:ext cx="10718800" cy="612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292600" y="2794000"/>
            <a:ext cx="965200" cy="965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5473700" y="12395200"/>
            <a:ext cx="26543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지시 이해 어려움
→ </a:t>
            </a:r>
            <a:r>
              <a:rPr lang="en-US" sz="2534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운동 효과 감소</a:t>
            </a:r>
            <a:br>
              <a:rPr lang="en-US" sz="2534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</a:br>
          </a:p>
        </p:txBody>
      </p:sp>
      <p:sp>
        <p:nvSpPr>
          <p:cNvPr name="TextBox 25" id="25"/>
          <p:cNvSpPr txBox="true"/>
          <p:nvPr/>
        </p:nvSpPr>
        <p:spPr>
          <a:xfrm rot="0">
            <a:off x="8826500" y="12369800"/>
            <a:ext cx="27305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균형 유지 어려움
→ </a:t>
            </a:r>
            <a:r>
              <a:rPr lang="en-US" sz="2534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낙상 위험 증가</a:t>
            </a:r>
            <a:r>
              <a:rPr lang="en-US" sz="25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46300" y="12369800"/>
            <a:ext cx="3149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5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효과적 · 안전하게
수행 가능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167600" y="8890000"/>
            <a:ext cx="1816100" cy="1816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926300" y="6235700"/>
            <a:ext cx="1816100" cy="18796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9939000" y="6515100"/>
            <a:ext cx="19558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55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자꾸 화면을 봐야해서 힘들어요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281900" y="9055100"/>
            <a:ext cx="19558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55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너무 빠르거나
소리가 작아요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662900" y="9944100"/>
            <a:ext cx="838200" cy="736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0078700" y="7353300"/>
            <a:ext cx="1511300" cy="7239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676400" y="1638300"/>
            <a:ext cx="155829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문제정의 ④ 기존 시니어 디지털 헬스케어의 한계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175000" y="5969000"/>
            <a:ext cx="2387600" cy="6731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3263900" y="6007100"/>
            <a:ext cx="22098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건강한 노인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384800" y="5969000"/>
            <a:ext cx="2603500" cy="6731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5473700" y="6007100"/>
            <a:ext cx="24384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인지 저하 노인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810500" y="5981700"/>
            <a:ext cx="2603500" cy="6731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7886700" y="6019800"/>
            <a:ext cx="24384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신체 저하 노인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527300" y="11709400"/>
            <a:ext cx="2387600" cy="6731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2603500" y="11747500"/>
            <a:ext cx="22098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건강한 노인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308600" y="11722100"/>
            <a:ext cx="2603500" cy="6731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5384800" y="11760200"/>
            <a:ext cx="24384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인지 저하 노인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585200" y="11722100"/>
            <a:ext cx="2603500" cy="6731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8661400" y="11760200"/>
            <a:ext cx="24384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5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신체 저하 노인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5400000">
            <a:off x="6146800" y="6870700"/>
            <a:ext cx="889000" cy="7493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11708269">
            <a:off x="8801100" y="10236200"/>
            <a:ext cx="241300" cy="6604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20620662">
            <a:off x="9575800" y="10820400"/>
            <a:ext cx="241300" cy="6604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18027330">
            <a:off x="10160000" y="9080500"/>
            <a:ext cx="241300" cy="6604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125284">
            <a:off x="10236200" y="8775700"/>
            <a:ext cx="990600" cy="176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11200" y="7581900"/>
            <a:ext cx="8432800" cy="5778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335500" y="13360400"/>
            <a:ext cx="4432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31" b="false" i="false" u="none" strike="noStrike">
                <a:solidFill>
                  <a:srgbClr val="787878"/>
                </a:solidFill>
                <a:latin typeface="Pretendard Regular"/>
                <a:ea typeface="Pretendard Regular"/>
                <a:cs typeface="Pretendard Regular"/>
              </a:rPr>
              <a:t>[출처 : Kim et al.Alzheimer's Research &amp;Therapy2020]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122400" y="7543800"/>
            <a:ext cx="6756400" cy="5689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576300" y="7099300"/>
            <a:ext cx="6985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5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[경도인지장애 판정 이후 운동 유무에 따른 치매 전환율]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0">
            <a:off x="2032000" y="3162300"/>
            <a:ext cx="4127500" cy="3708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086100" y="3340100"/>
            <a:ext cx="21717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456E2A"/>
                </a:solidFill>
                <a:latin typeface="Pretendard SemiBold"/>
                <a:ea typeface="Pretendard SemiBold"/>
                <a:cs typeface="Pretendard SemiBold"/>
              </a:rPr>
              <a:t>정상 노화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60600" y="4025900"/>
            <a:ext cx="3467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일상생활 문제 없음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79000"/>
          </a:blip>
          <a:stretch>
            <a:fillRect/>
          </a:stretch>
        </p:blipFill>
        <p:spPr>
          <a:xfrm rot="0">
            <a:off x="7632700" y="3162300"/>
            <a:ext cx="7543800" cy="3708400"/>
          </a:xfrm>
          <a:prstGeom prst="rect">
            <a:avLst/>
          </a:prstGeom>
          <a:effectLst>
            <a:outerShdw dir="8340000" dist="427892" blurRad="148336">
              <a:srgbClr val="E1FD11">
                <a:alpha val="34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9131300" y="3340100"/>
            <a:ext cx="46228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41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MCI (경도인지장애)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90000" y="4127500"/>
            <a:ext cx="41148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치매 전단계 (골든타임)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86100" y="4673600"/>
            <a:ext cx="1828800" cy="2184400"/>
          </a:xfrm>
          <a:prstGeom prst="rect">
            <a:avLst/>
          </a:prstGeom>
          <a:effectLst>
            <a:outerShdw dir="2700000" dist="168812" blurRad="73152">
              <a:srgbClr val="000000">
                <a:alpha val="5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356600" y="4673600"/>
            <a:ext cx="1828800" cy="2184400"/>
          </a:xfrm>
          <a:prstGeom prst="rect">
            <a:avLst/>
          </a:prstGeom>
          <a:effectLst>
            <a:outerShdw dir="2700000" dist="168812" blurRad="73152">
              <a:srgbClr val="000000">
                <a:alpha val="5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9558357">
            <a:off x="8128000" y="4356100"/>
            <a:ext cx="914400" cy="546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435793">
            <a:off x="9906000" y="5092700"/>
            <a:ext cx="342900" cy="647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79000"/>
          </a:blip>
          <a:stretch>
            <a:fillRect/>
          </a:stretch>
        </p:blipFill>
        <p:spPr>
          <a:xfrm rot="0">
            <a:off x="16573500" y="3162300"/>
            <a:ext cx="5524500" cy="3708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859500" y="3276600"/>
            <a:ext cx="11176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AE3A1E"/>
                </a:solidFill>
                <a:latin typeface="Pretendard SemiBold"/>
                <a:ea typeface="Pretendard SemiBold"/>
                <a:cs typeface="Pretendard SemiBold"/>
              </a:rPr>
              <a:t>치매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41900" y="3962400"/>
            <a:ext cx="3467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6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인지기능 저하 심화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32300" y="4673600"/>
            <a:ext cx="1828800" cy="2184400"/>
          </a:xfrm>
          <a:prstGeom prst="rect">
            <a:avLst/>
          </a:prstGeom>
          <a:effectLst>
            <a:outerShdw dir="2700000" dist="168812" blurRad="73152">
              <a:srgbClr val="000000">
                <a:alpha val="50000"/>
              </a:srgbClr>
            </a:outerShdw>
          </a:effectLst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78300" y="5003800"/>
            <a:ext cx="5207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580100" y="4457700"/>
            <a:ext cx="381000" cy="342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781800" y="2514600"/>
            <a:ext cx="2501900" cy="2501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75015">
            <a:off x="12522200" y="2628900"/>
            <a:ext cx="4635500" cy="1879600"/>
          </a:xfrm>
          <a:prstGeom prst="rect">
            <a:avLst/>
          </a:prstGeom>
          <a:effectLst>
            <a:outerShdw dir="3720000" dist="34691" blurRad="0">
              <a:srgbClr val="8B0024">
                <a:alpha val="100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665700" y="5461000"/>
            <a:ext cx="749300" cy="304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665700" y="5448300"/>
            <a:ext cx="723900" cy="3175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9037300" y="4927600"/>
            <a:ext cx="27686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일상생활 어려움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도움과 보호가 필요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삶의 질 저하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14000" y="4800600"/>
            <a:ext cx="4635500" cy="179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기억력 저하 등 인지기능 변화 시작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일상생활은 스스로 가능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초기 발견과 관리로</a:t>
            </a:r>
            <a:br>
              <a:rPr lang="en-US" sz="2474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</a:br>
            <a:r>
              <a:rPr lang="en-US" sz="2474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치매 진행 지연 가능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928100" y="5156200"/>
            <a:ext cx="749300" cy="177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83000" y="5448300"/>
            <a:ext cx="647700" cy="292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465524">
            <a:off x="9347200" y="5194300"/>
            <a:ext cx="292100" cy="101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465524">
            <a:off x="8915400" y="5194300"/>
            <a:ext cx="292100" cy="101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678400" y="5130800"/>
            <a:ext cx="749300" cy="177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1465524">
            <a:off x="18097500" y="5168900"/>
            <a:ext cx="292100" cy="101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-1465524">
            <a:off x="17665700" y="5168900"/>
            <a:ext cx="292100" cy="101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388100" y="4787900"/>
            <a:ext cx="698500" cy="609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5608300" y="4775200"/>
            <a:ext cx="698500" cy="609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661400" y="2590800"/>
            <a:ext cx="1270000" cy="1270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649700" y="3568700"/>
            <a:ext cx="1219200" cy="12319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776700" y="3746500"/>
            <a:ext cx="698500" cy="609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521013">
            <a:off x="17399000" y="3987800"/>
            <a:ext cx="304800" cy="457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28700" y="7543800"/>
            <a:ext cx="11544300" cy="5816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20800" y="7112000"/>
            <a:ext cx="9410700" cy="8763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739900" y="8089900"/>
            <a:ext cx="10972800" cy="1358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33" b="true" i="false" u="none" strike="noStrike">
                <a:solidFill>
                  <a:srgbClr val="1187CF"/>
                </a:solidFill>
                <a:latin typeface="Pretendard Regular"/>
                <a:ea typeface="Pretendard Regular"/>
                <a:cs typeface="Pretendard Regular"/>
              </a:rPr>
              <a:t>경도인지장애(MCI)의 위험성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경도인지장애(MCI) → 치매 전환율: </a:t>
            </a:r>
            <a:r>
              <a:rPr lang="en-US" sz="3747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10~15</a:t>
            </a:r>
            <a:r>
              <a:rPr lang="en-US" sz="30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% / 년</a:t>
            </a:r>
            <a:r>
              <a:rPr lang="en-US" sz="16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(정상인보다 5배↑ 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74800" y="9956800"/>
            <a:ext cx="10248900" cy="299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08" b="true" i="false" u="none" strike="noStrike">
                <a:solidFill>
                  <a:srgbClr val="1187CF"/>
                </a:solidFill>
                <a:latin typeface="Pretendard Regular"/>
                <a:ea typeface="Pretendard Regular"/>
                <a:cs typeface="Pretendard Regular"/>
              </a:rPr>
              <a:t>왜 경도인지장애(MCI)가 골든타임인가?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14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인지강화 훈련의 </a:t>
            </a:r>
            <a:r>
              <a:rPr lang="en-US" sz="3142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효과가 가장 크게 나타나는 시기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14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조기 개입이 치매 전환을 실질적으로 늦출 수 있음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14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경도인지장애(MCI) 단계에서 인지훈련 시</a:t>
            </a:r>
            <a:br>
              <a:rPr lang="en-US" sz="314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14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3142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치매 전환 위험 최대 18% 감소</a:t>
            </a:r>
            <a:r>
              <a:rPr lang="en-US" sz="364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98600" y="7213600"/>
            <a:ext cx="93345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2. 경도인지장애(MCI)가 </a:t>
            </a:r>
            <a:r>
              <a:rPr lang="en-US" sz="4208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골든타임</a:t>
            </a:r>
            <a:r>
              <a:rPr lang="en-US" sz="4208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인 이유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95400" y="9639300"/>
            <a:ext cx="10045700" cy="50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676400" y="1638300"/>
            <a:ext cx="155829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해결방안_치매 해결의 핵심 MCI 조기발견 및 관리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449300" y="7683500"/>
            <a:ext cx="8267700" cy="55499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646900" y="8382000"/>
            <a:ext cx="3149600" cy="17272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9545300" y="8470900"/>
            <a:ext cx="34163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51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치매 전환 위험도 </a:t>
            </a:r>
            <a:r>
              <a:rPr lang="en-US" sz="5307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18</a:t>
            </a:r>
            <a:r>
              <a:rPr lang="en-US" sz="4839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%</a:t>
            </a:r>
            <a:r>
              <a:rPr lang="en-US" sz="3828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 감소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44400" y="4394200"/>
            <a:ext cx="10109200" cy="788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562100" y="4394200"/>
            <a:ext cx="10109200" cy="788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55800" y="3403600"/>
            <a:ext cx="9347200" cy="1143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87600" y="3594100"/>
            <a:ext cx="6985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이중과제 운동(dual task)란?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60300" y="4864100"/>
            <a:ext cx="43180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AutoNum type="arabicPeriod" startAt="1"/>
            </a:pPr>
            <a:r>
              <a:rPr lang="en-US" sz="4829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낙상 위험 감소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8280400"/>
            <a:ext cx="45212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29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2. 인지 기능 개선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38100" y="6070600"/>
            <a:ext cx="9271000" cy="158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37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이중과제 운동(dual task) 사용 시,</a:t>
            </a:r>
          </a:p>
          <a:p>
            <a:pPr algn="l" lvl="0">
              <a:lnSpc>
                <a:spcPct val="116199"/>
              </a:lnSpc>
            </a:pPr>
            <a:r>
              <a:rPr lang="en-US" sz="4370" b="fals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     </a:t>
            </a:r>
            <a:r>
              <a:rPr lang="en-US" sz="4370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근력상승으로 인한 낙상위험도 감소</a:t>
            </a:r>
            <a:r>
              <a:rPr lang="en-US" sz="437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73000" y="3403600"/>
            <a:ext cx="9601200" cy="1143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3119100" y="3543300"/>
            <a:ext cx="8623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29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이중과제 운동(dual task)의 효과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3000" y="9537700"/>
            <a:ext cx="10464800" cy="175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37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일반 인지 운동 대비,</a:t>
            </a:r>
          </a:p>
          <a:p>
            <a:pPr algn="l" lvl="0">
              <a:lnSpc>
                <a:spcPct val="116199"/>
              </a:lnSpc>
            </a:pPr>
            <a:r>
              <a:rPr lang="en-US" sz="4370" b="false" i="false" u="none" strike="noStrike" spc="-2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    </a:t>
            </a:r>
            <a:r>
              <a:rPr lang="en-US" sz="4370" b="true" i="false" u="none" strike="noStrike" spc="-200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이중과제 운동시 더 높은 인지기능</a:t>
            </a:r>
            <a:r>
              <a:rPr lang="en-US" sz="5333" b="true" i="false" u="none" strike="noStrike" spc="-300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 개선 효과</a:t>
            </a:r>
            <a:r>
              <a:rPr lang="en-US" sz="437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5181600"/>
            <a:ext cx="5778500" cy="690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673600" y="8178800"/>
            <a:ext cx="495300" cy="914400"/>
          </a:xfrm>
          <a:prstGeom prst="rect">
            <a:avLst/>
          </a:prstGeom>
          <a:effectLst>
            <a:outerShdw dir="2700000" dist="45720" blurRad="19812">
              <a:srgbClr val="FFDE82">
                <a:alpha val="5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8420100"/>
            <a:ext cx="8382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0493169">
            <a:off x="3797300" y="5384800"/>
            <a:ext cx="1409700" cy="939800"/>
          </a:xfrm>
          <a:prstGeom prst="rect">
            <a:avLst/>
          </a:prstGeom>
          <a:effectLst>
            <a:outerShdw dir="2100000" dist="224106" blurRad="37592">
              <a:srgbClr val="FFDE4F">
                <a:alpha val="100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89300" y="4584700"/>
            <a:ext cx="10668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26500" y="5372100"/>
            <a:ext cx="2616200" cy="228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44000" y="5067300"/>
            <a:ext cx="1943100" cy="635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283700" y="5105400"/>
            <a:ext cx="16764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인지과제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58300" y="6667500"/>
            <a:ext cx="1816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계산, 기억 </a:t>
            </a:r>
          </a:p>
          <a:p>
            <a:pPr algn="ctr" lvl="0">
              <a:lnSpc>
                <a:spcPct val="116199"/>
              </a:lnSpc>
            </a:pPr>
            <a:r>
              <a:rPr lang="en-US" sz="271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주의 집중 등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12300" y="5765800"/>
            <a:ext cx="1219200" cy="1016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108700" y="5372100"/>
            <a:ext cx="2590800" cy="2286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6502400" y="6667500"/>
            <a:ext cx="18034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9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보행, 균형,</a:t>
            </a:r>
          </a:p>
          <a:p>
            <a:pPr algn="ctr" lvl="0">
              <a:lnSpc>
                <a:spcPct val="116199"/>
              </a:lnSpc>
            </a:pPr>
            <a:r>
              <a:rPr lang="en-US" sz="269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근력 운동 등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438900" y="5067300"/>
            <a:ext cx="1917700" cy="6223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578600" y="5105400"/>
            <a:ext cx="1663700" cy="546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6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과제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781800" y="5664200"/>
            <a:ext cx="1231900" cy="1231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166100" y="5956300"/>
            <a:ext cx="11684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7632700" y="8839200"/>
            <a:ext cx="2247900" cy="22479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7848600" y="9309100"/>
            <a:ext cx="1955800" cy="1308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신체-인지</a:t>
            </a:r>
          </a:p>
          <a:p>
            <a:pPr algn="l" lvl="0">
              <a:lnSpc>
                <a:spcPct val="116199"/>
              </a:lnSpc>
            </a:pPr>
            <a:r>
              <a:rPr lang="en-US" sz="360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통합 운동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340000">
            <a:off x="8547100" y="8166100"/>
            <a:ext cx="609600" cy="165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340000">
            <a:off x="8343900" y="8166100"/>
            <a:ext cx="609600" cy="165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해결방안 _</a:t>
            </a:r>
            <a:r>
              <a:rPr lang="en-US" sz="5333" b="true" i="false" u="none" strike="noStrike">
                <a:solidFill>
                  <a:srgbClr val="D94925"/>
                </a:solidFill>
                <a:latin typeface="Hakgyoansim Allimjang TTF R"/>
                <a:ea typeface="Hakgyoansim Allimjang TTF R"/>
                <a:cs typeface="Hakgyoansim Allimjang TTF R"/>
              </a:rPr>
              <a:t> 이중과제 운동(Dual task)</a:t>
            </a: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: 뇌와 몸을 동시에 훈련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957800" y="7632700"/>
            <a:ext cx="4533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44편 연구 · 2,782명 메타분석 검증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84300" y="12280900"/>
            <a:ext cx="212344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723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[출처 : Dual-task intervention demonstrated greater improvements than single-task intervention in, 
Comparative effectiveness of different dual task mode interventions on cognitive function in older adults with mild cognitive impairment or dementia: a systematic review and network meta-analysis]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58800" y="11264900"/>
            <a:ext cx="88900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32개 RCT(2,370명) 네트워크 메타분석실행기능 개선 효과크기(SMD) 1.53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4200" y="2857500"/>
            <a:ext cx="10871200" cy="1060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798300" y="2857500"/>
            <a:ext cx="12141200" cy="10604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 rot="0">
            <a:off x="2362200" y="5092700"/>
            <a:ext cx="3543300" cy="3619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 rot="0">
            <a:off x="5981700" y="5092700"/>
            <a:ext cx="3543300" cy="3619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 rot="0">
            <a:off x="2413000" y="8712200"/>
            <a:ext cx="3543300" cy="351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095500" y="8470900"/>
            <a:ext cx="7683500" cy="48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108200" y="8509000"/>
            <a:ext cx="7683500" cy="48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2273300" y="8470900"/>
            <a:ext cx="7429500" cy="469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98700" y="8458200"/>
            <a:ext cx="7429500" cy="469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9537700" y="8102600"/>
            <a:ext cx="16510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9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인지기능</a:t>
            </a:r>
            <a:r>
              <a:rPr lang="en-US" sz="3291" b="false" i="false" u="none" strike="noStrike">
                <a:solidFill>
                  <a:srgbClr val="01C576"/>
                </a:solidFill>
                <a:latin typeface="Pretendard Medium"/>
                <a:ea typeface="Pretendard Medium"/>
                <a:cs typeface="Pretendard Medium"/>
              </a:rPr>
              <a:t> 양호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9300" y="8102600"/>
            <a:ext cx="17653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9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인지기능</a:t>
            </a:r>
            <a:r>
              <a:rPr lang="en-US" sz="3291" b="false" i="false" u="none" strike="noStrike">
                <a:solidFill>
                  <a:srgbClr val="FF1D25"/>
                </a:solidFill>
                <a:latin typeface="Pretendard Medium"/>
                <a:ea typeface="Pretendard Medium"/>
                <a:cs typeface="Pretendard Medium"/>
              </a:rPr>
              <a:t> 저하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48200" y="4254500"/>
            <a:ext cx="2705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9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신체기능</a:t>
            </a:r>
            <a:r>
              <a:rPr lang="en-US" sz="3291" b="false" i="false" u="none" strike="noStrike">
                <a:solidFill>
                  <a:srgbClr val="01C576"/>
                </a:solidFill>
                <a:latin typeface="Pretendard Medium"/>
                <a:ea typeface="Pretendard Medium"/>
                <a:cs typeface="Pretendard Medium"/>
              </a:rPr>
              <a:t> 양호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00600" y="12585700"/>
            <a:ext cx="25400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91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신체기능</a:t>
            </a:r>
            <a:r>
              <a:rPr lang="en-US" sz="3291" b="false" i="false" u="none" strike="noStrike">
                <a:solidFill>
                  <a:srgbClr val="FF1D25"/>
                </a:solidFill>
                <a:latin typeface="Pretendard Medium"/>
                <a:ea typeface="Pretendard Medium"/>
                <a:cs typeface="Pretendard Medium"/>
              </a:rPr>
              <a:t> 저하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53300" y="7035800"/>
            <a:ext cx="12192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4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 유형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06800" y="7035800"/>
            <a:ext cx="11811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4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 유형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30600" y="10680700"/>
            <a:ext cx="1231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4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 유형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12000"/>
          </a:blip>
          <a:stretch>
            <a:fillRect/>
          </a:stretch>
        </p:blipFill>
        <p:spPr>
          <a:xfrm rot="0">
            <a:off x="5930900" y="8750300"/>
            <a:ext cx="3543300" cy="3517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7188200" y="10680700"/>
            <a:ext cx="1244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4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 유형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295900" y="8102600"/>
            <a:ext cx="1270000" cy="1270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921500" y="6083300"/>
            <a:ext cx="20701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5" b="true" i="false" u="none" strike="noStrike">
                <a:solidFill>
                  <a:srgbClr val="568A35"/>
                </a:solidFill>
                <a:latin typeface="Pretendard Regular"/>
                <a:ea typeface="Pretendard Regular"/>
                <a:cs typeface="Pretendard Regular"/>
              </a:rPr>
              <a:t>유지형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10300" y="9728200"/>
            <a:ext cx="32893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5" b="true" i="false" u="none" strike="noStrike">
                <a:solidFill>
                  <a:srgbClr val="18A7F0"/>
                </a:solidFill>
                <a:latin typeface="Pretendard Regular"/>
                <a:ea typeface="Pretendard Regular"/>
                <a:cs typeface="Pretendard Regular"/>
              </a:rPr>
              <a:t>신체관리형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92400" y="6070600"/>
            <a:ext cx="32004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5" b="true" i="false" u="none" strike="noStrike">
                <a:solidFill>
                  <a:srgbClr val="FD9F28"/>
                </a:solidFill>
                <a:latin typeface="Pretendard Regular"/>
                <a:ea typeface="Pretendard Regular"/>
                <a:cs typeface="Pretendard Regular"/>
              </a:rPr>
              <a:t>인지관리형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92400" y="9728200"/>
            <a:ext cx="32766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통합관리형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49600" y="3035300"/>
            <a:ext cx="8623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개인 맞춤형 운동 유형 분류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21000" y="3035300"/>
            <a:ext cx="89789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2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시니어 친화적 UX/UI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52700" y="6108700"/>
            <a:ext cx="5372100" cy="5257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179300" y="5257800"/>
            <a:ext cx="4178300" cy="302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999200" y="4267200"/>
            <a:ext cx="4737100" cy="3429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0" y="10210800"/>
            <a:ext cx="4064000" cy="2933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138900" y="9613900"/>
            <a:ext cx="4368800" cy="3263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2534900" y="7150100"/>
            <a:ext cx="31115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음성 안내로 쉽게!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90600" y="11506200"/>
            <a:ext cx="22479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큰 글씨와 
간단한 구성!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710400" y="11595100"/>
            <a:ext cx="35941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 조작 없이 운동!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193000" y="5880100"/>
            <a:ext cx="31115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맞춤 설정!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193000" y="6413500"/>
            <a:ext cx="38735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글자 크기, 말 속도, 음성 크기를 
원하는대로 조절 가능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360400" y="5651500"/>
            <a:ext cx="1346200" cy="13462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3868400" y="10325100"/>
            <a:ext cx="12446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30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566900" y="10820400"/>
            <a:ext cx="7366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2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가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688300" y="4686300"/>
            <a:ext cx="1282700" cy="1143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0955000" y="9906000"/>
            <a:ext cx="1117600" cy="1663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777200" y="9906000"/>
            <a:ext cx="1460500" cy="146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해결방안 _ </a:t>
            </a:r>
            <a:r>
              <a:rPr lang="en-US" sz="5333" b="true" i="false" u="none" strike="noStrike">
                <a:solidFill>
                  <a:srgbClr val="D94925"/>
                </a:solidFill>
                <a:latin typeface="Hakgyoansim Allimjang TTF R"/>
                <a:ea typeface="Hakgyoansim Allimjang TTF R"/>
                <a:cs typeface="Hakgyoansim Allimjang TTF R"/>
              </a:rPr>
              <a:t>맞춤형 운동제공</a:t>
            </a: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과 </a:t>
            </a:r>
            <a:r>
              <a:rPr lang="en-US" sz="5333" b="true" i="false" u="none" strike="noStrike">
                <a:solidFill>
                  <a:srgbClr val="D94925"/>
                </a:solidFill>
                <a:latin typeface="Hakgyoansim Allimjang TTF R"/>
                <a:ea typeface="Hakgyoansim Allimjang TTF R"/>
                <a:cs typeface="Hakgyoansim Allimjang TTF R"/>
              </a:rPr>
              <a:t>시니어 친화적 UX/UI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006600" y="3035300"/>
            <a:ext cx="927100" cy="11684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2019300" y="3187700"/>
            <a:ext cx="8890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520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4592300" y="3009900"/>
            <a:ext cx="927100" cy="11303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4605000" y="3162300"/>
            <a:ext cx="889000" cy="83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520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33400" y="3073400"/>
          <a:ext cx="23520400" cy="9309100"/>
        </p:xfrm>
        <a:graphic>
          <a:graphicData uri="http://schemas.openxmlformats.org/drawingml/2006/table">
            <a:tbl>
              <a:tblPr/>
              <a:tblGrid>
                <a:gridCol w="6094542"/>
                <a:gridCol w="9478376"/>
                <a:gridCol w="7881915"/>
              </a:tblGrid>
              <a:tr h="107115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533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문제점</a:t>
                      </a:r>
                      <a:endParaRPr lang="en-US" sz="1100"/>
                    </a:p>
                  </a:txBody>
                  <a:tcPr anchor="ctr" marL="25400" marT="150644" marR="25400" marB="150644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533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해결 방안</a:t>
                      </a:r>
                      <a:endParaRPr lang="en-US" sz="1100"/>
                    </a:p>
                  </a:txBody>
                  <a:tcPr anchor="ctr" marL="25400" marT="150644" marR="25400" marB="150644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533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솔루션</a:t>
                      </a:r>
                      <a:endParaRPr lang="en-US" sz="1100"/>
                    </a:p>
                  </a:txBody>
                  <a:tcPr anchor="ctr" marL="25400" marT="150644" marR="25400" marB="150644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CCFF"/>
                    </a:solidFill>
                  </a:tcPr>
                </a:tc>
              </a:tr>
              <a:tr h="294888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4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노인의 가정에서의 
</a:t>
                      </a: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낙상과 치매 예방관리 부족</a:t>
                      </a:r>
                      <a:endParaRPr lang="en-US" sz="1100"/>
                    </a:p>
                  </a:txBody>
                  <a:tcPr anchor="t" marL="165100" marT="132223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80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디지털 바이오마커</a:t>
                      </a:r>
                      <a:r>
                        <a:rPr lang="en-US" sz="4480" b="tru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448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기반 생체지표 추출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시계열 보행 데이터 L</a:t>
                      </a:r>
                      <a: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ogistic Regression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기반 신체 위험도 측정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인지 평가 데이터를 </a:t>
                      </a:r>
                      <a: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OpenCV와</a:t>
                      </a:r>
                      <a:b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인지 기능 평가 지표 기반 인지 위험도 측정</a:t>
                      </a:r>
                    </a:p>
                  </a:txBody>
                  <a:tcPr anchor="t" marL="165100" marT="134721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8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AI 기반 예방형 홈케어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가정에서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가능한 </a:t>
                      </a: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디지털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신체·인지 평가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건강 </a:t>
                      </a: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리포트 및 모니터링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제공</a:t>
                      </a:r>
                    </a:p>
                  </a:txBody>
                  <a:tcPr anchor="t" marL="165100" marT="134721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545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4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개인별 신체·인지 기능을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394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고려하지 않는 </a:t>
                      </a: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획일적 </a:t>
                      </a:r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운동</a:t>
                      </a:r>
                      <a:r>
                        <a:rPr lang="en-US" sz="394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으로 </a:t>
                      </a: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부상 위험 증가</a:t>
                      </a:r>
                    </a:p>
                  </a:txBody>
                  <a:tcPr anchor="t" marL="165100" marT="124730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80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AI 기반 신체·인지 유형 분류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Rule-based Classification</a:t>
                      </a:r>
                      <a:b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인지·신체 기능 분석으로 사용자 유형(A/B/C/D) 분류 </a:t>
                      </a:r>
                    </a:p>
                  </a:txBody>
                  <a:tcPr anchor="t" marL="165100" marT="134721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8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노인 통합 케어 서비스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개인별 인지·신체 통합 </a:t>
                      </a: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맞춤 </a:t>
                      </a:r>
                      <a:b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이중과제 운동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제공 서비스</a:t>
                      </a:r>
                    </a:p>
                  </a:txBody>
                  <a:tcPr anchor="t" marL="165100" marT="134721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5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4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노인의 </a:t>
                      </a: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디지털 기기 조작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어려움</a:t>
                      </a:r>
                      <a:r>
                        <a:rPr lang="en-US" sz="394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으로 헬스케어 
</a:t>
                      </a:r>
                      <a:r>
                        <a:rPr lang="en-US" sz="4346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서비스 이용이 제한됨</a:t>
                      </a:r>
                    </a:p>
                  </a:txBody>
                  <a:tcPr anchor="t" marL="165100" marT="132223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80" b="true" i="false" u="none" strike="noStrike">
                          <a:solidFill>
                            <a:srgbClr val="D94925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화면 조작 없는 맞춤형 AI 평가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IMU 센서 및 음성으로 수행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가능한 디지털 평가 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LLM/RAG 기반 </a:t>
                      </a: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AI Assistant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로 동적</a:t>
                      </a:r>
                      <a:b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UI/UX 조절,평가 및 운동수행 도움</a:t>
                      </a:r>
                    </a:p>
                  </a:txBody>
                  <a:tcPr anchor="t" marL="165100" marT="134721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8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노인 친화형 홈트레이닝 서비스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알아보기 쉬운 글씨, 알아듣기 쉬운 </a:t>
                      </a:r>
                      <a:b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노인 친화형 안내</a:t>
                      </a:r>
                      <a:r>
                        <a:rPr lang="en-US" sz="367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제공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67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홈케어 통합 지원 AI Assistant</a:t>
                      </a:r>
                    </a:p>
                  </a:txBody>
                  <a:tcPr anchor="t" marL="165100" marT="134721" marR="165100" marB="50800">
                    <a:lnL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문제점 및 해결방안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5400" y="10198100"/>
            <a:ext cx="3937000" cy="774700"/>
          </a:xfrm>
          <a:prstGeom prst="rect">
            <a:avLst/>
          </a:prstGeom>
        </p:spPr>
        <p:txBody>
          <a:bodyPr anchor="ctr" rtlCol="false" lIns="0" tIns="105456" rIns="0" bIns="105456"/>
          <a:lstStyle/>
          <a:p>
            <a:pPr algn="ctr" lvl="0">
              <a:lnSpc>
                <a:spcPct val="83413"/>
              </a:lnSpc>
            </a:pPr>
            <a:r>
              <a:rPr lang="en-US" sz="4204" b="false" i="false" u="none" strike="noStrike" spc="-300">
                <a:solidFill>
                  <a:srgbClr val="000000"/>
                </a:solidFill>
                <a:latin typeface="Hakgyoansim Allimjang TTF B"/>
                <a:ea typeface="Hakgyoansim Allimjang TTF B"/>
                <a:cs typeface="Hakgyoansim Allimjang TTF B"/>
              </a:rPr>
              <a:t>신체기능 검사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91200" y="10198100"/>
            <a:ext cx="3517900" cy="774700"/>
          </a:xfrm>
          <a:prstGeom prst="rect">
            <a:avLst/>
          </a:prstGeom>
        </p:spPr>
        <p:txBody>
          <a:bodyPr anchor="ctr" rtlCol="false" lIns="0" tIns="105456" rIns="0" bIns="105456"/>
          <a:lstStyle/>
          <a:p>
            <a:pPr algn="ctr" lvl="0">
              <a:lnSpc>
                <a:spcPct val="83413"/>
              </a:lnSpc>
            </a:pPr>
            <a:r>
              <a:rPr lang="en-US" sz="4204" b="false" i="false" u="none" strike="noStrike" spc="-300">
                <a:solidFill>
                  <a:srgbClr val="000000"/>
                </a:solidFill>
                <a:latin typeface="Hakgyoansim Allimjang TTF B"/>
                <a:ea typeface="Hakgyoansim Allimjang TTF B"/>
                <a:cs typeface="Hakgyoansim Allimjang TTF B"/>
              </a:rPr>
              <a:t>인지기능 검사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06600" y="9931400"/>
            <a:ext cx="2679700" cy="1320800"/>
          </a:xfrm>
          <a:prstGeom prst="rect">
            <a:avLst/>
          </a:prstGeom>
        </p:spPr>
        <p:txBody>
          <a:bodyPr anchor="ctr" rtlCol="false" lIns="0" tIns="105456" rIns="0" bIns="105456"/>
          <a:lstStyle/>
          <a:p>
            <a:pPr algn="ctr" lvl="0">
              <a:lnSpc>
                <a:spcPct val="83413"/>
              </a:lnSpc>
            </a:pPr>
            <a:r>
              <a:rPr lang="en-US" sz="4204" b="false" i="false" u="none" strike="noStrike" spc="-300">
                <a:solidFill>
                  <a:srgbClr val="000000"/>
                </a:solidFill>
                <a:latin typeface="Hakgyoansim Allimjang TTF B"/>
                <a:ea typeface="Hakgyoansim Allimjang TTF B"/>
                <a:cs typeface="Hakgyoansim Allimjang TTF B"/>
              </a:rPr>
              <a:t>'기억하지' 유형 분류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00700" y="9931400"/>
            <a:ext cx="4064000" cy="1320800"/>
          </a:xfrm>
          <a:prstGeom prst="rect">
            <a:avLst/>
          </a:prstGeom>
        </p:spPr>
        <p:txBody>
          <a:bodyPr anchor="ctr" rtlCol="false" lIns="0" tIns="105456" rIns="0" bIns="105456"/>
          <a:lstStyle/>
          <a:p>
            <a:pPr algn="ctr" lvl="0">
              <a:lnSpc>
                <a:spcPct val="83413"/>
              </a:lnSpc>
            </a:pPr>
            <a:r>
              <a:rPr lang="en-US" sz="4204" b="false" i="false" u="none" strike="noStrike" spc="-300">
                <a:solidFill>
                  <a:srgbClr val="000000"/>
                </a:solidFill>
                <a:latin typeface="Hakgyoansim Allimjang TTF B"/>
                <a:ea typeface="Hakgyoansim Allimjang TTF B"/>
                <a:cs typeface="Hakgyoansim Allimjang TTF B"/>
              </a:rPr>
              <a:t>노인 맞춤형 
예방관리 서비스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374100" y="3149600"/>
            <a:ext cx="787400" cy="660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3149600"/>
            <a:ext cx="787400" cy="660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048000" y="3086100"/>
            <a:ext cx="19939000" cy="2349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5230" b="true" i="false" u="none" strike="noStrike" spc="-200" cap="all">
                <a:solidFill>
                  <a:srgbClr val="D94925"/>
                </a:solidFill>
                <a:latin typeface="Hakgyoansim Allimjang TTF R"/>
                <a:ea typeface="Hakgyoansim Allimjang TTF R"/>
                <a:cs typeface="Hakgyoansim Allimjang TTF R"/>
              </a:rPr>
              <a:t>걷고 말하기</a:t>
            </a:r>
            <a:r>
              <a:rPr lang="en-US" sz="5230" b="false" i="false" u="none" strike="noStrike" spc="-200" cap="all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만 해도 AI 분석을 통해 
</a:t>
            </a:r>
            <a:r>
              <a:rPr lang="en-US" sz="5230" b="true" i="false" u="none" strike="noStrike" spc="-200" cap="all">
                <a:solidFill>
                  <a:srgbClr val="D94925"/>
                </a:solidFill>
                <a:latin typeface="Hakgyoansim Allimjang TTF R"/>
                <a:ea typeface="Hakgyoansim Allimjang TTF R"/>
                <a:cs typeface="Hakgyoansim Allimjang TTF R"/>
              </a:rPr>
              <a:t>나에게 딱 맞는 운동 처방</a:t>
            </a:r>
            <a:r>
              <a:rPr lang="en-US" sz="5230" b="false" i="false" u="none" strike="noStrike" spc="-200" cap="all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을 제공해주는 '</a:t>
            </a:r>
            <a:r>
              <a:rPr lang="en-US" sz="7630" b="true" i="false" u="none" strike="noStrike" spc="-200" cap="all">
                <a:solidFill>
                  <a:srgbClr val="0E6CA5"/>
                </a:solidFill>
                <a:latin typeface="Hakgyoansim Allimjang TTF R"/>
                <a:ea typeface="Hakgyoansim Allimjang TTF R"/>
                <a:cs typeface="Hakgyoansim Allimjang TTF R"/>
              </a:rPr>
              <a:t>기억하지</a:t>
            </a:r>
            <a:r>
              <a:rPr lang="en-US" sz="5230" b="false" i="false" u="none" strike="noStrike" spc="-200" cap="all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'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12900" y="11188700"/>
            <a:ext cx="3454400" cy="444500"/>
          </a:xfrm>
          <a:prstGeom prst="rect">
            <a:avLst/>
          </a:prstGeom>
        </p:spPr>
        <p:txBody>
          <a:bodyPr anchor="ctr" rtlCol="false" lIns="0" tIns="6735" rIns="0" bIns="6735"/>
          <a:lstStyle/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AI 맞춤A/B/C/D 자동 분류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37200" y="11214100"/>
            <a:ext cx="4178300" cy="1257300"/>
          </a:xfrm>
          <a:prstGeom prst="rect">
            <a:avLst/>
          </a:prstGeom>
        </p:spPr>
        <p:txBody>
          <a:bodyPr anchor="ctr" rtlCol="false" lIns="0" tIns="6735" rIns="0" bIns="6735"/>
          <a:lstStyle/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① 맞춤형 이중 과제 운동</a:t>
            </a:r>
          </a:p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② 건강 리포트 및 모니터링</a:t>
            </a:r>
          </a:p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③ AI 케어 Assistant 제공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65900" y="6807200"/>
            <a:ext cx="2057400" cy="1993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727700" y="11188700"/>
            <a:ext cx="3721100" cy="444500"/>
          </a:xfrm>
          <a:prstGeom prst="rect">
            <a:avLst/>
          </a:prstGeom>
        </p:spPr>
        <p:txBody>
          <a:bodyPr anchor="ctr" rtlCol="false" lIns="0" tIns="6735" rIns="0" bIns="6735"/>
          <a:lstStyle/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MoCA 기반 디지털 인지평가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52100" y="10198100"/>
            <a:ext cx="2679700" cy="774700"/>
          </a:xfrm>
          <a:prstGeom prst="rect">
            <a:avLst/>
          </a:prstGeom>
        </p:spPr>
        <p:txBody>
          <a:bodyPr anchor="ctr" rtlCol="false" lIns="0" tIns="105456" rIns="0" bIns="105456"/>
          <a:lstStyle/>
          <a:p>
            <a:pPr algn="ctr" lvl="0">
              <a:lnSpc>
                <a:spcPct val="83413"/>
              </a:lnSpc>
            </a:pPr>
            <a:r>
              <a:rPr lang="en-US" sz="4204" b="false" i="false" u="none" strike="noStrike" spc="-300">
                <a:solidFill>
                  <a:srgbClr val="000000"/>
                </a:solidFill>
                <a:latin typeface="Hakgyoansim Allimjang TTF B"/>
                <a:ea typeface="Hakgyoansim Allimjang TTF B"/>
                <a:cs typeface="Hakgyoansim Allimjang TTF B"/>
              </a:rPr>
              <a:t>AI  분석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0000" y="11188700"/>
            <a:ext cx="3987800" cy="850900"/>
          </a:xfrm>
          <a:prstGeom prst="rect">
            <a:avLst/>
          </a:prstGeom>
        </p:spPr>
        <p:txBody>
          <a:bodyPr anchor="ctr" rtlCol="false" lIns="0" tIns="6735" rIns="0" bIns="6735"/>
          <a:lstStyle/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허리  센서 기반 보행 데이터 수집</a:t>
            </a:r>
          </a:p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및 보행 디지털 바이오마커 추출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41600" y="6731000"/>
            <a:ext cx="1244600" cy="2298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44200" y="6883400"/>
            <a:ext cx="1993900" cy="199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 rot="0">
            <a:off x="14973300" y="6870700"/>
            <a:ext cx="2044700" cy="20447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6243300" y="7010400"/>
            <a:ext cx="5461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27300" y="7035800"/>
            <a:ext cx="49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14600" y="8026400"/>
            <a:ext cx="520700" cy="72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179800" y="8039100"/>
            <a:ext cx="5207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418300" y="7315200"/>
            <a:ext cx="1498600" cy="1765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240500" y="6032500"/>
            <a:ext cx="1866900" cy="1866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338800" y="5956300"/>
            <a:ext cx="4838700" cy="3810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71600" y="5956300"/>
            <a:ext cx="4838700" cy="3810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867900" y="5956300"/>
            <a:ext cx="4838700" cy="3810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613400" y="5956300"/>
            <a:ext cx="4838700" cy="3810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84300" y="5956300"/>
            <a:ext cx="4838700" cy="3810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정의 및 목표 설정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솔루션 컨셉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20300" y="11188700"/>
            <a:ext cx="3721100" cy="444500"/>
          </a:xfrm>
          <a:prstGeom prst="rect">
            <a:avLst/>
          </a:prstGeom>
        </p:spPr>
        <p:txBody>
          <a:bodyPr anchor="ctr" rtlCol="false" lIns="0" tIns="6735" rIns="0" bIns="6735"/>
          <a:lstStyle/>
          <a:p>
            <a:pPr algn="ctr" lvl="0">
              <a:lnSpc>
                <a:spcPct val="112464"/>
              </a:lnSpc>
            </a:pPr>
            <a:r>
              <a:rPr lang="en-US" sz="2356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신체·인지 통합 분석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418300" y="12954000"/>
            <a:ext cx="45974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*MoCA : 몬트리올 인지평가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8800" y="482600"/>
            <a:ext cx="23279100" cy="127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116800" y="9994900"/>
            <a:ext cx="2997200" cy="257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57400" y="3543300"/>
            <a:ext cx="14325600" cy="18034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2E3D86"/>
                </a:solidFill>
                <a:latin typeface="Pretendard ExtraBold"/>
                <a:ea typeface="Pretendard ExtraBold"/>
                <a:cs typeface="Pretendard ExtraBold"/>
              </a:rPr>
              <a:t>2.</a:t>
            </a:r>
            <a:r>
              <a:rPr lang="en-US" sz="10000" b="false" i="false" u="none" strike="noStrike">
                <a:solidFill>
                  <a:srgbClr val="4467EF"/>
                </a:solidFill>
                <a:latin typeface="Pretendard ExtraBold"/>
                <a:ea typeface="Pretendard ExtraBold"/>
                <a:cs typeface="Pretendard ExtraBold"/>
              </a:rPr>
              <a:t> </a:t>
            </a:r>
            <a:r>
              <a:rPr lang="en-US" sz="1000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신체 기능 평가 모델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6451600"/>
            <a:ext cx="393700" cy="393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267200" y="6311900"/>
            <a:ext cx="70485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80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데이터 수집 및 탐색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7162800"/>
            <a:ext cx="393700" cy="393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267200" y="7023100"/>
            <a:ext cx="70485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80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데이터 전처리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7874000"/>
            <a:ext cx="393700" cy="393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191000" y="7708900"/>
            <a:ext cx="70485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80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모델  설계 및 개발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8585200"/>
            <a:ext cx="393700" cy="393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191000" y="8432800"/>
            <a:ext cx="70485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80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최종 모델 비교 및 선정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94100" y="5740400"/>
            <a:ext cx="393700" cy="393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267200" y="5600700"/>
            <a:ext cx="70485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80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기술아키텍처 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rot="0">
            <a:off x="1866900" y="4343400"/>
            <a:ext cx="10083800" cy="822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9500" y="1701800"/>
            <a:ext cx="749300" cy="139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76400" y="12827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2가지 AI 모델 구성도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98700" y="4724400"/>
            <a:ext cx="8788400" cy="5041900"/>
          </a:xfrm>
          <a:prstGeom prst="rect">
            <a:avLst/>
          </a:prstGeom>
          <a:effectLst>
            <a:outerShdw dir="2700000" dist="930812" blurRad="201676">
              <a:srgbClr val="000000">
                <a:alpha val="5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296900" y="4724400"/>
            <a:ext cx="8788400" cy="5041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810000" y="5003800"/>
            <a:ext cx="55880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7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❶ 신체 기능 평가 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08200" y="5003800"/>
            <a:ext cx="55880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7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❷ 인지 기능 평가 AI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26700" y="3136900"/>
            <a:ext cx="3822700" cy="1498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785600" y="3187700"/>
            <a:ext cx="2108200" cy="1384300"/>
          </a:xfrm>
          <a:prstGeom prst="rect">
            <a:avLst/>
          </a:prstGeom>
        </p:spPr>
        <p:txBody>
          <a:bodyPr anchor="t" rtlCol="false" lIns="0" tIns="139052" rIns="0" bIns="0"/>
          <a:lstStyle/>
          <a:p>
            <a:pPr algn="ctr" lvl="0">
              <a:lnSpc>
                <a:spcPct val="74700"/>
              </a:lnSpc>
            </a:pPr>
            <a:r>
              <a:rPr lang="en-US" sz="43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사용자
</a:t>
            </a:r>
            <a:r>
              <a:rPr lang="en-US" sz="2912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(노인)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4300" y="2108200"/>
            <a:ext cx="21628100" cy="863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485900" y="2171700"/>
            <a:ext cx="207391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341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신체기능과 인지기능을 </a:t>
            </a:r>
            <a:r>
              <a:rPr lang="en-US" sz="4341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각각의 AI 모델로 독립평가</a:t>
            </a:r>
            <a:r>
              <a:rPr lang="en-US" sz="4341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 한 후 통합 분석을 수행합니다. 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28900" y="5994400"/>
            <a:ext cx="8128000" cy="2501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677900" y="5994400"/>
            <a:ext cx="8204200" cy="2540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048000" y="8813800"/>
            <a:ext cx="7137400" cy="723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3124200" y="8864600"/>
            <a:ext cx="69850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신체 기능 점수 및 낙상 위험도 산출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11300" y="8813800"/>
            <a:ext cx="7137400" cy="723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287500" y="8864600"/>
            <a:ext cx="69850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인지 기능 점수 및 인지 저하 위험도 산출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83400" y="3898900"/>
            <a:ext cx="3568700" cy="914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211300" y="3898900"/>
            <a:ext cx="3225800" cy="914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706100" y="2997200"/>
            <a:ext cx="1193800" cy="1536700"/>
          </a:xfrm>
          <a:prstGeom prst="rect">
            <a:avLst/>
          </a:prstGeom>
          <a:effectLst>
            <a:outerShdw dir="2700000" dist="110197" blurRad="47752">
              <a:srgbClr val="000000">
                <a:alpha val="50000"/>
              </a:srgbClr>
            </a:outerShdw>
          </a:effectLst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673600" y="10375900"/>
            <a:ext cx="1943100" cy="1168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6083300" y="10160000"/>
            <a:ext cx="1041400" cy="88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565900" y="10375900"/>
            <a:ext cx="1943100" cy="1168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849600" y="10375900"/>
            <a:ext cx="1955800" cy="1181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7284700" y="10185400"/>
            <a:ext cx="965200" cy="88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7754600" y="10375900"/>
            <a:ext cx="1955800" cy="1181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981700" y="9804400"/>
            <a:ext cx="1168400" cy="1168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208500" y="9829800"/>
            <a:ext cx="11684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515100" y="11658600"/>
            <a:ext cx="3568700" cy="914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490700" y="11658600"/>
            <a:ext cx="3314700" cy="914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121900" y="11595100"/>
            <a:ext cx="4406900" cy="14986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0426700" y="11684000"/>
            <a:ext cx="3797300" cy="1308100"/>
          </a:xfrm>
          <a:prstGeom prst="rect">
            <a:avLst/>
          </a:prstGeom>
        </p:spPr>
        <p:txBody>
          <a:bodyPr anchor="t" rtlCol="false" lIns="0" tIns="139052" rIns="0" bIns="0"/>
          <a:lstStyle/>
          <a:p>
            <a:pPr algn="ctr" lvl="0">
              <a:lnSpc>
                <a:spcPct val="74700"/>
              </a:lnSpc>
            </a:pPr>
            <a:r>
              <a:rPr lang="en-US" sz="43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❸ A/B/C/D
유형 분류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390900" y="10947400"/>
            <a:ext cx="3060700" cy="1003300"/>
          </a:xfrm>
          <a:prstGeom prst="rect">
            <a:avLst/>
          </a:prstGeom>
          <a:effectLst>
            <a:outerShdw dir="2700000" dist="185225" blurRad="40132">
              <a:srgbClr val="000000">
                <a:alpha val="50000"/>
              </a:srgbClr>
            </a:outerShdw>
          </a:effectLst>
        </p:spPr>
      </p:pic>
      <p:sp>
        <p:nvSpPr>
          <p:cNvPr name="TextBox 36" id="36"/>
          <p:cNvSpPr txBox="true"/>
          <p:nvPr/>
        </p:nvSpPr>
        <p:spPr>
          <a:xfrm rot="0">
            <a:off x="3530600" y="11036300"/>
            <a:ext cx="28067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1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신체 정상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756400" y="10947400"/>
            <a:ext cx="3060700" cy="1003300"/>
          </a:xfrm>
          <a:prstGeom prst="rect">
            <a:avLst/>
          </a:prstGeom>
          <a:effectLst>
            <a:outerShdw dir="2700000" dist="185225" blurRad="40132">
              <a:srgbClr val="000000">
                <a:alpha val="50000"/>
              </a:srgbClr>
            </a:outerShdw>
          </a:effectLst>
        </p:spPr>
      </p:pic>
      <p:sp>
        <p:nvSpPr>
          <p:cNvPr name="TextBox 38" id="38"/>
          <p:cNvSpPr txBox="true"/>
          <p:nvPr/>
        </p:nvSpPr>
        <p:spPr>
          <a:xfrm rot="0">
            <a:off x="6896100" y="11036300"/>
            <a:ext cx="28067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1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신체 저하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4566900" y="10947400"/>
            <a:ext cx="3073400" cy="10033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4706600" y="11036300"/>
            <a:ext cx="2819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2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인지 정상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945100" y="10947400"/>
            <a:ext cx="3073400" cy="10033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18084800" y="11036300"/>
            <a:ext cx="2819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2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인지 저하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370300" y="7531100"/>
            <a:ext cx="2705100" cy="101600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6649700" y="7658100"/>
            <a:ext cx="2159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5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문항별 자동 채점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675100" y="8102600"/>
            <a:ext cx="21082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영역별 점수 산출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0">
            <a:off x="2743200" y="3111500"/>
            <a:ext cx="7874000" cy="163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7000"/>
          </a:blip>
          <a:stretch>
            <a:fillRect/>
          </a:stretch>
        </p:blipFill>
        <p:spPr>
          <a:xfrm rot="0">
            <a:off x="10236200" y="3111500"/>
            <a:ext cx="6731000" cy="1638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464800" y="3517900"/>
            <a:ext cx="6299200" cy="8382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453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02. 모델링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0">
            <a:off x="16497300" y="3060700"/>
            <a:ext cx="6553200" cy="1638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840200" y="3467100"/>
            <a:ext cx="6261100" cy="8382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453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03. 측정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2600" y="3200400"/>
            <a:ext cx="6616700" cy="15240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453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01. 데이터 수집 및</a:t>
            </a:r>
          </a:p>
          <a:p>
            <a:pPr algn="ctr" lvl="0">
              <a:lnSpc>
                <a:spcPct val="99600"/>
              </a:lnSpc>
            </a:pPr>
            <a:r>
              <a:rPr lang="en-US" sz="4534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전처리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206500" y="4800600"/>
          <a:ext cx="21297900" cy="7937500"/>
        </p:xfrm>
        <a:graphic>
          <a:graphicData uri="http://schemas.openxmlformats.org/drawingml/2006/table">
            <a:tbl>
              <a:tblPr/>
              <a:tblGrid>
                <a:gridCol w="1801613"/>
                <a:gridCol w="7230683"/>
                <a:gridCol w="6297265"/>
                <a:gridCol w="5927948"/>
              </a:tblGrid>
              <a:tr h="4239157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4666" b="tru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보행</a:t>
                      </a:r>
                      <a:endParaRPr lang="en-US" sz="1100"/>
                    </a:p>
                  </a:txBody>
                  <a:tcPr anchor="ctr" marL="114300" marT="112818" marR="114300" marB="112818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t" marL="114300" marT="55371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t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endParaRPr lang="en-US" sz="1100"/>
                    </a:p>
                  </a:txBody>
                  <a:tcPr anchor="t" marL="114300" marT="55371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5709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3543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Butterworth Filtering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4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1분 보행 구간 추출 </a:t>
                      </a:r>
                      <a:r>
                        <a:rPr lang="en-US" sz="354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4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1분 보행구간 -&gt; 20초 윈도우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4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각 20초 구간 → 10초 윈도우 6개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4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보행 충격 및 대칭성 수치화</a:t>
                      </a:r>
                    </a:p>
                  </a:txBody>
                  <a:tcPr anchor="t" marL="114300" marT="91777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354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구간별 보행 디지털 바이오마커의 median, iqr 계산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43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Logistic Regression 예측 </a:t>
                      </a:r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3543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   → Recall 값 0.835</a:t>
                      </a:r>
                    </a:p>
                  </a:txBody>
                  <a:tcPr anchor="t" marL="114300" marT="91777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353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20초 측정 -&gt; 신호 보정 -&gt; 10초 보행구간 추출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가속도 및 자이로 센서 보정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학습과 동일한 특징 계산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5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Kotlin 및 Flask 서버 기반 센서 데이터 전송</a:t>
                      </a:r>
                    </a:p>
                  </a:txBody>
                  <a:tcPr anchor="t" marL="114300" marT="91642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151600" y="6007100"/>
            <a:ext cx="2057400" cy="340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338800" y="6896100"/>
            <a:ext cx="14351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89700" y="7493000"/>
            <a:ext cx="2717800" cy="1219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873500" y="7493000"/>
            <a:ext cx="2717800" cy="1219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18000"/>
          </a:blip>
          <a:stretch>
            <a:fillRect/>
          </a:stretch>
        </p:blipFill>
        <p:spPr>
          <a:xfrm rot="0">
            <a:off x="5829300" y="6400800"/>
            <a:ext cx="1828800" cy="2717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470400" y="7721600"/>
            <a:ext cx="2717800" cy="76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261100" y="7721600"/>
            <a:ext cx="2717800" cy="76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6070600" y="6146800"/>
            <a:ext cx="1257300" cy="22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74" b="true" i="false" u="none" strike="noStrike">
                <a:solidFill>
                  <a:srgbClr val="FF0000"/>
                </a:solidFill>
                <a:latin typeface="Pretendard Regular"/>
                <a:ea typeface="Pretendard Regular"/>
                <a:cs typeface="Pretendard Regular"/>
              </a:rPr>
              <a:t>선택된 10초 window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731000" y="6337300"/>
            <a:ext cx="850900" cy="254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918200" y="6337300"/>
            <a:ext cx="850900" cy="25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873500" y="6108700"/>
            <a:ext cx="5321300" cy="3136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alphaModFix amt="31000"/>
          </a:blip>
          <a:stretch>
            <a:fillRect/>
          </a:stretch>
        </p:blipFill>
        <p:spPr>
          <a:xfrm rot="0">
            <a:off x="4546600" y="5054600"/>
            <a:ext cx="3721100" cy="9271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4826000" y="5245100"/>
            <a:ext cx="38862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97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IMU 센서 데이터</a:t>
            </a:r>
            <a:r>
              <a:rPr lang="en-US" sz="3797" b="fals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4">
            <a:alphaModFix amt="31000"/>
          </a:blip>
          <a:stretch>
            <a:fillRect/>
          </a:stretch>
        </p:blipFill>
        <p:spPr>
          <a:xfrm rot="0">
            <a:off x="12319000" y="5080000"/>
            <a:ext cx="2260600" cy="800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alphaModFix amt="31000"/>
          </a:blip>
          <a:stretch>
            <a:fillRect/>
          </a:stretch>
        </p:blipFill>
        <p:spPr>
          <a:xfrm rot="0">
            <a:off x="17589500" y="5054600"/>
            <a:ext cx="3911600" cy="11811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061700" y="5118100"/>
            <a:ext cx="4813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02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모델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716500" y="4889500"/>
            <a:ext cx="3429000" cy="1308100"/>
          </a:xfrm>
          <a:prstGeom prst="rect">
            <a:avLst/>
          </a:prstGeom>
        </p:spPr>
        <p:txBody>
          <a:bodyPr anchor="t" rtlCol="false" lIns="0" tIns="73326" rIns="0" bIns="0"/>
          <a:lstStyle/>
          <a:p>
            <a:pPr algn="ctr" lvl="0">
              <a:lnSpc>
                <a:spcPct val="80509"/>
              </a:lnSpc>
            </a:pPr>
            <a:r>
              <a:rPr lang="en-US" sz="3802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IMU 센서 입력
</a:t>
            </a:r>
            <a:r>
              <a:rPr lang="en-US" sz="2480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(스마트폰)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기술 아키텍처 _ 신체 기능 평가 모델</a:t>
            </a:r>
          </a:p>
        </p:txBody>
      </p:sp>
      <p:graphicFrame>
        <p:nvGraphicFramePr>
          <p:cNvPr name="Table 31" id="31"/>
          <p:cNvGraphicFramePr>
            <a:graphicFrameLocks noGrp="true"/>
          </p:cNvGraphicFramePr>
          <p:nvPr/>
        </p:nvGraphicFramePr>
        <p:xfrm>
          <a:off x="11836400" y="6083300"/>
          <a:ext cx="3073400" cy="2705100"/>
        </p:xfrm>
        <a:graphic>
          <a:graphicData uri="http://schemas.openxmlformats.org/drawingml/2006/table">
            <a:tbl>
              <a:tblPr/>
              <a:tblGrid>
                <a:gridCol w="1597790"/>
                <a:gridCol w="1425223"/>
              </a:tblGrid>
              <a:tr h="54647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1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민감도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1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0.835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50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AUC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0.872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50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특이도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0.731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650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f1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0.817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160500" y="3771900"/>
            <a:ext cx="8674100" cy="7188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 rot="0">
            <a:off x="10528300" y="8775700"/>
            <a:ext cx="1181100" cy="685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31000"/>
          </a:blip>
          <a:stretch>
            <a:fillRect/>
          </a:stretch>
        </p:blipFill>
        <p:spPr>
          <a:xfrm rot="0">
            <a:off x="10528300" y="5092700"/>
            <a:ext cx="1181100" cy="7747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435100" y="2806700"/>
          <a:ext cx="8115300" cy="9258300"/>
        </p:xfrm>
        <a:graphic>
          <a:graphicData uri="http://schemas.openxmlformats.org/drawingml/2006/table">
            <a:tbl>
              <a:tblPr/>
              <a:tblGrid>
                <a:gridCol w="2221216"/>
                <a:gridCol w="2008358"/>
                <a:gridCol w="3839443"/>
              </a:tblGrid>
              <a:tr h="1066267">
                <a:tc gridSpan="3">
                  <a:txBody>
                    <a:bodyPr anchor="t" rtlCol="false"/>
                    <a:lstStyle/>
                    <a:p>
                      <a:pPr algn="ctr" lvl="1" marL="342900" indent="-342900">
                        <a:lnSpc>
                          <a:spcPct val="91714"/>
                        </a:lnSpc>
                        <a:buAutoNum type="arabicPeriod" startAt="1"/>
                        <a:defRPr/>
                      </a:pPr>
                      <a:r>
                        <a:rPr lang="en-US" sz="3967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시계열 일상생활 파동 데이터셋 </a:t>
                      </a:r>
                      <a:endParaRPr lang="en-US" sz="1100"/>
                    </a:p>
                  </a:txBody>
                  <a:tcPr anchor="ctr" marL="25400" marT="99728" marR="25400" marB="99728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</a:tr>
              <a:tr h="2848726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데이터셋</a:t>
                      </a:r>
                      <a:endParaRPr lang="en-US" sz="1100"/>
                    </a:p>
                  </a:txBody>
                  <a:tcPr anchor="ctr" marL="25400" marT="79289" marR="25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고령자 </a:t>
                      </a:r>
                      <a:r>
                        <a:rPr lang="en-US" sz="2876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3일(72시간) 일상생활 </a:t>
                      </a:r>
                      <a:br>
                        <a:rPr lang="en-US" sz="2876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2876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허리</a:t>
                      </a: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센서데이터( 잠,운동,보행 등 )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1분간 실험실 보행 검사 데이터 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대상자 임상정보 (</a:t>
                      </a:r>
                      <a:r>
                        <a:rPr lang="en-US" sz="24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MoCA, TUG, DGI 등 다양한 임상 평가 정보 포함)</a:t>
                      </a:r>
                    </a:p>
                  </a:txBody>
                  <a:tcPr anchor="ctr" marL="152400" marT="79289" marR="152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2122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출처</a:t>
                      </a:r>
                      <a:endParaRPr lang="en-US" sz="1100"/>
                    </a:p>
                  </a:txBody>
                  <a:tcPr anchor="ctr" marL="25400" marT="79289" marR="25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PhysioNet</a:t>
                      </a:r>
                      <a:endParaRPr lang="en-US" sz="1100"/>
                    </a:p>
                  </a:txBody>
                  <a:tcPr anchor="ctr" marL="152400" marT="79289" marR="152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2168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034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연구 대상</a:t>
                      </a:r>
                      <a:endParaRPr lang="en-US" sz="1100"/>
                    </a:p>
                  </a:txBody>
                  <a:tcPr anchor="ctr" marL="25400" marT="82245" marR="25400" marB="82245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034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71명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3034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(대조군 40명 / 낙상군 31명)</a:t>
                      </a:r>
                    </a:p>
                  </a:txBody>
                  <a:tcPr anchor="ctr" marL="152400" marT="82245" marR="152400" marB="82245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675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샘플링 주파수</a:t>
                      </a:r>
                      <a:endParaRPr lang="en-US" sz="1100"/>
                    </a:p>
                  </a:txBody>
                  <a:tcPr anchor="ctr" marL="25400" marT="79289" marR="25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100 Hz</a:t>
                      </a:r>
                      <a:endParaRPr lang="en-US" sz="1100"/>
                    </a:p>
                  </a:txBody>
                  <a:tcPr anchor="ctr" marL="152400" marT="79289" marR="152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6846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신호 채널</a:t>
                      </a:r>
                      <a:endParaRPr lang="en-US" sz="1100"/>
                    </a:p>
                  </a:txBody>
                  <a:tcPr anchor="ctr" marL="25400" marT="79289" marR="25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3축 가속도계 + 3축 자이로스코프</a:t>
                      </a:r>
                      <a:endParaRPr lang="en-US" sz="1100"/>
                    </a:p>
                  </a:txBody>
                  <a:tcPr anchor="ctr" marL="152400" marT="79289" marR="152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26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분류 라벨</a:t>
                      </a:r>
                      <a:endParaRPr lang="en-US" sz="1100"/>
                    </a:p>
                  </a:txBody>
                  <a:tcPr anchor="ctr" marL="25400" marT="79289" marR="25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대조군(Control) / 낙상군(Faller)</a:t>
                      </a:r>
                      <a:endParaRPr lang="en-US" sz="1100"/>
                    </a:p>
                  </a:txBody>
                  <a:tcPr anchor="ctr" marL="152400" marT="79289" marR="152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4147800" y="2794000"/>
          <a:ext cx="8686800" cy="1358900"/>
        </p:xfrm>
        <a:graphic>
          <a:graphicData uri="http://schemas.openxmlformats.org/drawingml/2006/table">
            <a:tbl>
              <a:tblPr/>
              <a:tblGrid>
                <a:gridCol w="1983649"/>
                <a:gridCol w="1793557"/>
                <a:gridCol w="4861782"/>
              </a:tblGrid>
              <a:tr h="1313128">
                <a:tc gridSpan="3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967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2. 실제 측정된 관성 측정 장치 (IMU) 데이터 (6축 신호)</a:t>
                      </a:r>
                      <a:endParaRPr lang="en-US" sz="1100"/>
                    </a:p>
                  </a:txBody>
                  <a:tcPr anchor="ctr" marL="25400" marT="99728" marR="25400" marB="99728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</a:tr>
            </a:tbl>
          </a:graphicData>
        </a:graphic>
      </p:graphicFrame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274800" y="4114800"/>
            <a:ext cx="8445500" cy="6781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026900" y="4114800"/>
            <a:ext cx="20193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v-acceleration</a:t>
            </a:r>
          </a:p>
          <a:p>
            <a:pPr algn="l" lvl="0">
              <a:lnSpc>
                <a:spcPct val="116199"/>
              </a:lnSpc>
            </a:pPr>
            <a:r>
              <a:rPr lang="en-US" sz="23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수직 방향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50700" y="5003800"/>
            <a:ext cx="21717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ml-acceleration</a:t>
            </a:r>
          </a:p>
          <a:p>
            <a:pPr algn="l" lvl="0">
              <a:lnSpc>
                <a:spcPct val="116199"/>
              </a:lnSpc>
            </a:pPr>
            <a:r>
              <a:rPr lang="en-US" sz="232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좌우 방향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8000" y="5918200"/>
            <a:ext cx="21971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ap-acceleration</a:t>
            </a:r>
          </a:p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전후 방향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5000" y="7556500"/>
            <a:ext cx="18161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yaw-velocity</a:t>
            </a:r>
          </a:p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좌우 회전 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6900" y="8623300"/>
            <a:ext cx="19304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pitch-velocity</a:t>
            </a:r>
          </a:p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앞뒤 기울기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5000" y="9690100"/>
            <a:ext cx="16764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roll-velocity</a:t>
            </a:r>
          </a:p>
          <a:p>
            <a:pPr algn="l" lvl="0">
              <a:lnSpc>
                <a:spcPct val="116199"/>
              </a:lnSpc>
            </a:pPr>
            <a:r>
              <a:rPr lang="en-US" sz="23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좌우 기울기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55300" y="5219700"/>
            <a:ext cx="1028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가속도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55300" y="8864600"/>
            <a:ext cx="1028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각속도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98300" y="3886200"/>
            <a:ext cx="2311400" cy="325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798300" y="7505700"/>
            <a:ext cx="2311400" cy="325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데이터 수집 및 탐색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09800" y="5918200"/>
            <a:ext cx="73406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가속도 각속도 각각 어떤건지 넣기 </a:t>
            </a:r>
          </a:p>
        </p:txBody>
      </p: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10515600" y="2794000"/>
          <a:ext cx="12484100" cy="9245600"/>
        </p:xfrm>
        <a:graphic>
          <a:graphicData uri="http://schemas.openxmlformats.org/drawingml/2006/table">
            <a:tbl>
              <a:tblPr/>
              <a:tblGrid>
                <a:gridCol w="1235329"/>
                <a:gridCol w="2813159"/>
                <a:gridCol w="8386544"/>
              </a:tblGrid>
              <a:tr h="1002921">
                <a:tc gridSpan="3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967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2. 실제 측정된 관성 측정 장치 (IMU) 데이터 (6축 신호)</a:t>
                      </a:r>
                      <a:endParaRPr lang="en-US" sz="1100"/>
                    </a:p>
                  </a:txBody>
                  <a:tcPr anchor="ctr" marL="25400" marT="99728" marR="25400" marB="99728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</a:tr>
              <a:tr h="1296308">
                <a:tc rowSpan="3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3축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가속도</a:t>
                      </a:r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수직 가속도</a:t>
                      </a:r>
                      <a:endParaRPr lang="en-US" sz="1100"/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661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034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좌우 가속도</a:t>
                      </a:r>
                      <a:endParaRPr lang="en-US" sz="1100"/>
                    </a:p>
                  </a:txBody>
                  <a:tcPr anchor="ctr" marL="114300" marT="82245" marR="114300" marB="82245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285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전후 가속도</a:t>
                      </a:r>
                      <a:endParaRPr lang="en-US" sz="1100"/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2853">
                <a:tc rowSpan="3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3축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자이로</a:t>
                      </a:r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좌우 회전 자이로</a:t>
                      </a:r>
                      <a:endParaRPr lang="en-US" sz="1100"/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285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앞뒤 기울기 
자이로</a:t>
                      </a:r>
                      <a:endParaRPr lang="en-US" sz="1100"/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285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좌우 기울기 
자이로</a:t>
                      </a:r>
                      <a:endParaRPr lang="en-US" sz="1100"/>
                    </a:p>
                  </a:txBody>
                  <a:tcPr anchor="ctr" marL="114300" marT="79289" marR="1143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152400" marT="25400" marR="152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19300" y="10706100"/>
            <a:ext cx="8255000" cy="1219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719300" y="9347200"/>
            <a:ext cx="8242300" cy="1295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719300" y="8001000"/>
            <a:ext cx="8255000" cy="1206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719300" y="6629400"/>
            <a:ext cx="8267700" cy="1155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719300" y="5232400"/>
            <a:ext cx="8255000" cy="1193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719300" y="3911600"/>
            <a:ext cx="8267700" cy="1155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719300" y="3835400"/>
            <a:ext cx="469900" cy="12446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10800000">
            <a:off x="14579600" y="3797300"/>
            <a:ext cx="393700" cy="11303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71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 -acc (g)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719300" y="5194300"/>
            <a:ext cx="469900" cy="11684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10800000">
            <a:off x="14592300" y="5143500"/>
            <a:ext cx="393700" cy="12192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71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ML -acc (g)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719300" y="6438900"/>
            <a:ext cx="469900" cy="134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719300" y="10655300"/>
            <a:ext cx="457200" cy="13462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10800000">
            <a:off x="14605000" y="6477000"/>
            <a:ext cx="393700" cy="12192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71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AP -acc (g)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706600" y="7874000"/>
            <a:ext cx="469900" cy="13462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10800000">
            <a:off x="14681200" y="7835900"/>
            <a:ext cx="254000" cy="14097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06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yaw-velocity (deg/s)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706600" y="9271000"/>
            <a:ext cx="457200" cy="13462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10800000">
            <a:off x="14681200" y="9220200"/>
            <a:ext cx="254000" cy="14097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06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pitch-velocity (deg/s)</a:t>
            </a:r>
          </a:p>
        </p:txBody>
      </p:sp>
      <p:sp>
        <p:nvSpPr>
          <p:cNvPr name="TextBox 42" id="42"/>
          <p:cNvSpPr txBox="true"/>
          <p:nvPr/>
        </p:nvSpPr>
        <p:spPr>
          <a:xfrm rot="10800000">
            <a:off x="14693900" y="10642600"/>
            <a:ext cx="254000" cy="14097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06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roll-velocity (deg/s)</a:t>
            </a:r>
          </a:p>
        </p:txBody>
      </p:sp>
      <p:sp>
        <p:nvSpPr>
          <p:cNvPr name="TextBox 43" id="43"/>
          <p:cNvSpPr txBox="true"/>
          <p:nvPr/>
        </p:nvSpPr>
        <p:spPr>
          <a:xfrm rot="16200000">
            <a:off x="14922500" y="101600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200</a:t>
            </a:r>
          </a:p>
        </p:txBody>
      </p:sp>
      <p:sp>
        <p:nvSpPr>
          <p:cNvPr name="TextBox 44" id="44"/>
          <p:cNvSpPr txBox="true"/>
          <p:nvPr/>
        </p:nvSpPr>
        <p:spPr>
          <a:xfrm rot="16200000">
            <a:off x="14922500" y="96393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200</a:t>
            </a:r>
          </a:p>
        </p:txBody>
      </p:sp>
      <p:sp>
        <p:nvSpPr>
          <p:cNvPr name="TextBox 45" id="45"/>
          <p:cNvSpPr txBox="true"/>
          <p:nvPr/>
        </p:nvSpPr>
        <p:spPr>
          <a:xfrm rot="16200000">
            <a:off x="14973300" y="99822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0</a:t>
            </a:r>
          </a:p>
        </p:txBody>
      </p:sp>
      <p:sp>
        <p:nvSpPr>
          <p:cNvPr name="TextBox 46" id="46"/>
          <p:cNvSpPr txBox="true"/>
          <p:nvPr/>
        </p:nvSpPr>
        <p:spPr>
          <a:xfrm rot="16200000">
            <a:off x="14909800" y="103124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-200</a:t>
            </a:r>
          </a:p>
        </p:txBody>
      </p:sp>
      <p:sp>
        <p:nvSpPr>
          <p:cNvPr name="TextBox 47" id="47"/>
          <p:cNvSpPr txBox="true"/>
          <p:nvPr/>
        </p:nvSpPr>
        <p:spPr>
          <a:xfrm rot="16200000">
            <a:off x="14909800" y="81915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200</a:t>
            </a:r>
          </a:p>
        </p:txBody>
      </p:sp>
      <p:sp>
        <p:nvSpPr>
          <p:cNvPr name="TextBox 48" id="48"/>
          <p:cNvSpPr txBox="true"/>
          <p:nvPr/>
        </p:nvSpPr>
        <p:spPr>
          <a:xfrm rot="16200000">
            <a:off x="14947900" y="85344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0</a:t>
            </a:r>
          </a:p>
        </p:txBody>
      </p:sp>
      <p:sp>
        <p:nvSpPr>
          <p:cNvPr name="TextBox 49" id="49"/>
          <p:cNvSpPr txBox="true"/>
          <p:nvPr/>
        </p:nvSpPr>
        <p:spPr>
          <a:xfrm rot="16200000">
            <a:off x="14897100" y="88646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-200</a:t>
            </a:r>
          </a:p>
        </p:txBody>
      </p:sp>
      <p:sp>
        <p:nvSpPr>
          <p:cNvPr name="TextBox 50" id="50"/>
          <p:cNvSpPr txBox="true"/>
          <p:nvPr/>
        </p:nvSpPr>
        <p:spPr>
          <a:xfrm rot="16200000">
            <a:off x="14986000" y="67945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16200000">
            <a:off x="14986000" y="71247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0</a:t>
            </a:r>
          </a:p>
        </p:txBody>
      </p:sp>
      <p:sp>
        <p:nvSpPr>
          <p:cNvPr name="TextBox 52" id="52"/>
          <p:cNvSpPr txBox="true"/>
          <p:nvPr/>
        </p:nvSpPr>
        <p:spPr>
          <a:xfrm rot="16200000">
            <a:off x="14973300" y="74549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-5</a:t>
            </a:r>
          </a:p>
        </p:txBody>
      </p:sp>
      <p:sp>
        <p:nvSpPr>
          <p:cNvPr name="TextBox 53" id="53"/>
          <p:cNvSpPr txBox="true"/>
          <p:nvPr/>
        </p:nvSpPr>
        <p:spPr>
          <a:xfrm rot="16200000">
            <a:off x="14986000" y="53975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5</a:t>
            </a:r>
          </a:p>
        </p:txBody>
      </p:sp>
      <p:sp>
        <p:nvSpPr>
          <p:cNvPr name="TextBox 54" id="54"/>
          <p:cNvSpPr txBox="true"/>
          <p:nvPr/>
        </p:nvSpPr>
        <p:spPr>
          <a:xfrm rot="16200000">
            <a:off x="14986000" y="57277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0</a:t>
            </a:r>
          </a:p>
        </p:txBody>
      </p:sp>
      <p:sp>
        <p:nvSpPr>
          <p:cNvPr name="TextBox 55" id="55"/>
          <p:cNvSpPr txBox="true"/>
          <p:nvPr/>
        </p:nvSpPr>
        <p:spPr>
          <a:xfrm rot="16200000">
            <a:off x="14986000" y="60579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-5</a:t>
            </a:r>
          </a:p>
        </p:txBody>
      </p:sp>
      <p:sp>
        <p:nvSpPr>
          <p:cNvPr name="TextBox 56" id="56"/>
          <p:cNvSpPr txBox="true"/>
          <p:nvPr/>
        </p:nvSpPr>
        <p:spPr>
          <a:xfrm rot="16200000">
            <a:off x="14986000" y="40132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5</a:t>
            </a:r>
          </a:p>
        </p:txBody>
      </p:sp>
      <p:sp>
        <p:nvSpPr>
          <p:cNvPr name="TextBox 57" id="57"/>
          <p:cNvSpPr txBox="true"/>
          <p:nvPr/>
        </p:nvSpPr>
        <p:spPr>
          <a:xfrm rot="16200000">
            <a:off x="14986000" y="43434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0</a:t>
            </a:r>
          </a:p>
        </p:txBody>
      </p:sp>
      <p:sp>
        <p:nvSpPr>
          <p:cNvPr name="TextBox 58" id="58"/>
          <p:cNvSpPr txBox="true"/>
          <p:nvPr/>
        </p:nvSpPr>
        <p:spPr>
          <a:xfrm rot="16200000">
            <a:off x="14973300" y="4673600"/>
            <a:ext cx="2413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930" b="tru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-5</a:t>
            </a:r>
          </a:p>
        </p:txBody>
      </p:sp>
      <p:sp>
        <p:nvSpPr>
          <p:cNvPr name="TextBox 59" id="59"/>
          <p:cNvSpPr txBox="true"/>
          <p:nvPr/>
        </p:nvSpPr>
        <p:spPr>
          <a:xfrm rot="16200000">
            <a:off x="14859000" y="12052300"/>
            <a:ext cx="381000" cy="3048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6464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8h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354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16h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74371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24h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83261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32h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92151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40h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01295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48h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10312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56h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19329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64h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364200" y="12255500"/>
            <a:ext cx="9398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46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 (시)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2618700" y="12052300"/>
            <a:ext cx="6477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72h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9900900" y="2159000"/>
            <a:ext cx="3162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*IMU : 관성 측정 장치</a:t>
            </a:r>
          </a:p>
        </p:txBody>
      </p:sp>
      <p:pic>
        <p:nvPicPr>
          <p:cNvPr name="Picture 71" id="7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35100" y="12509500"/>
            <a:ext cx="21628100" cy="863600"/>
          </a:xfrm>
          <a:prstGeom prst="rect">
            <a:avLst/>
          </a:prstGeom>
        </p:spPr>
      </p:pic>
      <p:sp>
        <p:nvSpPr>
          <p:cNvPr name="TextBox 72" id="72"/>
          <p:cNvSpPr txBox="true"/>
          <p:nvPr/>
        </p:nvSpPr>
        <p:spPr>
          <a:xfrm rot="0">
            <a:off x="2133600" y="12598400"/>
            <a:ext cx="207137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 72시간 중 대부분은 </a:t>
            </a:r>
            <a:r>
              <a:rPr lang="en-US" sz="36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비보행 구간</a:t>
            </a:r>
            <a:r>
              <a:rPr lang="en-US" sz="3674" b="fals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실제로 걷는 구간은 일부</a:t>
            </a:r>
            <a:r>
              <a:rPr lang="en-US" sz="36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3674" b="false" i="false" u="none" strike="noStrike">
                <a:solidFill>
                  <a:srgbClr val="1A1C1F"/>
                </a:solidFill>
                <a:latin typeface="Pretendard Regular"/>
                <a:ea typeface="Pretendard Regular"/>
                <a:cs typeface="Pretendard Regular"/>
              </a:rPr>
              <a:t>→ </a:t>
            </a:r>
            <a:r>
              <a:rPr lang="en-US" sz="3674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보행 구간 추출</a:t>
            </a:r>
            <a:r>
              <a:rPr lang="en-US" sz="3674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전처리 필요성 확인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8478500" y="3721100"/>
            <a:ext cx="1130300" cy="8267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926800" y="9779000"/>
            <a:ext cx="853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05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다중공선성 활용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데이터 전처리_재라벨링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2463800"/>
            <a:ext cx="21628100" cy="1358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85900" y="2540000"/>
            <a:ext cx="21272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단순히 '낙상경험의 유무'로 분류되어있던 기존 라벨링을 임상에서 널리 사용되는  </a:t>
            </a:r>
          </a:p>
          <a:p>
            <a:pPr algn="l" lvl="0">
              <a:lnSpc>
                <a:spcPct val="116199"/>
              </a:lnSpc>
            </a:pPr>
            <a:r>
              <a:rPr lang="en-US" sz="3274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신체 기능 평가 도구</a:t>
            </a:r>
            <a:r>
              <a:rPr lang="en-US" sz="32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(TUG, FSST, BERG, DGI등) </a:t>
            </a:r>
            <a:r>
              <a:rPr lang="en-US" sz="3274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기반으로 '낙상 위험군'으로 재분류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2700" y="4076700"/>
            <a:ext cx="12801600" cy="9385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714500" y="4368800"/>
            <a:ext cx="88900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2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낙상 위험군 재라벨링 기준 </a:t>
            </a:r>
            <a:r>
              <a:rPr lang="en-US" sz="33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</a:t>
            </a:r>
            <a:r>
              <a:rPr lang="en-US" sz="3340" b="fals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OR </a:t>
            </a:r>
            <a:r>
              <a:rPr lang="en-US" sz="33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조건)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663700" y="5270500"/>
          <a:ext cx="12039600" cy="7175500"/>
        </p:xfrm>
        <a:graphic>
          <a:graphicData uri="http://schemas.openxmlformats.org/drawingml/2006/table">
            <a:tbl>
              <a:tblPr/>
              <a:tblGrid>
                <a:gridCol w="3843849"/>
                <a:gridCol w="2509884"/>
                <a:gridCol w="5645806"/>
              </a:tblGrid>
              <a:tr h="101242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167" b="tru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재라벨링 평가 도구</a:t>
                      </a:r>
                      <a:endParaRPr lang="en-US" sz="1100"/>
                    </a:p>
                  </a:txBody>
                  <a:tcPr anchor="ctr" marL="25400" marT="84744" marR="25400" marB="8474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167" b="tru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위험 기준</a:t>
                      </a:r>
                      <a:endParaRPr lang="en-US" sz="1100"/>
                    </a:p>
                  </a:txBody>
                  <a:tcPr anchor="ctr" marL="25400" marT="84744" marR="25400" marB="8474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167" b="tru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지표 설명</a:t>
                      </a:r>
                      <a:endParaRPr lang="en-US" sz="1100"/>
                    </a:p>
                  </a:txBody>
                  <a:tcPr anchor="ctr" marL="25400" marT="84744" marR="25400" marB="8474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242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74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TUG</a:t>
                      </a: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 
(Timed Up and Go)</a:t>
                      </a:r>
                      <a:endParaRPr lang="en-US" sz="1100"/>
                    </a:p>
                  </a:txBody>
                  <a:tcPr anchor="ctr" marL="88900" marT="76790" marR="88900" marB="7679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≥ 12초</a:t>
                      </a:r>
                      <a:endParaRPr lang="en-US" sz="1100"/>
                    </a:p>
                  </a:txBody>
                  <a:tcPr anchor="ctr" marL="88900" marT="66799" marR="88900" marB="667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의자에서 일어나 3m 걷고 돌아와 앉는 시간</a:t>
                      </a:r>
                      <a:endParaRPr lang="en-US" sz="1100"/>
                    </a:p>
                  </a:txBody>
                  <a:tcPr anchor="ctr" marL="88900" marT="66799" marR="88900" marB="667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05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242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FSST 
</a:t>
                      </a: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(Four Square Step Test)</a:t>
                      </a:r>
                      <a:endParaRPr lang="en-US" sz="1100"/>
                    </a:p>
                  </a:txBody>
                  <a:tcPr anchor="ctr" marL="88900" marT="76656" marR="88900" marB="766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≥ 15초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4방향 스텝 테스트 수행 시간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242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BERG 
</a:t>
                      </a: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(Berg Balance Scale)</a:t>
                      </a:r>
                      <a:endParaRPr lang="en-US" sz="1100"/>
                    </a:p>
                  </a:txBody>
                  <a:tcPr anchor="ctr" marL="88900" marT="76656" marR="88900" marB="766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&lt; 52점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정적·동적 균형 능력 평가 (0~56점)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242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DGI 
</a:t>
                      </a: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(Dynamic Gait Index)</a:t>
                      </a:r>
                      <a:endParaRPr lang="en-US" sz="1100"/>
                    </a:p>
                  </a:txBody>
                  <a:tcPr anchor="ctr" marL="88900" marT="76656" marR="88900" marB="766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≤ 19점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보행 중 동적 균형 능력 평가 (0~24점)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242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일반 보행속도</a:t>
                      </a: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 
(Base Velocity)</a:t>
                      </a:r>
                      <a:endParaRPr lang="en-US" sz="1100"/>
                    </a:p>
                  </a:txBody>
                  <a:tcPr anchor="ctr" marL="88900" marT="76656" marR="88900" marB="766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&lt; 1.0 m/s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평상시 보행 속도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242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이중과제 보행속도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133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(s3 Velocity)</a:t>
                      </a:r>
                    </a:p>
                  </a:txBody>
                  <a:tcPr anchor="ctr" marL="88900" marT="76656" marR="88900" marB="6536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&lt; 1.0 m/s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인지과제 수행시의 보행속도</a:t>
                      </a:r>
                      <a:endParaRPr lang="en-US" sz="1100"/>
                    </a:p>
                  </a:txBody>
                  <a:tcPr anchor="ctr" marL="88900" marT="66665" marR="889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52600" y="12598400"/>
            <a:ext cx="11861800" cy="723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816100" y="12636500"/>
            <a:ext cx="117221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위 기준 중 하나라도 해당되면 → </a:t>
            </a:r>
            <a:r>
              <a:rPr lang="en-US" sz="3398" b="false" i="false" u="none" strike="noStrike">
                <a:solidFill>
                  <a:srgbClr val="FFF19E"/>
                </a:solidFill>
                <a:latin typeface="Pretendard Regular"/>
                <a:ea typeface="Pretendard Regular"/>
                <a:cs typeface="Pretendard Regular"/>
              </a:rPr>
              <a:t>낙상 위험군(Fall Risk)</a:t>
            </a:r>
            <a:r>
              <a:rPr lang="en-US" sz="33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로 분류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01800" y="4076700"/>
            <a:ext cx="8610600" cy="9385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106900" y="4762500"/>
            <a:ext cx="32004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기존 데이터셋 라벨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21200" y="9156700"/>
            <a:ext cx="3086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재정의된 라벨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06700" y="5346700"/>
            <a:ext cx="6489700" cy="3048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570200" y="9766300"/>
            <a:ext cx="6426200" cy="3200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7475200" y="6845300"/>
            <a:ext cx="2590800" cy="50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7551400" y="11315700"/>
            <a:ext cx="2730500" cy="50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471900" y="5969000"/>
            <a:ext cx="1752600" cy="1536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494500" y="5765800"/>
            <a:ext cx="1739900" cy="17526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5494000" y="7581900"/>
            <a:ext cx="33655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낙상 경험군(31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명</a:t>
            </a:r>
            <a:r>
              <a:rPr lang="en-US" sz="37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51600" y="7581900"/>
            <a:ext cx="25019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7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정상군(40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명</a:t>
            </a:r>
            <a:r>
              <a:rPr lang="en-US" sz="37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7538700" y="11315700"/>
            <a:ext cx="27305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497300" y="10388600"/>
            <a:ext cx="1841500" cy="1612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9443700" y="10325100"/>
            <a:ext cx="1828800" cy="18415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5570200" y="12090400"/>
            <a:ext cx="3543300" cy="72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11" b="true" i="false" u="none" strike="noStrike" spc="-2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낙상 위험군(40</a:t>
            </a:r>
            <a:r>
              <a:rPr lang="en-US" sz="2102" b="true" i="false" u="none" strike="noStrike" spc="-1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명</a:t>
            </a:r>
            <a:r>
              <a:rPr lang="en-US" sz="3911" b="true" i="false" u="none" strike="noStrike" spc="-2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681700" y="12090400"/>
            <a:ext cx="3683000" cy="723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1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비위험군(31</a:t>
            </a:r>
            <a:r>
              <a:rPr lang="en-US" sz="210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명</a:t>
            </a:r>
            <a:r>
              <a:rPr lang="en-US" sz="391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17767300" y="8115300"/>
            <a:ext cx="19558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199100" y="4826000"/>
            <a:ext cx="5422900" cy="3098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0800" y="4457700"/>
            <a:ext cx="22313900" cy="788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62000"/>
          </a:blip>
          <a:stretch>
            <a:fillRect/>
          </a:stretch>
        </p:blipFill>
        <p:spPr>
          <a:xfrm rot="0">
            <a:off x="17741900" y="3517900"/>
            <a:ext cx="5892800" cy="850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 rot="0">
            <a:off x="1282700" y="3530600"/>
            <a:ext cx="5880100" cy="83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 rot="0">
            <a:off x="6807200" y="3530600"/>
            <a:ext cx="5740400" cy="838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46000"/>
          </a:blip>
          <a:stretch>
            <a:fillRect/>
          </a:stretch>
        </p:blipFill>
        <p:spPr>
          <a:xfrm rot="0">
            <a:off x="12179300" y="3530600"/>
            <a:ext cx="5880100" cy="838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324100" y="3695700"/>
            <a:ext cx="3810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6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1. 물리 단위 변환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31100" y="3695700"/>
            <a:ext cx="4330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2. 노이즈 제거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453100" y="3683000"/>
            <a:ext cx="4064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4. 보행 구간 생성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8200" y="3708400"/>
            <a:ext cx="51562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3. 보행 활동 탐지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데이터 전처리_원시 신호 전처리 및 보행 구간 추출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84300" y="2463800"/>
            <a:ext cx="22186900" cy="863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485900" y="2540000"/>
            <a:ext cx="172720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4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연속 일상생활 기록에서 보행 활동 구간을 탐지하고, 모델 입력 특징 생성을 위한 20초 보행 윈도우를 추출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4292600" y="6299200"/>
            <a:ext cx="431800" cy="431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279900" y="6108700"/>
            <a:ext cx="584200" cy="241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1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시간(초)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65500" y="4521200"/>
            <a:ext cx="2108200" cy="1320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870200" y="5499100"/>
            <a:ext cx="5334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4000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70200" y="5016500"/>
            <a:ext cx="5334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6000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4546600"/>
            <a:ext cx="5334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8000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365500" y="4584700"/>
            <a:ext cx="2108200" cy="203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365500" y="5041900"/>
            <a:ext cx="2108200" cy="203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365500" y="5549900"/>
            <a:ext cx="2108200" cy="203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352800" y="5803900"/>
            <a:ext cx="22352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3              4            5</a:t>
            </a:r>
          </a:p>
        </p:txBody>
      </p:sp>
      <p:sp>
        <p:nvSpPr>
          <p:cNvPr name="TextBox 29" id="29"/>
          <p:cNvSpPr txBox="true"/>
          <p:nvPr/>
        </p:nvSpPr>
        <p:spPr>
          <a:xfrm rot="16200000">
            <a:off x="2451100" y="4978400"/>
            <a:ext cx="635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count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225800" y="6616700"/>
            <a:ext cx="2286000" cy="13716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2844800" y="7594600"/>
            <a:ext cx="4572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8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82900" y="7112000"/>
            <a:ext cx="419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8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2900" y="6642100"/>
            <a:ext cx="419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8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1.2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25800" y="7200900"/>
            <a:ext cx="2286000" cy="203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25800" y="7683500"/>
            <a:ext cx="2286000" cy="2032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3238500" y="7962900"/>
            <a:ext cx="23368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9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3              4            5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89400" y="8267700"/>
            <a:ext cx="596900" cy="25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4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시간(초)</a:t>
            </a:r>
          </a:p>
        </p:txBody>
      </p:sp>
      <p:sp>
        <p:nvSpPr>
          <p:cNvPr name="TextBox 38" id="38"/>
          <p:cNvSpPr txBox="true"/>
          <p:nvPr/>
        </p:nvSpPr>
        <p:spPr>
          <a:xfrm rot="16200000">
            <a:off x="2197100" y="7162800"/>
            <a:ext cx="11430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9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중력 가속도(g)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25800" y="6756400"/>
            <a:ext cx="2286000" cy="203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521700" y="4521200"/>
            <a:ext cx="2324100" cy="13716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8013700" y="5638800"/>
            <a:ext cx="4572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-0.2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02600" y="5283200"/>
            <a:ext cx="3683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102600" y="4940300"/>
            <a:ext cx="3683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0.2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585200" y="4940300"/>
            <a:ext cx="2324100" cy="2667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585200" y="5257800"/>
            <a:ext cx="2324100" cy="330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585200" y="5562600"/>
            <a:ext cx="2324100" cy="4953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8102600" y="4597400"/>
            <a:ext cx="571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0.4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521700" y="4622800"/>
            <a:ext cx="2324100" cy="2667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16200000">
            <a:off x="7480300" y="51181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9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가속도(g)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166100" y="7289800"/>
            <a:ext cx="406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7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0.0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242300" y="7010400"/>
            <a:ext cx="3302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7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42300" y="6731000"/>
            <a:ext cx="3302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7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166100" y="7569200"/>
            <a:ext cx="406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7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-0.1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166100" y="7848600"/>
            <a:ext cx="4064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37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-0.2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8521700" y="6756400"/>
            <a:ext cx="2324100" cy="13335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521700" y="6756400"/>
            <a:ext cx="2324100" cy="2286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521700" y="7010400"/>
            <a:ext cx="2324100" cy="2667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521700" y="7251700"/>
            <a:ext cx="2324100" cy="3937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521700" y="7531100"/>
            <a:ext cx="2324100" cy="3937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521700" y="7759700"/>
            <a:ext cx="2324100" cy="393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10800000">
            <a:off x="9372600" y="6299200"/>
            <a:ext cx="533400" cy="5334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16200000">
            <a:off x="7581900" y="72771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9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가속도(g)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521700" y="5842000"/>
            <a:ext cx="24003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7.5                      10.0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296400" y="6019800"/>
            <a:ext cx="7493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시간(초)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521700" y="8013700"/>
            <a:ext cx="24003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7.5                      10.0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296400" y="8191500"/>
            <a:ext cx="7493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시간(초)</a:t>
            </a:r>
          </a:p>
        </p:txBody>
      </p:sp>
      <p:pic>
        <p:nvPicPr>
          <p:cNvPr name="Picture 67" id="6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2573000" y="5092700"/>
            <a:ext cx="5334000" cy="2324100"/>
          </a:xfrm>
          <a:prstGeom prst="rect">
            <a:avLst/>
          </a:prstGeom>
        </p:spPr>
      </p:pic>
      <p:sp>
        <p:nvSpPr>
          <p:cNvPr name="TextBox 68" id="68"/>
          <p:cNvSpPr txBox="true"/>
          <p:nvPr/>
        </p:nvSpPr>
        <p:spPr>
          <a:xfrm rot="0">
            <a:off x="12814300" y="5588000"/>
            <a:ext cx="4826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0.15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14300" y="6794500"/>
            <a:ext cx="4699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0.00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814300" y="6375400"/>
            <a:ext cx="4699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0.05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852400" y="5981700"/>
            <a:ext cx="4445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7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0.10</a:t>
            </a:r>
          </a:p>
        </p:txBody>
      </p:sp>
      <p:sp>
        <p:nvSpPr>
          <p:cNvPr name="TextBox 72" id="72"/>
          <p:cNvSpPr txBox="true"/>
          <p:nvPr/>
        </p:nvSpPr>
        <p:spPr>
          <a:xfrm rot="16200000">
            <a:off x="12255500" y="5905500"/>
            <a:ext cx="9144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93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>RMS (g)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763500" y="5194300"/>
            <a:ext cx="546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0.20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986000" y="7239000"/>
            <a:ext cx="7112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2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1310600" y="13169900"/>
            <a:ext cx="3175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*ACF 주기성: 걸음 반복성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47400" y="4330700"/>
            <a:ext cx="811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다중공선성 활용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63700" y="1638300"/>
            <a:ext cx="199009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  설계 및 개발 _ 보행 특성 디지털 바이오마커(파생변수) 추출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2463800"/>
            <a:ext cx="21628100" cy="736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85900" y="2540000"/>
            <a:ext cx="207137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보행 신호의 대칭성·리듬·복잡도·충격을 통한 신체기능 관련 지표추출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25500" y="4673600"/>
            <a:ext cx="4330700" cy="566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35600" y="4673600"/>
            <a:ext cx="4330700" cy="5664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033000" y="4673600"/>
            <a:ext cx="4330700" cy="5664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43100" y="4673600"/>
            <a:ext cx="4330700" cy="5664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55900" y="4089400"/>
            <a:ext cx="18783300" cy="863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177000" y="4673600"/>
            <a:ext cx="4330700" cy="566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1599999">
            <a:off x="11976100" y="4089400"/>
            <a:ext cx="2413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1599999">
            <a:off x="7480300" y="4089400"/>
            <a:ext cx="241300" cy="660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21599999">
            <a:off x="16611600" y="4089400"/>
            <a:ext cx="241300" cy="635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118600" y="3670300"/>
            <a:ext cx="62484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74" b="false" i="false" u="none" strike="noStrike">
                <a:solidFill>
                  <a:srgbClr val="000000"/>
                </a:solidFill>
                <a:highlight>
                  <a:srgbClr val="FFD766"/>
                </a:highlight>
                <a:latin typeface="Pretendard Regular"/>
                <a:ea typeface="Pretendard Regular"/>
                <a:cs typeface="Pretendard Regular"/>
              </a:rPr>
              <a:t>핵심 디지털 바이오마커 5가지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6500" y="4889500"/>
            <a:ext cx="35433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❶ 좌우 보행 대칭성</a:t>
            </a:r>
          </a:p>
          <a:p>
            <a:pPr algn="ctr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(V ACF Symmetry)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38800" y="4889500"/>
            <a:ext cx="37846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❷ 보행 리듬</a:t>
            </a:r>
          </a:p>
          <a:p>
            <a:pPr algn="ctr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(V Stride Frequency)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72700" y="4889500"/>
            <a:ext cx="39370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❸ 보행 복잡도</a:t>
            </a:r>
          </a:p>
          <a:p>
            <a:pPr algn="ctr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(AP Spectral Entropy)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92400" y="4889500"/>
            <a:ext cx="26797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❹ 움직임 충격</a:t>
            </a:r>
          </a:p>
          <a:p>
            <a:pPr algn="ctr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(V Jerk RMS)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392900" y="4889500"/>
            <a:ext cx="39116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❺ 전후 움직임 대칭성</a:t>
            </a:r>
          </a:p>
          <a:p>
            <a:pPr algn="ctr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(AP ACF Symmetry) 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27200" y="5740400"/>
            <a:ext cx="2413000" cy="1663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70600" y="6223000"/>
            <a:ext cx="2844800" cy="179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795000" y="5803900"/>
            <a:ext cx="2984500" cy="1638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659100" y="5651500"/>
            <a:ext cx="2374900" cy="1727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0256500" y="5727700"/>
            <a:ext cx="2019300" cy="1562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04900" y="7975600"/>
            <a:ext cx="3797300" cy="2070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181100" y="8255000"/>
            <a:ext cx="3746500" cy="1422400"/>
          </a:xfrm>
          <a:prstGeom prst="rect">
            <a:avLst/>
          </a:prstGeom>
        </p:spPr>
        <p:txBody>
          <a:bodyPr anchor="ctr" rtlCol="false" lIns="0" tIns="17409" rIns="0" bIns="17409"/>
          <a:lstStyle/>
          <a:p>
            <a:pPr algn="l" lvl="0">
              <a:lnSpc>
                <a:spcPct val="107899"/>
              </a:lnSpc>
            </a:pPr>
            <a:r>
              <a:rPr lang="en-US" sz="2741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좌우 걸음의 수직 움직임 반복 패턴 비교를 이용한  </a:t>
            </a:r>
            <a:r>
              <a:rPr lang="en-US" sz="2741" b="true" i="false" u="none" strike="noStrike" spc="-1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좌우 보행 대칭성 지표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676900" y="7975600"/>
            <a:ext cx="3797300" cy="20701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5765800" y="8521700"/>
            <a:ext cx="3784600" cy="977900"/>
          </a:xfrm>
          <a:prstGeom prst="rect">
            <a:avLst/>
          </a:prstGeom>
        </p:spPr>
        <p:txBody>
          <a:bodyPr anchor="ctr" rtlCol="false" lIns="0" tIns="17409" rIns="0" bIns="17409"/>
          <a:lstStyle/>
          <a:p>
            <a:pPr algn="l" lvl="0">
              <a:lnSpc>
                <a:spcPct val="107899"/>
              </a:lnSpc>
            </a:pPr>
            <a:r>
              <a:rPr lang="en-US" sz="2741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걸음의 반복속도를 </a:t>
            </a:r>
          </a:p>
          <a:p>
            <a:pPr algn="l" lvl="0">
              <a:lnSpc>
                <a:spcPct val="107899"/>
              </a:lnSpc>
            </a:pPr>
            <a:r>
              <a:rPr lang="en-US" sz="2741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이용한  </a:t>
            </a:r>
            <a:r>
              <a:rPr lang="en-US" sz="2741" b="true" i="false" u="none" strike="noStrike" spc="-2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보행 리듬 지표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299700" y="7975600"/>
            <a:ext cx="3797300" cy="20701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0439400" y="8470900"/>
            <a:ext cx="3759200" cy="977900"/>
          </a:xfrm>
          <a:prstGeom prst="rect">
            <a:avLst/>
          </a:prstGeom>
        </p:spPr>
        <p:txBody>
          <a:bodyPr anchor="ctr" rtlCol="false" lIns="0" tIns="17409" rIns="0" bIns="17409"/>
          <a:lstStyle/>
          <a:p>
            <a:pPr algn="l" lvl="0">
              <a:lnSpc>
                <a:spcPct val="107899"/>
              </a:lnSpc>
            </a:pPr>
            <a:r>
              <a:rPr lang="en-US" sz="2741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주파수 에너지의 분산 정도를 이용한 </a:t>
            </a:r>
            <a:r>
              <a:rPr lang="en-US" sz="2741" b="true" i="false" u="none" strike="noStrike" spc="-1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보행 복잡도 지표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922500" y="7975600"/>
            <a:ext cx="3797300" cy="20701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5074900" y="8470900"/>
            <a:ext cx="3657600" cy="977900"/>
          </a:xfrm>
          <a:prstGeom prst="rect">
            <a:avLst/>
          </a:prstGeom>
        </p:spPr>
        <p:txBody>
          <a:bodyPr anchor="ctr" rtlCol="false" lIns="0" tIns="17409" rIns="0" bIns="17409"/>
          <a:lstStyle/>
          <a:p>
            <a:pPr algn="l" lvl="0">
              <a:lnSpc>
                <a:spcPct val="107899"/>
              </a:lnSpc>
            </a:pPr>
            <a:r>
              <a:rPr lang="en-US" sz="2741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가속도 변화의 급격함을 이용한 </a:t>
            </a:r>
            <a:r>
              <a:rPr lang="en-US" sz="2741" b="true" i="false" u="none" strike="noStrike" spc="-1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보행 </a:t>
            </a:r>
            <a:r>
              <a:rPr lang="en-US" sz="2741" b="true" i="false" u="none" strike="noStrike" spc="-1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충격 지표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431000" y="7975600"/>
            <a:ext cx="3797300" cy="20701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9583400" y="8255000"/>
            <a:ext cx="3746500" cy="1422400"/>
          </a:xfrm>
          <a:prstGeom prst="rect">
            <a:avLst/>
          </a:prstGeom>
        </p:spPr>
        <p:txBody>
          <a:bodyPr anchor="ctr" rtlCol="false" lIns="0" tIns="17409" rIns="0" bIns="17409"/>
          <a:lstStyle/>
          <a:p>
            <a:pPr algn="l" lvl="0">
              <a:lnSpc>
                <a:spcPct val="107899"/>
              </a:lnSpc>
            </a:pPr>
            <a:r>
              <a:rPr lang="en-US" sz="2741" b="false" i="false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좌우 걸음의 전후방 움직임 반복 패턴 비교를  이용한</a:t>
            </a:r>
          </a:p>
          <a:p>
            <a:pPr algn="l" lvl="0">
              <a:lnSpc>
                <a:spcPct val="107899"/>
              </a:lnSpc>
            </a:pPr>
            <a:r>
              <a:rPr lang="en-US" sz="2741" b="true" i="false" u="none" strike="noStrike" spc="-100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전후 움직임 대칭성 지표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68500" y="7200900"/>
            <a:ext cx="1917700" cy="990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0256500" y="7302500"/>
            <a:ext cx="2070100" cy="901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318500" y="6946900"/>
            <a:ext cx="1041400" cy="1231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303000" y="7150100"/>
            <a:ext cx="2057400" cy="901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697200" y="7264400"/>
            <a:ext cx="2298700" cy="939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25500" y="10528300"/>
            <a:ext cx="22682200" cy="25019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81100" y="10744200"/>
            <a:ext cx="4914900" cy="2070100"/>
          </a:xfrm>
          <a:prstGeom prst="rect">
            <a:avLst/>
          </a:prstGeom>
        </p:spPr>
      </p:pic>
      <p:sp>
        <p:nvSpPr>
          <p:cNvPr name="TextBox 47" id="47"/>
          <p:cNvSpPr txBox="true"/>
          <p:nvPr/>
        </p:nvSpPr>
        <p:spPr>
          <a:xfrm rot="0">
            <a:off x="1206500" y="10998200"/>
            <a:ext cx="5016500" cy="152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윈도우마다 5가지
 파생 변수 값 추출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026400" y="10769600"/>
            <a:ext cx="5549900" cy="9779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8191500" y="10922000"/>
            <a:ext cx="20955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Median 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60000" y="10947400"/>
            <a:ext cx="33655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보행 패턴의 </a:t>
            </a:r>
            <a:r>
              <a:rPr lang="en-US" sz="3408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대표성</a:t>
            </a:r>
          </a:p>
        </p:txBody>
      </p:sp>
      <p:pic>
        <p:nvPicPr>
          <p:cNvPr name="Picture 51" id="5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5455900" y="10769600"/>
            <a:ext cx="7874000" cy="20701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039100" y="11798300"/>
            <a:ext cx="5537200" cy="977900"/>
          </a:xfrm>
          <a:prstGeom prst="rect">
            <a:avLst/>
          </a:prstGeom>
        </p:spPr>
      </p:pic>
      <p:sp>
        <p:nvSpPr>
          <p:cNvPr name="TextBox 53" id="53"/>
          <p:cNvSpPr txBox="true"/>
          <p:nvPr/>
        </p:nvSpPr>
        <p:spPr>
          <a:xfrm rot="0">
            <a:off x="8572500" y="11899900"/>
            <a:ext cx="11684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IQR 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875000" y="11087100"/>
            <a:ext cx="71755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이상치에 강한 보행 특징</a:t>
            </a: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산출하여 </a:t>
            </a:r>
          </a:p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10개의 </a:t>
            </a:r>
            <a:r>
              <a:rPr lang="en-US" sz="3674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디지털 바이오마커 세트 구축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096500" y="11963400"/>
            <a:ext cx="33655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보행 패턴의 </a:t>
            </a:r>
            <a:r>
              <a:rPr lang="en-US" sz="3408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변동성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553200" y="11277600"/>
            <a:ext cx="1054100" cy="10541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071600" y="11277600"/>
            <a:ext cx="10541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  설계 및 개발 _ 모델 파생변수 선정 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2463800"/>
            <a:ext cx="21628100" cy="863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85900" y="2540000"/>
            <a:ext cx="216535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단일·조합 성능 평가를 통해</a:t>
            </a:r>
            <a:r>
              <a:rPr lang="en-US" sz="3408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보행 충격의 대표성·변동성과 보행 대칭성</a:t>
            </a:r>
            <a:r>
              <a:rPr lang="en-US" sz="3408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을 반영한 3개 파생 변수를 선정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1633200"/>
            <a:ext cx="8394700" cy="1701800"/>
          </a:xfrm>
          <a:prstGeom prst="rect">
            <a:avLst/>
          </a:prstGeom>
        </p:spPr>
      </p:pic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574800" y="4813300"/>
          <a:ext cx="8407400" cy="6642100"/>
        </p:xfrm>
        <a:graphic>
          <a:graphicData uri="http://schemas.openxmlformats.org/drawingml/2006/table">
            <a:tbl>
              <a:tblPr/>
              <a:tblGrid>
                <a:gridCol w="6269746"/>
                <a:gridCol w="2092667"/>
              </a:tblGrid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파생 변수</a:t>
                      </a:r>
                      <a:endParaRPr lang="en-US" sz="1100"/>
                    </a:p>
                  </a:txBody>
                  <a:tcPr anchor="ctr" marL="25400" marT="79154" marR="25400" marB="7915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AUC</a:t>
                      </a:r>
                      <a:endParaRPr lang="en-US" sz="1100"/>
                    </a:p>
                  </a:txBody>
                  <a:tcPr anchor="ctr" marL="25400" marT="79154" marR="25400" marB="7915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64139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6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v_jerk_rms_median</a:t>
                      </a:r>
                      <a:endParaRPr lang="en-US" sz="1100"/>
                    </a:p>
                  </a:txBody>
                  <a:tcPr anchor="ctr" marL="25400" marT="79099" marR="25400" marB="790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6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0.8539</a:t>
                      </a:r>
                      <a:endParaRPr lang="en-US" sz="1100"/>
                    </a:p>
                  </a:txBody>
                  <a:tcPr anchor="ctr" marL="25400" marT="79099" marR="25400" marB="790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4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6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v_jerk_rms_iqr</a:t>
                      </a:r>
                      <a:endParaRPr lang="en-US" sz="1100"/>
                    </a:p>
                  </a:txBody>
                  <a:tcPr anchor="ctr" marL="25400" marT="79099" marR="25400" marB="790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6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0.8049</a:t>
                      </a:r>
                      <a:endParaRPr lang="en-US" sz="1100"/>
                    </a:p>
                  </a:txBody>
                  <a:tcPr anchor="ctr" marL="25400" marT="79099" marR="25400" marB="79099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v_acf_step_stride_symmetry_iqr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0.6817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v_stride_freq_hz_median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0.6477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ap_spec_entropy_median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0.6107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v_stride_freq_hz_iqr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0.6037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ap_acf_step_stride_symmetry_iqr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0.5773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ap_spec_entropy_iqr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0.5718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1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ap_acf_step_stride_symmetry_median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0.5599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mpd="sng" algn="ctr" cap="flat">
                      <a:solidFill>
                        <a:srgbClr val="1A1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2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v_acf_step_stride_symmetry_median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33" b="false" i="false" u="none" strike="noStrike">
                          <a:solidFill>
                            <a:srgbClr val="1A1C1F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0.5161</a:t>
                      </a:r>
                      <a:endParaRPr lang="en-US" sz="1100"/>
                    </a:p>
                  </a:txBody>
                  <a:tcPr anchor="ctr" marL="25400" marT="76602" marR="25400" marB="76602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23000"/>
          </a:blip>
          <a:stretch>
            <a:fillRect/>
          </a:stretch>
        </p:blipFill>
        <p:spPr>
          <a:xfrm rot="0">
            <a:off x="1574800" y="3657600"/>
            <a:ext cx="8839200" cy="838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679700" y="3771900"/>
            <a:ext cx="7048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3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❶ 단일 파생변수 판별력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5283200"/>
            <a:ext cx="8686800" cy="1587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7200" y="12166600"/>
            <a:ext cx="5842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63000"/>
          </a:blip>
          <a:stretch>
            <a:fillRect/>
          </a:stretch>
        </p:blipFill>
        <p:spPr>
          <a:xfrm rot="0">
            <a:off x="10553700" y="3657600"/>
            <a:ext cx="12661900" cy="889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258800" y="3771900"/>
            <a:ext cx="72517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6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❷ 모델 파생변수 조합 평가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1480800" y="4813300"/>
          <a:ext cx="10680700" cy="7289800"/>
        </p:xfrm>
        <a:graphic>
          <a:graphicData uri="http://schemas.openxmlformats.org/drawingml/2006/table">
            <a:tbl>
              <a:tblPr/>
              <a:tblGrid>
                <a:gridCol w="10641482"/>
              </a:tblGrid>
              <a:tr h="4799704">
                <a:tc rowSpan="3">
                  <a:txBody>
                    <a:bodyPr anchor="t" rtlCol="false"/>
                    <a:lstStyle/>
                    <a:p>
                      <a:pPr algn="l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134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2850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44300" y="5410200"/>
            <a:ext cx="10515600" cy="668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141200" y="6172200"/>
            <a:ext cx="4254500" cy="431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68100" y="5397500"/>
            <a:ext cx="10071100" cy="8636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20167600" y="5600700"/>
            <a:ext cx="11049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8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0.873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2000" y="4889500"/>
            <a:ext cx="6794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[최종 파생변수 조합 상위 20개의 성능 비교 그래프]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39600" y="5549900"/>
            <a:ext cx="4635500" cy="5080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734800" y="5651500"/>
            <a:ext cx="49911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v_jerk_rms_median + v_jerk_rms_IQR +  V ACF symmetry IQR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468100" y="12166600"/>
            <a:ext cx="10693400" cy="1270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633200" y="12471400"/>
            <a:ext cx="584200" cy="5842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2230100" y="12280900"/>
            <a:ext cx="99441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6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보행 충격의 대표값·변동성과 좌우 보행 대칭성의 변동성 파생변수로</a:t>
            </a:r>
          </a:p>
          <a:p>
            <a:pPr algn="l" lvl="0">
              <a:lnSpc>
                <a:spcPct val="116199"/>
              </a:lnSpc>
            </a:pPr>
            <a:r>
              <a:rPr lang="en-US" sz="286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설명 가능성 확보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86000" y="11772900"/>
            <a:ext cx="77978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6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보행 충격 기반 단일 파생변수가 가장 높은 판별력을 </a:t>
            </a:r>
          </a:p>
          <a:p>
            <a:pPr algn="l" lvl="0">
              <a:lnSpc>
                <a:spcPct val="116199"/>
              </a:lnSpc>
            </a:pPr>
            <a:r>
              <a:rPr lang="en-US" sz="286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가졌지만,</a:t>
            </a:r>
            <a:r>
              <a:rPr lang="en-US" sz="286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설명 가능성 확보 위해 파생변수 조합 </a:t>
            </a:r>
          </a:p>
          <a:p>
            <a:pPr algn="l" lvl="0">
              <a:lnSpc>
                <a:spcPct val="116199"/>
              </a:lnSpc>
            </a:pPr>
            <a:r>
              <a:rPr lang="en-US" sz="286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성능을 비교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  설계 및 개발 _ 모델 파생변수 선정 ②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2463800"/>
            <a:ext cx="21628100" cy="86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3568700"/>
            <a:ext cx="11023600" cy="838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730500" y="3657600"/>
            <a:ext cx="87376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165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❸  모델 파생변수 다중공선성 분석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64700" y="11518900"/>
            <a:ext cx="3556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0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...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28800" y="4673600"/>
            <a:ext cx="10617200" cy="687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92300" y="11518900"/>
            <a:ext cx="10553700" cy="182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84400" y="10350500"/>
            <a:ext cx="584200" cy="5842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2184400" y="11620500"/>
            <a:ext cx="101346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82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분산팽창계수(VIF)는</a:t>
            </a:r>
            <a:r>
              <a:rPr lang="en-US" sz="33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 </a:t>
            </a:r>
            <a:r>
              <a:rPr lang="en-US" sz="3382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모두 5 미만</a:t>
            </a:r>
          </a:p>
          <a:p>
            <a:pPr algn="l" lvl="0">
              <a:lnSpc>
                <a:spcPct val="116199"/>
              </a:lnSpc>
            </a:pPr>
            <a:r>
              <a:rPr lang="en-US" sz="29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3가지 파생 변수를 함께 사용해도 </a:t>
            </a:r>
            <a:r>
              <a:rPr lang="en-US" sz="2982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회귀계수의 불안정성이 
     크지 않음을 확인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728700" y="3568700"/>
            <a:ext cx="9004300" cy="838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893800" y="3568700"/>
            <a:ext cx="86741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31" b="false" i="false" u="none" strike="noStrike">
                <a:solidFill>
                  <a:srgbClr val="FEFEFE"/>
                </a:solidFill>
                <a:latin typeface="Pretendard ExtraBold"/>
                <a:ea typeface="Pretendard ExtraBold"/>
                <a:cs typeface="Pretendard ExtraBold"/>
              </a:rPr>
              <a:t>❹ 최종</a:t>
            </a:r>
            <a:r>
              <a:rPr lang="en-US" sz="4231" b="false" i="false" u="none" strike="noStrike">
                <a:solidFill>
                  <a:srgbClr val="FDE32C"/>
                </a:solidFill>
                <a:latin typeface="Pretendard ExtraBold"/>
                <a:ea typeface="Pretendard ExtraBold"/>
                <a:cs typeface="Pretendard ExtraBold"/>
              </a:rPr>
              <a:t> 모델 파생변수 선정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36700" y="4749800"/>
            <a:ext cx="8242300" cy="825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4160500" y="4826000"/>
            <a:ext cx="8394700" cy="685800"/>
          </a:xfrm>
          <a:prstGeom prst="rect">
            <a:avLst/>
          </a:prstGeom>
        </p:spPr>
        <p:txBody>
          <a:bodyPr anchor="ctr" rtlCol="false" lIns="0" tIns="54678" rIns="0" bIns="54678"/>
          <a:lstStyle/>
          <a:p>
            <a:pPr algn="ctr" lvl="0">
              <a:lnSpc>
                <a:spcPct val="99600"/>
              </a:lnSpc>
            </a:pPr>
            <a:r>
              <a:rPr lang="en-US" sz="366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최종 선정 변수 (3개)</a:t>
            </a:r>
          </a:p>
        </p:txBody>
      </p: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14224000" y="5524500"/>
          <a:ext cx="8255000" cy="7797800"/>
        </p:xfrm>
        <a:graphic>
          <a:graphicData uri="http://schemas.openxmlformats.org/drawingml/2006/table">
            <a:tbl>
              <a:tblPr/>
              <a:tblGrid>
                <a:gridCol w="8217213"/>
              </a:tblGrid>
              <a:tr h="2640616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5369"/>
                        </a:lnSpc>
                        <a:defRPr/>
                      </a:pPr>
                      <a:r>
                        <a:rPr lang="en-US" sz="4533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① </a:t>
                      </a:r>
                      <a:r>
                        <a:rPr lang="en-US" sz="4533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V_jerk_rms_median</a:t>
                      </a:r>
                      <a:br>
                        <a:rPr lang="en-US" sz="4533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3999" b="true" i="false" u="none" strike="noStrike">
                          <a:solidFill>
                            <a:srgbClr val="2E3D8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보행 충격의 대표값</a:t>
                      </a:r>
                      <a:endParaRPr lang="en-US" sz="1100"/>
                    </a:p>
                  </a:txBody>
                  <a:tcPr anchor="t" marL="317500" marT="244177" marR="317500" marB="2413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542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5369"/>
                        </a:lnSpc>
                        <a:defRPr/>
                      </a:pPr>
                      <a:r>
                        <a:rPr lang="en-US" sz="466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② V_jerk_rms_IQR</a:t>
                      </a:r>
                      <a:br>
                        <a:rPr lang="en-US" sz="466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4000" b="true" i="false" u="none" strike="noStrike">
                          <a:solidFill>
                            <a:srgbClr val="2E3D86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보행 충격의 변동성</a:t>
                      </a:r>
                      <a:endParaRPr lang="en-US" sz="1100"/>
                    </a:p>
                  </a:txBody>
                  <a:tcPr anchor="t" marL="317500" marT="244262" marR="317500" marB="2413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25542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15369"/>
                        </a:lnSpc>
                        <a:defRPr/>
                      </a:pPr>
                      <a:r>
                        <a:rPr lang="en-US" sz="426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③ V ACF symmetry IQR</a:t>
                      </a:r>
                      <a:br>
                        <a:rPr lang="en-US" sz="426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4000" b="true" i="false" u="none" strike="noStrike">
                          <a:solidFill>
                            <a:srgbClr val="2E3D86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좌우 보행 대칭성의 변동성</a:t>
                      </a:r>
                      <a:endParaRPr lang="en-US" sz="1100"/>
                    </a:p>
                  </a:txBody>
                  <a:tcPr anchor="t" marL="317500" marT="244009" marR="317500" marB="2413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841500" y="2590800"/>
            <a:ext cx="216662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다중공선성에 따른 </a:t>
            </a:r>
            <a:r>
              <a:rPr lang="en-US" sz="3674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정보 중복이 낮음</a:t>
            </a:r>
            <a:r>
              <a:rPr lang="en-US" sz="36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을 확인  → </a:t>
            </a:r>
            <a:r>
              <a:rPr lang="en-US" sz="3674" b="true" i="false" u="none" strike="noStrike">
                <a:solidFill>
                  <a:srgbClr val="D94925"/>
                </a:solidFill>
                <a:latin typeface="Pretendard Medium"/>
                <a:ea typeface="Pretendard Medium"/>
                <a:cs typeface="Pretendard Medium"/>
              </a:rPr>
              <a:t>최종 채택</a:t>
            </a:r>
            <a:r>
              <a:rPr lang="en-US" sz="3674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  설계 및 개발_낙상위험군 선별 모델 평가 지표 순위 선정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03400" y="4864100"/>
            <a:ext cx="6045200" cy="7391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03400" y="4025900"/>
            <a:ext cx="6045200" cy="1473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959100" y="4305300"/>
            <a:ext cx="3708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42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1순위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98700" y="8928100"/>
            <a:ext cx="51562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5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 낙상 위험군을 놓치지 않는것이 
  가장 중요</a:t>
            </a:r>
          </a:p>
          <a:p>
            <a:pPr algn="l" lvl="1" marL="342900">
              <a:lnSpc>
                <a:spcPct val="116199"/>
              </a:lnSpc>
            </a:pPr>
            <a:r>
              <a:rPr lang="en-US" sz="275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미검출 최소화가 최우선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2200" y="5753100"/>
            <a:ext cx="4889500" cy="219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8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민감도</a:t>
            </a:r>
          </a:p>
          <a:p>
            <a:pPr algn="ctr" lvl="0">
              <a:lnSpc>
                <a:spcPct val="116199"/>
              </a:lnSpc>
            </a:pPr>
            <a:r>
              <a:rPr lang="en-US" sz="53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= Recall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08200" y="8140700"/>
            <a:ext cx="5283200" cy="76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575800" y="4597400"/>
            <a:ext cx="3708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42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2순위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66200" y="9055100"/>
            <a:ext cx="56134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Recall만 보면 과잉경고 위험</a:t>
            </a:r>
          </a:p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Precision도 함께 고려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7500" y="6134100"/>
            <a:ext cx="48133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F1-Score</a:t>
            </a:r>
          </a:p>
          <a:p>
            <a:pPr algn="l" lvl="0">
              <a:lnSpc>
                <a:spcPct val="116199"/>
              </a:lnSpc>
            </a:pPr>
            <a:r>
              <a:rPr lang="en-US" sz="33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(Recall+Precision 균형)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39200" y="8369300"/>
            <a:ext cx="5283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72500" y="4864100"/>
            <a:ext cx="6045200" cy="7391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72500" y="4038600"/>
            <a:ext cx="6032500" cy="14732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9766300" y="4318000"/>
            <a:ext cx="3708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42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2순위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67800" y="8509000"/>
            <a:ext cx="5626100" cy="198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 Recall만 보면 과잉경고 위험</a:t>
            </a:r>
          </a:p>
          <a:p>
            <a:pPr algn="l" lvl="1" marL="342900">
              <a:lnSpc>
                <a:spcPct val="116199"/>
              </a:lnSpc>
            </a:pPr>
            <a:r>
              <a:rPr lang="en-US" sz="274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ROC- AUC 함께 고려</a:t>
            </a:r>
          </a:p>
          <a:p>
            <a:pPr algn="l" lvl="0">
              <a:lnSpc>
                <a:spcPct val="116199"/>
              </a:lnSpc>
            </a:pPr>
            <a:r>
              <a:rPr lang="en-US" sz="274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74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 전체적인 분류 성능을 종합 평가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4300" y="2463800"/>
            <a:ext cx="21628100" cy="863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220200" y="6146800"/>
            <a:ext cx="4800600" cy="124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8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ROC-AUC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91600" y="8115300"/>
            <a:ext cx="5283200" cy="76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498600" y="2590800"/>
            <a:ext cx="93599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9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낙상 위험군을 선별</a:t>
            </a:r>
            <a:r>
              <a:rPr lang="en-US" sz="3279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하기 위한 모델 선정 지표 우선순위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56000" y="4572000"/>
            <a:ext cx="3708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42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2순위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659100" y="9029700"/>
            <a:ext cx="56134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Recall만 보면 과잉경고 위험</a:t>
            </a:r>
          </a:p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35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Precision도 함께 고려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87700" y="6108700"/>
            <a:ext cx="48133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F1-Score</a:t>
            </a:r>
          </a:p>
          <a:p>
            <a:pPr algn="l" lvl="0">
              <a:lnSpc>
                <a:spcPct val="116199"/>
              </a:lnSpc>
            </a:pPr>
            <a:r>
              <a:rPr lang="en-US" sz="334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(Recall+Precision 균형)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519400" y="8343900"/>
            <a:ext cx="5283200" cy="76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52700" y="4851400"/>
            <a:ext cx="6045200" cy="7391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265400" y="4025900"/>
            <a:ext cx="6032500" cy="14732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6446500" y="4305300"/>
            <a:ext cx="37084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942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3순위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760700" y="8597900"/>
            <a:ext cx="52959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  반복별 auc의 표준편차가 
   작을수록 안정적</a:t>
            </a:r>
          </a:p>
          <a:p>
            <a:pPr algn="l" lvl="1" marL="342900">
              <a:lnSpc>
                <a:spcPct val="116199"/>
              </a:lnSpc>
            </a:pPr>
            <a:r>
              <a:rPr lang="en-US" sz="2746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100회 반복 AUC 변동 비교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328900" y="5638800"/>
            <a:ext cx="6045200" cy="245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8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반복별 AUC의 표준편차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671800" y="8089900"/>
            <a:ext cx="5283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4300" y="2362200"/>
            <a:ext cx="21920200" cy="1244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01800" y="2463800"/>
            <a:ext cx="215138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274" b="false" i="false" u="none" strike="noStrike">
                <a:solidFill>
                  <a:srgbClr val="FFFFF0"/>
                </a:solidFill>
                <a:latin typeface="Pretendard Regular"/>
                <a:ea typeface="Pretendard Regular"/>
                <a:cs typeface="Pretendard Regular"/>
              </a:rPr>
              <a:t>대상자 단위 </a:t>
            </a:r>
            <a:r>
              <a:rPr lang="en-US" sz="32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Stratified 5-Fold CV(100회)</a:t>
            </a:r>
            <a:r>
              <a:rPr lang="en-US" sz="3274" b="false" i="false" u="none" strike="noStrike">
                <a:solidFill>
                  <a:srgbClr val="FFFFF0"/>
                </a:solidFill>
                <a:latin typeface="Pretendard Regular"/>
                <a:ea typeface="Pretendard Regular"/>
                <a:cs typeface="Pretendard Regular"/>
              </a:rPr>
              <a:t>를 적용하여 6개 후보 모델을 동일한 대상자 분할과 평가지표로 비교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9500" y="1879600"/>
            <a:ext cx="749300" cy="139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76400" y="14605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  설계 및 개발 _ 낙상위험군 선별 모델 설계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4737100" y="3949700"/>
          <a:ext cx="14516100" cy="4953000"/>
        </p:xfrm>
        <a:graphic>
          <a:graphicData uri="http://schemas.openxmlformats.org/drawingml/2006/table">
            <a:tbl>
              <a:tblPr/>
              <a:tblGrid>
                <a:gridCol w="7239000"/>
                <a:gridCol w="7239000"/>
              </a:tblGrid>
              <a:tr h="7359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머신러닝 후보</a:t>
                      </a:r>
                      <a:endParaRPr lang="en-US" sz="1100"/>
                    </a:p>
                  </a:txBody>
                  <a:tcPr anchor="t" marL="25400" marT="97582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딥러닝 후보</a:t>
                      </a:r>
                      <a:endParaRPr lang="en-US" sz="1100"/>
                    </a:p>
                  </a:txBody>
                  <a:tcPr anchor="t" marL="25400" marT="97582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</a:tr>
              <a:tr h="2898950"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Logistic Regression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Support Vector Machine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Random Forest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XGBoost</a:t>
                      </a:r>
                    </a:p>
                  </a:txBody>
                  <a:tcPr anchor="t" marL="88900" marT="199182" marR="88900" marB="1270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1D CNN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LSTM</a:t>
                      </a:r>
                    </a:p>
                  </a:txBody>
                  <a:tcPr anchor="t" marL="88900" marT="199182" marR="88900" marB="1270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7667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대상자별 </a:t>
                      </a:r>
                      <a:r>
                        <a:rPr lang="en-US" sz="3853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파생 변수 특성</a:t>
                      </a: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기반 분류</a:t>
                      </a:r>
                      <a:endParaRPr lang="en-US" sz="1100"/>
                    </a:p>
                  </a:txBody>
                  <a:tcPr anchor="t" marL="139700" marT="97582" marR="1397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853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시계열 패턴</a:t>
                      </a:r>
                      <a:r>
                        <a:rPr lang="en-US" sz="385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학습 비교 </a:t>
                      </a:r>
                      <a:endParaRPr lang="en-US" sz="1100"/>
                    </a:p>
                  </a:txBody>
                  <a:tcPr anchor="t" marL="139700" marT="97582" marR="1397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0900" y="10375900"/>
            <a:ext cx="22453600" cy="2730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" y="10579100"/>
            <a:ext cx="4914900" cy="2235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19200" y="10744200"/>
            <a:ext cx="5054600" cy="191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71명을 정상·위험군 비율 유지한 대상자 단위 5개 fold 분할 → </a:t>
            </a:r>
            <a:r>
              <a:rPr lang="en-US" sz="35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데이터 누수 방지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alphaModFix amt="62000"/>
          </a:blip>
          <a:stretch>
            <a:fillRect/>
          </a:stretch>
        </p:blipFill>
        <p:spPr>
          <a:xfrm rot="0">
            <a:off x="17310100" y="9258300"/>
            <a:ext cx="5892800" cy="850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19000"/>
          </a:blip>
          <a:stretch>
            <a:fillRect/>
          </a:stretch>
        </p:blipFill>
        <p:spPr>
          <a:xfrm rot="0">
            <a:off x="850900" y="9271000"/>
            <a:ext cx="5880100" cy="838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 rot="0">
            <a:off x="6375400" y="9271000"/>
            <a:ext cx="5740400" cy="838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46000"/>
          </a:blip>
          <a:stretch>
            <a:fillRect/>
          </a:stretch>
        </p:blipFill>
        <p:spPr>
          <a:xfrm rot="0">
            <a:off x="11747500" y="9271000"/>
            <a:ext cx="5880100" cy="8382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92300" y="9423400"/>
            <a:ext cx="3810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6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1. 검증 데이터 분할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99300" y="9423400"/>
            <a:ext cx="4330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2. 모델 학습·평가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21300" y="9423400"/>
            <a:ext cx="40640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4. 최종 모델 선정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36400" y="9448800"/>
            <a:ext cx="51562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1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3. 반복 교차검증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743700" y="10579100"/>
            <a:ext cx="4914900" cy="22352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6807200" y="10744200"/>
            <a:ext cx="5054600" cy="191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4개 fold 학습, 남은 1개 fold에서 성능 평가, 평가 fold를 교체하여 5회 수행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68200" y="10579100"/>
            <a:ext cx="4914900" cy="2235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2268200" y="10744200"/>
            <a:ext cx="5130800" cy="191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 다른 분할로 총 100회 반복 → </a:t>
            </a:r>
            <a:r>
              <a:rPr lang="en-US" sz="35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데이터 분할에 따른 성능 편차 최소화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792700" y="10579100"/>
            <a:ext cx="4914900" cy="22352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7957800" y="11049000"/>
            <a:ext cx="47879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평가지표 순위 기반 최종 모델 선정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84300" y="2362200"/>
            <a:ext cx="21412200" cy="863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4800" y="3797300"/>
            <a:ext cx="16802100" cy="1014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3771900"/>
            <a:ext cx="4089400" cy="9982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97400" y="3797300"/>
            <a:ext cx="7023100" cy="9893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17500" y="3187700"/>
            <a:ext cx="20320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[머신러닝]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38700" y="3136900"/>
            <a:ext cx="16383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[딥러닝]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1300" y="2501900"/>
            <a:ext cx="21437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데이터의 특성 고려하여 모델을 비교했을때 </a:t>
            </a:r>
            <a:r>
              <a:rPr lang="en-US" sz="3008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낙상위험군 선별에 중요</a:t>
            </a:r>
            <a:r>
              <a:rPr lang="en-US" sz="3008" b="fals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한</a:t>
            </a:r>
            <a:r>
              <a:rPr lang="en-US" sz="3008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Recall값, AUC값이 높고 std 낮은</a:t>
            </a:r>
            <a:r>
              <a:rPr lang="en-US" sz="3008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3008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Logistic Regression 모델 채택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930400" y="7112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4300" y="7112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079500" y="1879600"/>
            <a:ext cx="749300" cy="139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676400" y="14605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 성능 개선, 평가 및 검증_ 낙상 위험군 선별 모델 비교 및 선정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신체 기능 평가 모델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76400" y="1638300"/>
            <a:ext cx="225298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모델 성능 개선, 평가 및 검증_최종 모델 하이퍼파라미터 최적화 검증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2565400"/>
            <a:ext cx="21412200" cy="133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11300" y="2667000"/>
            <a:ext cx="214376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8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민감도 ≥ 0.8 </a:t>
            </a:r>
            <a:r>
              <a:rPr lang="en-US" sz="3008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조건에서 </a:t>
            </a:r>
            <a:r>
              <a:rPr lang="en-US" sz="3008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특이도 최대화 </a:t>
            </a:r>
            <a:r>
              <a:rPr lang="en-US" sz="3008" b="true" i="false" u="none" strike="noStrike">
                <a:solidFill>
                  <a:srgbClr val="FEFFFE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3008" b="false" i="false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조건으로 Optuna 최적 하이퍼파라미터 탐색 </a:t>
            </a:r>
          </a:p>
          <a:p>
            <a:pPr algn="l" lvl="0">
              <a:lnSpc>
                <a:spcPct val="116199"/>
              </a:lnSpc>
            </a:pPr>
            <a:r>
              <a:rPr lang="en-US" sz="3008" b="false" i="false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optuna 결과 현행 LR값 유지하는게 fold마다</a:t>
            </a:r>
            <a:r>
              <a:rPr lang="en-US" sz="3008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 AUC 갭이 더 안정적이고 성능이 더욱 높음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609600" y="5397500"/>
          <a:ext cx="12255500" cy="6350000"/>
        </p:xfrm>
        <a:graphic>
          <a:graphicData uri="http://schemas.openxmlformats.org/drawingml/2006/table">
            <a:tbl>
              <a:tblPr/>
              <a:tblGrid>
                <a:gridCol w="2630860"/>
                <a:gridCol w="4782012"/>
                <a:gridCol w="4782012"/>
              </a:tblGrid>
              <a:tr h="146004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733" b="true" i="false" u="none" strike="noStrike">
                          <a:solidFill>
                            <a:srgbClr val="515151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/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74" b="true" i="false" u="none" strike="noStrike">
                          <a:solidFill>
                            <a:srgbClr val="FFFFFF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튜닝전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D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674" b="true" i="false" u="none" strike="noStrike">
                          <a:solidFill>
                            <a:srgbClr val="FFFFFF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튜닝후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D86"/>
                    </a:solidFill>
                  </a:tcPr>
                </a:tc>
              </a:tr>
              <a:tr h="9484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333333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Recall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true" i="false" u="none" strike="noStrike">
                          <a:solidFill>
                            <a:srgbClr val="FE7A50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0.835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0.8158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875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333333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AUC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0.8729 ± 0.0071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0.8330 ± 0.0339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095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333333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F1-score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0.817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0.7975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35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333333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Accuracy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0.7825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0.7662</a:t>
                      </a:r>
                      <a:endParaRPr lang="en-US" sz="1100"/>
                    </a:p>
                  </a:txBody>
                  <a:tcPr anchor="ctr" marL="25400" marT="25400" marR="25400" marB="25400">
                    <a:lnL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65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133" b="true" i="false" u="none" strike="noStrike">
                          <a:solidFill>
                            <a:srgbClr val="333333"/>
                          </a:solidFill>
                          <a:latin typeface="NanumSquare Bold"/>
                          <a:ea typeface="NanumSquare Bold"/>
                          <a:cs typeface="NanumSquare Bold"/>
                        </a:rPr>
                        <a:t>Specificity</a:t>
                      </a:r>
                      <a:endParaRPr lang="en-US" sz="1100"/>
                    </a:p>
                  </a:txBody>
                  <a:tcPr anchor="ctr" marL="25400" marT="25400" marR="25400" marB="254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C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515151"/>
                          </a:solidFill>
                          <a:latin typeface="NanumSquare Regular"/>
                          <a:ea typeface="NanumSquare Regular"/>
                          <a:cs typeface="NanumSquare Regular"/>
                        </a:rPr>
                        <a:t>0.731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800" b="false" i="false" u="none" strike="noStrike">
                          <a:solidFill>
                            <a:srgbClr val="FE7A50"/>
                          </a:solidFill>
                          <a:latin typeface="NanumSquare ExtraBold"/>
                          <a:ea typeface="NanumSquare ExtraBold"/>
                          <a:cs typeface="NanumSquare ExtraBold"/>
                        </a:rPr>
                        <a:t>0.7023</a:t>
                      </a:r>
                      <a:endParaRPr lang="en-US" sz="1100"/>
                    </a:p>
                  </a:txBody>
                  <a:tcPr anchor="ctr" marL="25400" marT="25400" marR="25400" marB="25400">
                    <a:lnL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 algn="ctr" cap="flat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52500" y="5295900"/>
            <a:ext cx="100838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482600"/>
            <a:ext cx="23279100" cy="127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116800" y="9994900"/>
            <a:ext cx="2997200" cy="257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57400" y="3543300"/>
            <a:ext cx="17640300" cy="18034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7DB249"/>
                </a:solidFill>
                <a:latin typeface="Pretendard ExtraBold"/>
                <a:ea typeface="Pretendard ExtraBold"/>
                <a:cs typeface="Pretendard ExtraBold"/>
              </a:rPr>
              <a:t>3. </a:t>
            </a:r>
            <a:r>
              <a:rPr lang="en-US" sz="1000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인지 기능 평가 디지털 구현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08400" y="6375400"/>
            <a:ext cx="368300" cy="368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267200" y="6235700"/>
            <a:ext cx="9423400" cy="6223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329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몬트리올 인지 평가지(MoCA) 디지털화 도입 전후 비교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08400" y="7048500"/>
            <a:ext cx="368300" cy="368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267200" y="6908800"/>
            <a:ext cx="8051800" cy="6223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329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인지평가 설문지 디지털(자동화) 아키텍처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08400" y="5664200"/>
            <a:ext cx="368300" cy="368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279900" y="5524500"/>
            <a:ext cx="7632700" cy="6223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329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인지 기능 평가 _ 몬트리올 인지 평가 기반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08400" y="7721600"/>
            <a:ext cx="368300" cy="368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267200" y="7569200"/>
            <a:ext cx="8051800" cy="6223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329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기술 아키텍쳐_보행,인지,통합 솔루션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50800" y="4419600"/>
            <a:ext cx="10083800" cy="8229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1587500"/>
            <a:ext cx="749300" cy="139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63700" y="11684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2가지 AI 모델 구성도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98700" y="4800600"/>
            <a:ext cx="8788400" cy="5041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96900" y="4800600"/>
            <a:ext cx="8788400" cy="5041900"/>
          </a:xfrm>
          <a:prstGeom prst="rect">
            <a:avLst/>
          </a:prstGeom>
          <a:effectLst>
            <a:outerShdw dir="2700000" dist="1008380" blurRad="201676">
              <a:srgbClr val="000000">
                <a:alpha val="50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3390900" y="5080000"/>
            <a:ext cx="6413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7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① 신체 기능 평가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89100" y="5080000"/>
            <a:ext cx="6413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7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② 인지 기능 평가 AI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26700" y="3213100"/>
            <a:ext cx="3822700" cy="1498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785600" y="3263900"/>
            <a:ext cx="2108200" cy="1384300"/>
          </a:xfrm>
          <a:prstGeom prst="rect">
            <a:avLst/>
          </a:prstGeom>
        </p:spPr>
        <p:txBody>
          <a:bodyPr anchor="t" rtlCol="false" lIns="0" tIns="139052" rIns="0" bIns="0"/>
          <a:lstStyle/>
          <a:p>
            <a:pPr algn="ctr" lvl="0">
              <a:lnSpc>
                <a:spcPct val="74700"/>
              </a:lnSpc>
            </a:pPr>
            <a:r>
              <a:rPr lang="en-US" sz="43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사용자
</a:t>
            </a:r>
            <a:r>
              <a:rPr lang="en-US" sz="2912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(노인)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4300" y="1993900"/>
            <a:ext cx="21628100" cy="863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73200" y="2070100"/>
            <a:ext cx="207137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08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신체기능과 인지기능을 </a:t>
            </a:r>
            <a:r>
              <a:rPr lang="en-US" sz="3808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각각의 AI 모델로 독립평가</a:t>
            </a:r>
            <a:r>
              <a:rPr lang="en-US" sz="3808" b="false" i="false" u="none" strike="noStrike">
                <a:solidFill>
                  <a:srgbClr val="FEFFFE"/>
                </a:solidFill>
                <a:latin typeface="Pretendard Regular"/>
                <a:ea typeface="Pretendard Regular"/>
                <a:cs typeface="Pretendard Regular"/>
              </a:rPr>
              <a:t> 한 후 통합 분석을 수행합니다. 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28900" y="6070600"/>
            <a:ext cx="8128000" cy="2501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677900" y="6070600"/>
            <a:ext cx="8204200" cy="2540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048000" y="8890000"/>
            <a:ext cx="7137400" cy="723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124200" y="8940800"/>
            <a:ext cx="69850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신체 기능 점수 및 낙상 위험도 산출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11300" y="8890000"/>
            <a:ext cx="7137400" cy="723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4287500" y="8940800"/>
            <a:ext cx="6985000" cy="635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인지 기능 점수 및 인지 저하 위험도 산출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883400" y="3975100"/>
            <a:ext cx="3568700" cy="914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211300" y="3975100"/>
            <a:ext cx="3225800" cy="914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706100" y="3073400"/>
            <a:ext cx="1193800" cy="1536700"/>
          </a:xfrm>
          <a:prstGeom prst="rect">
            <a:avLst/>
          </a:prstGeom>
          <a:effectLst>
            <a:outerShdw dir="2700000" dist="110197" blurRad="47752">
              <a:srgbClr val="000000">
                <a:alpha val="50000"/>
              </a:srgbClr>
            </a:outerShdw>
          </a:effectLst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673600" y="10452100"/>
            <a:ext cx="1943100" cy="1168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6083300" y="10236200"/>
            <a:ext cx="1041400" cy="88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565900" y="10452100"/>
            <a:ext cx="1943100" cy="1168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390900" y="10947400"/>
            <a:ext cx="3060700" cy="10033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3530600" y="11036300"/>
            <a:ext cx="28067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1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신체 정상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756400" y="10947400"/>
            <a:ext cx="3060700" cy="1003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6896100" y="11036300"/>
            <a:ext cx="28067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1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신체 저하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5849600" y="10452100"/>
            <a:ext cx="1955800" cy="1181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7284700" y="10261600"/>
            <a:ext cx="965200" cy="88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754600" y="10452100"/>
            <a:ext cx="1955800" cy="1181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566900" y="10947400"/>
            <a:ext cx="3073400" cy="1003300"/>
          </a:xfrm>
          <a:prstGeom prst="rect">
            <a:avLst/>
          </a:prstGeom>
          <a:effectLst>
            <a:outerShdw dir="2700000" dist="200660" blurRad="40132">
              <a:srgbClr val="000000">
                <a:alpha val="50000"/>
              </a:srgbClr>
            </a:outerShdw>
          </a:effectLst>
        </p:spPr>
      </p:pic>
      <p:sp>
        <p:nvSpPr>
          <p:cNvPr name="TextBox 33" id="33"/>
          <p:cNvSpPr txBox="true"/>
          <p:nvPr/>
        </p:nvSpPr>
        <p:spPr>
          <a:xfrm rot="0">
            <a:off x="14706600" y="11036300"/>
            <a:ext cx="2819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2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인지 정상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7945100" y="10947400"/>
            <a:ext cx="3073400" cy="1003300"/>
          </a:xfrm>
          <a:prstGeom prst="rect">
            <a:avLst/>
          </a:prstGeom>
          <a:effectLst>
            <a:outerShdw dir="2700000" dist="200660" blurRad="40132">
              <a:srgbClr val="000000">
                <a:alpha val="50000"/>
              </a:srgbClr>
            </a:outerShdw>
          </a:effectLst>
        </p:spPr>
      </p:pic>
      <p:sp>
        <p:nvSpPr>
          <p:cNvPr name="TextBox 35" id="35"/>
          <p:cNvSpPr txBox="true"/>
          <p:nvPr/>
        </p:nvSpPr>
        <p:spPr>
          <a:xfrm rot="0">
            <a:off x="18084800" y="11036300"/>
            <a:ext cx="2819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4429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인지 저하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981700" y="9880600"/>
            <a:ext cx="1168400" cy="11684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7208500" y="9906000"/>
            <a:ext cx="1168400" cy="1168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6515100" y="11734800"/>
            <a:ext cx="3568700" cy="9144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490700" y="11734800"/>
            <a:ext cx="3314700" cy="914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0121900" y="11671300"/>
            <a:ext cx="4406900" cy="14986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10426700" y="11760200"/>
            <a:ext cx="3797300" cy="1308100"/>
          </a:xfrm>
          <a:prstGeom prst="rect">
            <a:avLst/>
          </a:prstGeom>
        </p:spPr>
        <p:txBody>
          <a:bodyPr anchor="t" rtlCol="false" lIns="0" tIns="139052" rIns="0" bIns="0"/>
          <a:lstStyle/>
          <a:p>
            <a:pPr algn="ctr" lvl="0">
              <a:lnSpc>
                <a:spcPct val="74700"/>
              </a:lnSpc>
            </a:pPr>
            <a:r>
              <a:rPr lang="en-US" sz="437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A/B/C/D
유형 분류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370300" y="7531100"/>
            <a:ext cx="2705100" cy="10160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6649700" y="7658100"/>
            <a:ext cx="2159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5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문항별 자동 채점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675100" y="8102600"/>
            <a:ext cx="21082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영역별 점수 산출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98600" y="8216900"/>
            <a:ext cx="9893300" cy="269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645900" y="2336800"/>
            <a:ext cx="10464800" cy="10464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049500" y="6477000"/>
            <a:ext cx="40513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837" b="false" i="false" u="none" strike="noStrike">
                <a:solidFill>
                  <a:srgbClr val="456E2A"/>
                </a:solidFill>
                <a:latin typeface="Pretendard Bold"/>
                <a:ea typeface="Pretendard Bold"/>
                <a:cs typeface="Pretendard Bold"/>
              </a:rPr>
              <a:t>MoCA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기능 평가 디지털 구현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7DB249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69600" y="889000"/>
            <a:ext cx="3543300" cy="228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596100" y="10541000"/>
            <a:ext cx="4330700" cy="2705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0129500" y="10820400"/>
            <a:ext cx="23241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155" b="true" i="false" u="none" strike="noStrike">
                <a:solidFill>
                  <a:srgbClr val="2E3D86"/>
                </a:solidFill>
                <a:latin typeface="Pretendard Regular"/>
                <a:ea typeface="Pretendard Regular"/>
                <a:cs typeface="Pretendard Regular"/>
              </a:rPr>
              <a:t>총점 30점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1000" y="6032500"/>
            <a:ext cx="9690100" cy="1460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30" b="tru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: 경도인지장애(MCI)를 조기에 선별</a:t>
            </a:r>
            <a:r>
              <a:rPr lang="en-US" sz="40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하기 위한</a:t>
            </a:r>
          </a:p>
          <a:p>
            <a:pPr algn="l" lvl="0">
              <a:lnSpc>
                <a:spcPct val="116199"/>
              </a:lnSpc>
            </a:pPr>
            <a:r>
              <a:rPr lang="en-US" sz="40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대표 인지평가 도구</a:t>
            </a:r>
            <a:r>
              <a:rPr lang="en-US" sz="403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62800" y="11696700"/>
            <a:ext cx="3835400" cy="115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5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23점 이상 ｜</a:t>
            </a:r>
            <a:r>
              <a:rPr lang="en-US" sz="3155" b="false" i="false" u="none" strike="noStrike">
                <a:solidFill>
                  <a:srgbClr val="01C576"/>
                </a:solidFill>
                <a:latin typeface="Pretendard Regular"/>
                <a:ea typeface="Pretendard Regular"/>
                <a:cs typeface="Pretendard Regular"/>
              </a:rPr>
              <a:t>정상</a:t>
            </a:r>
          </a:p>
          <a:p>
            <a:pPr algn="l" lvl="0">
              <a:lnSpc>
                <a:spcPct val="116199"/>
              </a:lnSpc>
            </a:pPr>
            <a:r>
              <a:rPr lang="en-US" sz="315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23점 미만 ｜</a:t>
            </a:r>
            <a:r>
              <a:rPr lang="en-US" sz="3155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MCI 의심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인지 기능 평가 _ 몬트리올 인지 평가 (MoCA) 기반</a:t>
            </a:r>
          </a:p>
        </p:txBody>
      </p:sp>
      <p:sp>
        <p:nvSpPr>
          <p:cNvPr name="TextBox 15" id="15"/>
          <p:cNvSpPr txBox="true"/>
          <p:nvPr/>
        </p:nvSpPr>
        <p:spPr>
          <a:xfrm rot="42514">
            <a:off x="787400" y="12992100"/>
            <a:ext cx="61722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*MoCA: Montreal Cognitive Assessment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8600" y="4279900"/>
            <a:ext cx="114427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837" b="false" i="false" u="none" strike="noStrike">
                <a:solidFill>
                  <a:srgbClr val="456E2A"/>
                </a:solidFill>
                <a:latin typeface="Pretendard Bold"/>
                <a:ea typeface="Pretendard Bold"/>
                <a:cs typeface="Pretendard Bold"/>
              </a:rPr>
              <a:t>몬트리올 인지 평가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1800" y="8445500"/>
            <a:ext cx="94234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①</a:t>
            </a:r>
            <a:r>
              <a:rPr lang="en-US" sz="39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941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경도인지장애 조기 선별에 83% 높은 민감도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②</a:t>
            </a:r>
            <a:r>
              <a:rPr lang="en-US" sz="3941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 7가지 인지기능 종합 평가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③</a:t>
            </a:r>
            <a:r>
              <a:rPr lang="en-US" sz="39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임상에서 검증된 평가도구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100" y="7645400"/>
            <a:ext cx="25654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[선정 이유]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82300" y="13246100"/>
            <a:ext cx="131445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590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[출처: Montreal Cognitive Assessment (MoCA) Scale: Strengths, Limitations, and Implication for Clinical Practice (Hadinezhad &amp; Noroozian, 2026]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78800" y="10515600"/>
            <a:ext cx="3251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4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MCI 민감도 83%, 치매 민감도 94%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33900" y="4064000"/>
            <a:ext cx="8001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(5점)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81900" y="5854700"/>
            <a:ext cx="6096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5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(3점)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74000" y="9055100"/>
            <a:ext cx="5334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4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(6점)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973800" y="11214100"/>
            <a:ext cx="711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(3점)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73400" y="11391900"/>
            <a:ext cx="5842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(2점)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55700" y="9067800"/>
            <a:ext cx="508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8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(5점)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87500" y="5854700"/>
            <a:ext cx="685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99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(6점)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983200" y="2984500"/>
            <a:ext cx="5562600" cy="798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57800" y="9613900"/>
            <a:ext cx="5575300" cy="1739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57100" y="9601200"/>
            <a:ext cx="5575300" cy="1752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02400" y="9601200"/>
            <a:ext cx="55753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9652000"/>
            <a:ext cx="4787900" cy="1714500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79500" y="4165600"/>
          <a:ext cx="5067300" cy="1549400"/>
        </p:xfrm>
        <a:graphic>
          <a:graphicData uri="http://schemas.openxmlformats.org/drawingml/2006/table">
            <a:tbl>
              <a:tblPr/>
              <a:tblGrid>
                <a:gridCol w="1726622"/>
                <a:gridCol w="3240436"/>
              </a:tblGrid>
              <a:tr h="145285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길 만들기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476" b="true" i="false" u="none" strike="noStrike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선의 좌표를 기록</a:t>
                      </a:r>
                      <a:r>
                        <a:rPr lang="en-US" sz="24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하여 
연결 순서 분석</a:t>
                      </a:r>
                      <a:endParaRPr lang="en-US" sz="1100"/>
                    </a:p>
                  </a:txBody>
                  <a:tcPr anchor="t" marL="114300" marT="71796" marR="114300" marB="25400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743700" y="4165600"/>
          <a:ext cx="5067300" cy="12827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18169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true" i="false" u="none" strike="noStrike" spc="-2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이름 말하기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466" b="true" i="false" u="none" strike="noStrike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음성을 텍스트로 
변환</a:t>
                      </a:r>
                      <a:r>
                        <a:rPr lang="en-US" sz="246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하여 동물 이름 인식 후, </a:t>
                      </a:r>
                      <a:r>
                        <a:rPr lang="en-US" sz="2466" b="true" i="false" u="none" strike="noStrike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규칙 기반 점수 계산</a:t>
                      </a:r>
                      <a:endParaRPr lang="en-US" sz="1100"/>
                    </a:p>
                  </a:txBody>
                  <a:tcPr anchor="t" marL="88900" marT="71606" marR="88900" marB="254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2700" y="3098800"/>
            <a:ext cx="45974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10400" y="3098800"/>
            <a:ext cx="45339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674600" y="3098800"/>
            <a:ext cx="47625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389600" y="3098800"/>
            <a:ext cx="4762500" cy="952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155700" y="3162300"/>
            <a:ext cx="472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시공간 / 집행기능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51700" y="3200400"/>
            <a:ext cx="3860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어휘력 &amp; 주의력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14300" y="3200400"/>
            <a:ext cx="4432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언어능력 &amp; 추상력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97600" y="3200400"/>
            <a:ext cx="3733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기억력 &amp;지남력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7300" y="9855200"/>
            <a:ext cx="45720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HTML5 Canvas</a:t>
            </a: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좌표 저장)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OpenCV</a:t>
            </a:r>
            <a:r>
              <a:rPr lang="en-US" sz="22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이미지 형태 및 특징 분석)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0" y="8953500"/>
            <a:ext cx="5626100" cy="313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STT</a:t>
            </a:r>
            <a:r>
              <a:rPr lang="en-US" sz="2233" b="fals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(음성을 텍스트로 변환)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Fuzzy Matching 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(유사 문자열 비교)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Rule-based Scoring</a:t>
            </a:r>
            <a:r>
              <a:rPr lang="en-US" sz="223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(규칙 정답 판정)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HTML5 Canvas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77800" y="9893300"/>
            <a:ext cx="41783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STT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Fuzzy Matching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503900" y="9791700"/>
            <a:ext cx="47625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STT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Regex 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(패턴 기반 문자 검색)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Fuzzy Matching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15200" y="2146300"/>
            <a:ext cx="1282700" cy="647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0154900" y="2108200"/>
            <a:ext cx="1828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터치  ,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1602700" y="2146300"/>
            <a:ext cx="1282700" cy="6477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1640800" y="2108200"/>
            <a:ext cx="1257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음성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24000" y="4305300"/>
            <a:ext cx="850900" cy="850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251700" y="4267200"/>
            <a:ext cx="736600" cy="749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기능 평가 디지털 구현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7DB249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인지평가 설문지 디지털(자동화) 아키텍처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6">
            <a:alphaModFix amt="92000"/>
          </a:blip>
          <a:stretch>
            <a:fillRect/>
          </a:stretch>
        </p:blipFill>
        <p:spPr>
          <a:xfrm rot="0">
            <a:off x="5994400" y="11811000"/>
            <a:ext cx="10629900" cy="17526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9766300" y="11899900"/>
            <a:ext cx="3429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6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중앙 점수 산출 및 분석 엔진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426200" y="12458700"/>
            <a:ext cx="4749800" cy="965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582400" y="12458700"/>
            <a:ext cx="4610100" cy="9652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7848600" y="12458700"/>
            <a:ext cx="23495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자동 점수 산출 및 결과 보고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79400" y="12458700"/>
            <a:ext cx="19431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보안 클라우드</a:t>
            </a:r>
          </a:p>
          <a:p>
            <a:pPr algn="ctr" lvl="0">
              <a:lnSpc>
                <a:spcPct val="116199"/>
              </a:lnSpc>
            </a:pPr>
            <a:r>
              <a:rPr lang="en-US" sz="26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저장소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9055100" y="11518900"/>
            <a:ext cx="254000" cy="546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8978900" y="11417300"/>
            <a:ext cx="393700" cy="3937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4782800" y="11468100"/>
            <a:ext cx="241300" cy="508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14719300" y="11353800"/>
            <a:ext cx="368300" cy="381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245100" y="12433300"/>
            <a:ext cx="279400" cy="596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060700" y="12585700"/>
            <a:ext cx="2336800" cy="330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5400000">
            <a:off x="2387600" y="11823700"/>
            <a:ext cx="1524000" cy="330200"/>
          </a:xfrm>
          <a:prstGeom prst="rect">
            <a:avLst/>
          </a:prstGeom>
        </p:spPr>
      </p:pic>
      <p:graphicFrame>
        <p:nvGraphicFramePr>
          <p:cNvPr name="Table 45" id="45"/>
          <p:cNvGraphicFramePr>
            <a:graphicFrameLocks noGrp="true"/>
          </p:cNvGraphicFramePr>
          <p:nvPr/>
        </p:nvGraphicFramePr>
        <p:xfrm>
          <a:off x="1155700" y="7658100"/>
          <a:ext cx="4991100" cy="1714500"/>
        </p:xfrm>
        <a:graphic>
          <a:graphicData uri="http://schemas.openxmlformats.org/drawingml/2006/table">
            <a:tbl>
              <a:tblPr/>
              <a:tblGrid>
                <a:gridCol w="1702490"/>
                <a:gridCol w="3195145"/>
              </a:tblGrid>
              <a:tr h="162419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 그리기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true" i="false" u="none" strike="noStrike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시계의 형태와 
숫자·바늘 배치 분석</a:t>
                      </a:r>
                      <a:endParaRPr lang="en-US" sz="1100"/>
                    </a:p>
                  </a:txBody>
                  <a:tcPr anchor="t" marL="114300" marT="74159" marR="114300" marB="25400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46" id="4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49400" y="7861300"/>
            <a:ext cx="977900" cy="889000"/>
          </a:xfrm>
          <a:prstGeom prst="rect">
            <a:avLst/>
          </a:prstGeom>
        </p:spPr>
      </p:pic>
      <p:graphicFrame>
        <p:nvGraphicFramePr>
          <p:cNvPr name="Table 47" id="47"/>
          <p:cNvGraphicFramePr>
            <a:graphicFrameLocks noGrp="true"/>
          </p:cNvGraphicFramePr>
          <p:nvPr/>
        </p:nvGraphicFramePr>
        <p:xfrm>
          <a:off x="1079500" y="5854700"/>
          <a:ext cx="5067300" cy="1663700"/>
        </p:xfrm>
        <a:graphic>
          <a:graphicData uri="http://schemas.openxmlformats.org/drawingml/2006/table">
            <a:tbl>
              <a:tblPr/>
              <a:tblGrid>
                <a:gridCol w="1783806"/>
                <a:gridCol w="3183253"/>
              </a:tblGrid>
              <a:tr h="157338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79679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도형 따라</a:t>
                      </a:r>
                      <a:endParaRPr lang="en-US" sz="1100"/>
                    </a:p>
                    <a:p>
                      <a:pPr algn="ctr" lvl="0">
                        <a:lnSpc>
                          <a:spcPct val="79679"/>
                        </a:lnSpc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그리기</a:t>
                      </a:r>
                    </a:p>
                  </a:txBody>
                  <a:tcPr anchor="b" marL="25400" marT="25400" marR="25400" marB="92455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기준 도형과 모양·비율 유사도를 비교</a:t>
                      </a:r>
                      <a:endParaRPr lang="en-US" sz="1100"/>
                    </a:p>
                  </a:txBody>
                  <a:tcPr anchor="t" marL="101600" marT="74159" marR="101600" marB="25400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48" id="4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98600" y="5892800"/>
            <a:ext cx="1028700" cy="8255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17335500" y="2108200"/>
            <a:ext cx="302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입력:</a:t>
            </a:r>
          </a:p>
        </p:txBody>
      </p: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6743700" y="5486400"/>
          <a:ext cx="5067300" cy="13335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24415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78020"/>
                        </a:lnSpc>
                        <a:defRPr/>
                      </a:pPr>
                      <a:r>
                        <a:rPr lang="en-US" sz="2133" b="true" i="false" u="none" strike="noStrike" spc="-2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숫자 순,역 말하기</a:t>
                      </a:r>
                      <a:endParaRPr lang="en-US" sz="1100"/>
                    </a:p>
                  </a:txBody>
                  <a:tcPr anchor="b" marL="25400" marT="25400" marR="25400" marB="87714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음성에서 숫자를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추출하여</a:t>
                      </a:r>
                      <a:r>
                        <a:rPr lang="en-US" sz="2602" b="false" i="false" u="none" strike="noStrike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602" b="true" i="false" u="none" strike="noStrike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정답과 유사도 비교</a:t>
                      </a:r>
                    </a:p>
                  </a:txBody>
                  <a:tcPr anchor="t" marL="101600" marT="74158" marR="101600" marB="254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1" id="51"/>
          <p:cNvGraphicFramePr>
            <a:graphicFrameLocks noGrp="true"/>
          </p:cNvGraphicFramePr>
          <p:nvPr/>
        </p:nvGraphicFramePr>
        <p:xfrm>
          <a:off x="6743700" y="6794500"/>
          <a:ext cx="5067300" cy="12827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19198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빼기 계산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숫자추출 후,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규칙 기반으로 채점</a:t>
                      </a:r>
                    </a:p>
                  </a:txBody>
                  <a:tcPr anchor="t" marL="101600" marT="74158" marR="101600" marB="254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2" id="52"/>
          <p:cNvGraphicFramePr>
            <a:graphicFrameLocks noGrp="true"/>
          </p:cNvGraphicFramePr>
          <p:nvPr/>
        </p:nvGraphicFramePr>
        <p:xfrm>
          <a:off x="6743700" y="8089900"/>
          <a:ext cx="5067300" cy="12827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19198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화면 터치 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터치 시작·이동·종료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감지하여 입력 처리</a:t>
                      </a:r>
                    </a:p>
                  </a:txBody>
                  <a:tcPr anchor="t" marL="101600" marT="74158" marR="101600" marB="25400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7289800" y="8229600"/>
            <a:ext cx="673100" cy="7112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010400" y="5511800"/>
            <a:ext cx="1346200" cy="7112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908800" y="6934200"/>
            <a:ext cx="1549400" cy="647700"/>
          </a:xfrm>
          <a:prstGeom prst="rect">
            <a:avLst/>
          </a:prstGeom>
        </p:spPr>
      </p:pic>
      <p:graphicFrame>
        <p:nvGraphicFramePr>
          <p:cNvPr name="Table 56" id="56"/>
          <p:cNvGraphicFramePr>
            <a:graphicFrameLocks noGrp="true"/>
          </p:cNvGraphicFramePr>
          <p:nvPr/>
        </p:nvGraphicFramePr>
        <p:xfrm>
          <a:off x="12522200" y="4191000"/>
          <a:ext cx="5067300" cy="17272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63225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79679"/>
                        </a:lnSpc>
                        <a:defRPr/>
                      </a:pPr>
                      <a:r>
                        <a:rPr lang="en-US" sz="2400" b="true" i="false" u="none" strike="noStrike" spc="-2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따라 말하기</a:t>
                      </a:r>
                      <a:endParaRPr lang="en-US" sz="1100"/>
                    </a:p>
                  </a:txBody>
                  <a:tcPr anchor="b" marL="25400" marT="25400" marR="25400" marB="92455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0" b="false" i="false" u="none" strike="noStrike" spc="-2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음성을 텍스트로 변환하여 </a:t>
                      </a:r>
                      <a:r>
                        <a:rPr lang="en-US" sz="2600" b="true" i="false" u="none" strike="noStrike" spc="-200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문장 일치 여부를 평가</a:t>
                      </a:r>
                      <a:endParaRPr lang="en-US" sz="1100"/>
                    </a:p>
                  </a:txBody>
                  <a:tcPr anchor="t" marL="101600" marT="74104" marR="101600" marB="254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7" id="57"/>
          <p:cNvGraphicFramePr>
            <a:graphicFrameLocks noGrp="true"/>
          </p:cNvGraphicFramePr>
          <p:nvPr/>
        </p:nvGraphicFramePr>
        <p:xfrm>
          <a:off x="12522200" y="5994400"/>
          <a:ext cx="5067300" cy="16637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56983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공통점 찾기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중복 단어를 제거후,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허용 단어 개수를 계산</a:t>
                      </a:r>
                    </a:p>
                  </a:txBody>
                  <a:tcPr anchor="t" marL="101600" marT="74158" marR="101600" marB="254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8" id="58"/>
          <p:cNvGraphicFramePr>
            <a:graphicFrameLocks noGrp="true"/>
          </p:cNvGraphicFramePr>
          <p:nvPr/>
        </p:nvGraphicFramePr>
        <p:xfrm>
          <a:off x="12522200" y="7734300"/>
          <a:ext cx="5067300" cy="16383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154129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단어 말하기</a:t>
                      </a:r>
                      <a:endParaRPr lang="en-US" sz="1100"/>
                    </a:p>
                  </a:txBody>
                  <a:tcPr anchor="b" marL="25400" marT="25400" marR="25400" marB="66665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 spc="-1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정답과 의미적 유사도를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602" b="false" i="false" u="none" strike="noStrike" spc="-1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비교하여 채점</a:t>
                      </a:r>
                    </a:p>
                  </a:txBody>
                  <a:tcPr anchor="t" marL="101600" marT="74158" marR="101600" marB="254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59" id="5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3068300" y="4292600"/>
            <a:ext cx="609600" cy="8128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2877800" y="6121400"/>
            <a:ext cx="990600" cy="990600"/>
          </a:xfrm>
          <a:prstGeom prst="rect">
            <a:avLst/>
          </a:prstGeom>
        </p:spPr>
      </p:pic>
      <p:graphicFrame>
        <p:nvGraphicFramePr>
          <p:cNvPr name="Table 61" id="61"/>
          <p:cNvGraphicFramePr>
            <a:graphicFrameLocks noGrp="true"/>
          </p:cNvGraphicFramePr>
          <p:nvPr/>
        </p:nvGraphicFramePr>
        <p:xfrm>
          <a:off x="18288000" y="4165600"/>
          <a:ext cx="5067300" cy="25019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240718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단어 기억 및 떠올리기</a:t>
                      </a:r>
                      <a:endParaRPr lang="en-US" sz="1100"/>
                    </a:p>
                  </a:txBody>
                  <a:tcPr anchor="b" marL="25400" marT="25400" marR="25400" marB="66800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466" b="false" i="false" u="none" strike="noStrike" spc="-1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입력 문장과 정답의 의미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466" b="false" i="false" u="none" strike="noStrike" spc="-1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유사도를 비교</a:t>
                      </a:r>
                    </a:p>
                  </a:txBody>
                  <a:tcPr anchor="ctr" marL="101600" marT="71606" marR="101600" marB="71606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2" id="62"/>
          <p:cNvGraphicFramePr>
            <a:graphicFrameLocks noGrp="true"/>
          </p:cNvGraphicFramePr>
          <p:nvPr/>
        </p:nvGraphicFramePr>
        <p:xfrm>
          <a:off x="18300700" y="6807200"/>
          <a:ext cx="5067300" cy="2565400"/>
        </p:xfrm>
        <a:graphic>
          <a:graphicData uri="http://schemas.openxmlformats.org/drawingml/2006/table">
            <a:tbl>
              <a:tblPr/>
              <a:tblGrid>
                <a:gridCol w="1684572"/>
                <a:gridCol w="3282486"/>
              </a:tblGrid>
              <a:tr h="246937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날짜와 장소</a:t>
                      </a:r>
                      <a:endParaRPr lang="en-US" sz="1100"/>
                    </a:p>
                  </a:txBody>
                  <a:tcPr anchor="b" marL="25400" marT="25400" marR="25400" marB="66665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 spc="-20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문장에서</a:t>
                      </a:r>
                      <a:r>
                        <a:rPr lang="en-US" sz="2602" b="true" i="false" u="none" strike="noStrike" spc="-200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날짜 및 장소를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602" b="true" i="false" u="none" strike="noStrike" spc="-200">
                          <a:solidFill>
                            <a:srgbClr val="AE3A1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추출하여 정답 검증</a:t>
                      </a:r>
                    </a:p>
                  </a:txBody>
                  <a:tcPr anchor="ctr" marL="114300" marT="74158" marR="114300" marB="74158">
                    <a:lnL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FC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63" id="6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8643600" y="4343400"/>
            <a:ext cx="1257300" cy="12573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542000" y="7239000"/>
            <a:ext cx="1219200" cy="12446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2877800" y="7747000"/>
            <a:ext cx="1104900" cy="11049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7081500" y="12509500"/>
            <a:ext cx="279400" cy="5969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7208500" y="12674600"/>
            <a:ext cx="2336800" cy="3302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16200000">
            <a:off x="18681700" y="11912600"/>
            <a:ext cx="15240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079500" y="12611100"/>
            <a:ext cx="26911300" cy="1460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49500" y="2603500"/>
            <a:ext cx="1358900" cy="685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43000" y="2603500"/>
            <a:ext cx="1346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41700" y="2603500"/>
            <a:ext cx="2247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터치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기능 평가 디지털 구현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7DB249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인지평가 설문지 디지털(자동화) 핵심 평가 알고리즘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64300" y="9017000"/>
            <a:ext cx="2387600" cy="203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8225415">
            <a:off x="7912100" y="7594600"/>
            <a:ext cx="3594100" cy="215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511071">
            <a:off x="10363200" y="6007100"/>
            <a:ext cx="635000" cy="546100"/>
          </a:xfrm>
          <a:prstGeom prst="rect">
            <a:avLst/>
          </a:prstGeom>
        </p:spPr>
      </p:pic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1049000" y="4064000"/>
          <a:ext cx="11760200" cy="5194300"/>
        </p:xfrm>
        <a:graphic>
          <a:graphicData uri="http://schemas.openxmlformats.org/drawingml/2006/table">
            <a:tbl>
              <a:tblPr/>
              <a:tblGrid>
                <a:gridCol w="2027244"/>
                <a:gridCol w="4373591"/>
                <a:gridCol w="5312130"/>
              </a:tblGrid>
              <a:tr h="739466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834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평가항목</a:t>
                      </a:r>
                      <a:endParaRPr lang="en-US" sz="1100"/>
                    </a:p>
                  </a:txBody>
                  <a:tcPr anchor="b" marL="25400" marT="25400" marR="25400" marB="97231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67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핵심 평가 알고리즘</a:t>
                      </a:r>
                      <a:endParaRPr lang="en-US" sz="1100"/>
                    </a:p>
                  </a:txBody>
                  <a:tcPr anchor="b" marL="25400" marT="25400" marR="25400" marB="92235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567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평가 기능</a:t>
                      </a:r>
                      <a:endParaRPr lang="en-US" sz="1100"/>
                    </a:p>
                  </a:txBody>
                  <a:tcPr anchor="b" marL="25400" marT="25400" marR="25400" marB="92235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5"/>
                    </a:solidFill>
                  </a:tcPr>
                </a:tc>
              </a:tr>
              <a:tr h="147181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윤곽</a:t>
                      </a:r>
                      <a:endParaRPr lang="en-US" sz="1100"/>
                    </a:p>
                  </a:txBody>
                  <a:tcPr anchor="b" marL="25400" marT="25400" marR="25400" marB="79289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4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Hough Circle transfrom</a:t>
                      </a:r>
                      <a:endParaRPr lang="en-US" sz="1100"/>
                    </a:p>
                  </a:txBody>
                  <a:tcPr anchor="t" marL="25400" marT="89279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410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원의 존재</a:t>
                      </a:r>
                      <a:r>
                        <a:rPr lang="en-US" sz="34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여부 및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34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중심 위치 확인</a:t>
                      </a:r>
                    </a:p>
                  </a:txBody>
                  <a:tcPr anchor="t" marL="25400" marT="89279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181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숫자</a:t>
                      </a:r>
                      <a:endParaRPr lang="en-US" sz="1100"/>
                    </a:p>
                  </a:txBody>
                  <a:tcPr anchor="b" marL="25400" marT="25400" marR="25400" marB="7915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4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Contour Detection</a:t>
                      </a:r>
                      <a:endParaRPr lang="en-US" sz="1100"/>
                    </a:p>
                  </a:txBody>
                  <a:tcPr anchor="t" marL="25400" marT="89144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4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숫자 개수, 위치, 순서 기준 확인</a:t>
                      </a:r>
                      <a:endParaRPr lang="en-US" sz="1100"/>
                    </a:p>
                  </a:txBody>
                  <a:tcPr anchor="t" marL="25400" marT="89144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181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86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바늘</a:t>
                      </a:r>
                      <a:endParaRPr lang="en-US" sz="1100"/>
                    </a:p>
                  </a:txBody>
                  <a:tcPr anchor="b" marL="25400" marT="25400" marR="25400" marB="7915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4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Hough Line Transform</a:t>
                      </a:r>
                      <a:endParaRPr lang="en-US" sz="1100"/>
                    </a:p>
                  </a:txBody>
                  <a:tcPr anchor="t" marL="25400" marT="89144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4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바늘 개수, 길이, 각도 기준 확인</a:t>
                      </a:r>
                      <a:endParaRPr lang="en-US" sz="1100"/>
                    </a:p>
                  </a:txBody>
                  <a:tcPr anchor="t" marL="25400" marT="89144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1900" y="10401300"/>
            <a:ext cx="4787900" cy="1397000"/>
          </a:xfrm>
          <a:prstGeom prst="rect">
            <a:avLst/>
          </a:prstGeom>
        </p:spPr>
      </p:pic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1219200" y="4914900"/>
          <a:ext cx="5067300" cy="1549400"/>
        </p:xfrm>
        <a:graphic>
          <a:graphicData uri="http://schemas.openxmlformats.org/drawingml/2006/table">
            <a:tbl>
              <a:tblPr/>
              <a:tblGrid>
                <a:gridCol w="1726622"/>
                <a:gridCol w="3240436"/>
              </a:tblGrid>
              <a:tr h="145285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길 만들기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4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선의 좌표를 기록하여 
연결 순서 분석</a:t>
                      </a:r>
                      <a:endParaRPr lang="en-US" sz="1100"/>
                    </a:p>
                  </a:txBody>
                  <a:tcPr anchor="t" marL="114300" marT="71796" marR="114300" marB="25400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3848100"/>
            <a:ext cx="4597400" cy="952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95400" y="3911600"/>
            <a:ext cx="472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2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시공간 / 집행기능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7000" y="10604500"/>
            <a:ext cx="45720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HTML5 Canvas </a:t>
            </a:r>
            <a:r>
              <a:rPr lang="en-US" sz="22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좌표 저장)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OpenCV</a:t>
            </a:r>
            <a:r>
              <a:rPr lang="en-US" sz="223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2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이미지 형태 및 특징 분석)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63700" y="5054600"/>
            <a:ext cx="850900" cy="850900"/>
          </a:xfrm>
          <a:prstGeom prst="rect">
            <a:avLst/>
          </a:prstGeom>
        </p:spPr>
      </p:pic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1295400" y="8407400"/>
          <a:ext cx="4991100" cy="1714500"/>
        </p:xfrm>
        <a:graphic>
          <a:graphicData uri="http://schemas.openxmlformats.org/drawingml/2006/table">
            <a:tbl>
              <a:tblPr/>
              <a:tblGrid>
                <a:gridCol w="1702490"/>
                <a:gridCol w="3195145"/>
              </a:tblGrid>
              <a:tr h="162419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 그리기</a:t>
                      </a:r>
                      <a:endParaRPr lang="en-US" sz="1100"/>
                    </a:p>
                  </a:txBody>
                  <a:tcPr anchor="b" marL="25400" marT="25400" marR="25400" marB="70357">
                    <a:lnL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시계의 형태와 
숫자·바늘 배치 분석</a:t>
                      </a:r>
                      <a:endParaRPr lang="en-US" sz="1100"/>
                    </a:p>
                  </a:txBody>
                  <a:tcPr anchor="t" marL="114300" marT="74159" marR="114300" marB="25400">
                    <a:lnL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FC5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89100" y="8610600"/>
            <a:ext cx="977900" cy="889000"/>
          </a:xfrm>
          <a:prstGeom prst="rect">
            <a:avLst/>
          </a:prstGeom>
        </p:spPr>
      </p:pic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219200" y="6604000"/>
          <a:ext cx="5067300" cy="1663700"/>
        </p:xfrm>
        <a:graphic>
          <a:graphicData uri="http://schemas.openxmlformats.org/drawingml/2006/table">
            <a:tbl>
              <a:tblPr/>
              <a:tblGrid>
                <a:gridCol w="1783806"/>
                <a:gridCol w="3183253"/>
              </a:tblGrid>
              <a:tr h="1573385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79679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정육면체 </a:t>
                      </a:r>
                      <a:endParaRPr lang="en-US" sz="1100"/>
                    </a:p>
                    <a:p>
                      <a:pPr algn="ctr" lvl="0">
                        <a:lnSpc>
                          <a:spcPct val="79679"/>
                        </a:lnSpc>
                      </a:pPr>
                      <a:r>
                        <a:rPr lang="en-US" sz="240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그리기</a:t>
                      </a:r>
                    </a:p>
                  </a:txBody>
                  <a:tcPr anchor="b" marL="25400" marT="25400" marR="25400" marB="92455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기준 도형과 모양·비율 유사도를 비교</a:t>
                      </a:r>
                      <a:endParaRPr lang="en-US" sz="1100"/>
                    </a:p>
                  </a:txBody>
                  <a:tcPr anchor="t" marL="101600" marT="74159" marR="101600" marB="25400">
                    <a:lnL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0" cmpd="sng" algn="ctr" cap="flat">
                      <a:solidFill>
                        <a:srgbClr val="AFD4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38300" y="6642100"/>
            <a:ext cx="1028700" cy="8255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47700" y="12712700"/>
            <a:ext cx="18618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55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디지털화한 시계그림</a:t>
            </a:r>
            <a:r>
              <a:rPr lang="en-US" sz="225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자동채점한 결과,  원과 숫자와 바늘 판별에서 </a:t>
            </a:r>
            <a:r>
              <a:rPr lang="en-US" sz="2255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약  92.2%의 정확도를 보임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07800" y="4838700"/>
            <a:ext cx="1003300" cy="1003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531600" y="6642100"/>
            <a:ext cx="381000" cy="381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319000" y="6654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938000" y="6997700"/>
            <a:ext cx="381000" cy="381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899900" y="6350000"/>
            <a:ext cx="342900" cy="342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014200" y="6350000"/>
            <a:ext cx="342900" cy="3429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1023600" y="13119100"/>
            <a:ext cx="12319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23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[출처:Explainable automated evaluation of the clock drawing task for memory impairment screening]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014200" y="7874000"/>
            <a:ext cx="254000" cy="774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2268200" y="8128000"/>
            <a:ext cx="254000" cy="774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60622">
            <a:off x="12039600" y="8140700"/>
            <a:ext cx="558800" cy="2159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1813087">
            <a:off x="12052300" y="8191500"/>
            <a:ext cx="7239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079500" y="12611100"/>
            <a:ext cx="26911300" cy="1460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70300" y="12674600"/>
            <a:ext cx="10033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92300" y="3695700"/>
            <a:ext cx="20789900" cy="8331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405600" y="5930900"/>
            <a:ext cx="1130300" cy="635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618200" y="4483100"/>
            <a:ext cx="1993900" cy="1193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0" y="6337300"/>
            <a:ext cx="2235200" cy="138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3801808">
            <a:off x="19558000" y="5626100"/>
            <a:ext cx="419100" cy="27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3801808">
            <a:off x="19951700" y="6578600"/>
            <a:ext cx="419100" cy="279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864100" y="12814300"/>
            <a:ext cx="157226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문항을 화면으로 단순히 옮긴 것이 아니라, 문항 분석부터 평가 과정을 데이터화 함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기능 평가 디지털 구현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95C53D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몬트리올 인지 평가지(MoCA) 디지털화 도입 전후 비교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84300" y="2476500"/>
            <a:ext cx="21412200" cy="863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498600" y="2628900"/>
            <a:ext cx="21437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8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기존 종이 검사의 한계를 개선</a:t>
            </a:r>
            <a:r>
              <a:rPr lang="en-US" sz="3008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하여</a:t>
            </a:r>
            <a:r>
              <a:rPr lang="en-US" sz="3008" b="false" i="false" u="none" strike="noStrike">
                <a:solidFill>
                  <a:srgbClr val="AE3A1E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008" b="false" i="false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자가검사부터 자동 채점</a:t>
            </a:r>
            <a:r>
              <a:rPr lang="en-US" sz="3008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까지 가능한 디지털 인지평가를 구현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0375900" y="-660400"/>
            <a:ext cx="4318000" cy="212725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006600" y="12179300"/>
            <a:ext cx="17056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 디지털화 MoCA는 종이 MoCA와 </a:t>
            </a:r>
            <a:r>
              <a:rPr lang="en-US" sz="2466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총점 및 영역별 점수에서 높은 일치도(CCC=0.84)</a:t>
            </a:r>
            <a:r>
              <a:rPr lang="en-US" sz="24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를 보여 임상적으로 동등한 선별도구임을 확인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7500" y="13423900"/>
            <a:ext cx="138811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65" b="false" i="false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[출처: Comparing the Electronic and Standard Versions of the Montreal Cognitive Assessment in an Outpatient Memory Disorders Clinic: A Validation Study]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 rot="0">
            <a:off x="1790700" y="1612900"/>
            <a:ext cx="5562600" cy="1168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7000"/>
          </a:blip>
          <a:stretch>
            <a:fillRect/>
          </a:stretch>
        </p:blipFill>
        <p:spPr>
          <a:xfrm rot="0">
            <a:off x="7073900" y="1612900"/>
            <a:ext cx="4762500" cy="1168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239000" y="1905000"/>
            <a:ext cx="4457700" cy="5969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320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02. 모델링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0">
            <a:off x="11493500" y="1574800"/>
            <a:ext cx="4635500" cy="1168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734800" y="1866900"/>
            <a:ext cx="4432300" cy="5969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320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03. 측정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64000"/>
          </a:blip>
          <a:stretch>
            <a:fillRect/>
          </a:stretch>
        </p:blipFill>
        <p:spPr>
          <a:xfrm rot="0">
            <a:off x="15913100" y="1574800"/>
            <a:ext cx="3924300" cy="1168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913100" y="1892300"/>
            <a:ext cx="3924300" cy="5969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320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04. 유형 분류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 rot="0">
            <a:off x="19519900" y="1574800"/>
            <a:ext cx="3924300" cy="1168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9596100" y="1866900"/>
            <a:ext cx="3759200" cy="5969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320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05. 솔루션 제공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1200" y="1676400"/>
            <a:ext cx="4686300" cy="10922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320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01. 데이터 수집 및</a:t>
            </a:r>
          </a:p>
          <a:p>
            <a:pPr algn="ctr" lvl="0">
              <a:lnSpc>
                <a:spcPct val="99600"/>
              </a:lnSpc>
            </a:pPr>
            <a:r>
              <a:rPr lang="en-US" sz="320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전처리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5989300" y="2933700"/>
          <a:ext cx="3543300" cy="6540500"/>
        </p:xfrm>
        <a:graphic>
          <a:graphicData uri="http://schemas.openxmlformats.org/drawingml/2006/table">
            <a:tbl>
              <a:tblPr/>
              <a:tblGrid>
                <a:gridCol w="3494706"/>
              </a:tblGrid>
              <a:tr h="5134008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21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</a:p>
                  </a:txBody>
                  <a:tcPr anchor="ctr" marL="25400" marT="66800" marR="25400" marB="668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2329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9596100" y="2933700"/>
          <a:ext cx="3695700" cy="6527800"/>
        </p:xfrm>
        <a:graphic>
          <a:graphicData uri="http://schemas.openxmlformats.org/drawingml/2006/table">
            <a:tbl>
              <a:tblPr/>
              <a:tblGrid>
                <a:gridCol w="3646438"/>
              </a:tblGrid>
              <a:tr h="5124018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1244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73100" y="2933700"/>
          <a:ext cx="15062200" cy="4965700"/>
        </p:xfrm>
        <a:graphic>
          <a:graphicData uri="http://schemas.openxmlformats.org/drawingml/2006/table">
            <a:tbl>
              <a:tblPr/>
              <a:tblGrid>
                <a:gridCol w="1272364"/>
                <a:gridCol w="5106569"/>
                <a:gridCol w="4447356"/>
                <a:gridCol w="4186530"/>
              </a:tblGrid>
              <a:tr h="2871795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4666" b="tru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신체</a:t>
                      </a:r>
                      <a:endParaRPr lang="en-US" sz="1100"/>
                    </a:p>
                  </a:txBody>
                  <a:tcPr anchor="ctr" marL="114300" marT="112818" marR="114300" marB="112818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t" marL="114300" marT="55371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t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endParaRPr lang="en-US" sz="1100"/>
                    </a:p>
                  </a:txBody>
                  <a:tcPr anchor="t" marL="114300" marT="55371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054244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610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Butterworth Filtering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1분 보행 구간 추출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1분 보행구간 → 20초 윈도우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각 20초 구간 → 10초 윈도우 6개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보행 진폭 및 주기성 수치화</a:t>
                      </a:r>
                    </a:p>
                  </a:txBody>
                  <a:tcPr anchor="t" marL="114300" marT="74293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61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구간별 보행 디지털 바이오마커의 median, iqr 계산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10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Logistic Regression 모델 사용  → Recall 값 0.835</a:t>
                      </a:r>
                    </a:p>
                  </a:txBody>
                  <a:tcPr anchor="t" marL="114300" marT="74293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602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20초 측정 -&gt; 센서 보정 -&gt; 10초 구간 추출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가속도 및 자이로 센서 보정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6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Kotlin 및 Flask 서버 기반 센서 데이터 전송</a:t>
                      </a:r>
                    </a:p>
                  </a:txBody>
                  <a:tcPr anchor="t" marL="114300" marT="74159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73100" y="3657600"/>
            <a:ext cx="1460500" cy="2413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801600" y="4292600"/>
            <a:ext cx="10160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432300" y="4711700"/>
            <a:ext cx="1930400" cy="863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78100" y="4711700"/>
            <a:ext cx="1930400" cy="863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alphaModFix amt="18000"/>
          </a:blip>
          <a:stretch>
            <a:fillRect/>
          </a:stretch>
        </p:blipFill>
        <p:spPr>
          <a:xfrm rot="0">
            <a:off x="3962400" y="3937000"/>
            <a:ext cx="1295400" cy="1930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997200" y="4876800"/>
            <a:ext cx="1930400" cy="63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4267200" y="4876800"/>
            <a:ext cx="1930400" cy="63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4140200" y="3759200"/>
            <a:ext cx="876300" cy="165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59" b="true" i="false" u="none" strike="noStrike">
                <a:solidFill>
                  <a:srgbClr val="FF0000"/>
                </a:solidFill>
                <a:latin typeface="Pretendard Regular"/>
                <a:ea typeface="Pretendard Regular"/>
                <a:cs typeface="Pretendard Regular"/>
              </a:rPr>
              <a:t>선택된 10초 window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597400" y="3898900"/>
            <a:ext cx="609600" cy="190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25900" y="3898900"/>
            <a:ext cx="609600" cy="190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578100" y="3733800"/>
            <a:ext cx="3771900" cy="2222500"/>
          </a:xfrm>
          <a:prstGeom prst="rect">
            <a:avLst/>
          </a:prstGeom>
        </p:spPr>
      </p:pic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7950200" y="3797300"/>
          <a:ext cx="3035300" cy="1549400"/>
        </p:xfrm>
        <a:graphic>
          <a:graphicData uri="http://schemas.openxmlformats.org/drawingml/2006/table">
            <a:tbl>
              <a:tblPr/>
              <a:tblGrid>
                <a:gridCol w="1582306"/>
                <a:gridCol w="1411412"/>
              </a:tblGrid>
              <a:tr h="30914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1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민감도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10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0.835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67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AUC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0.872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67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특이도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0.731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67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f1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7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402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0.817</a:t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BAB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27" id="27"/>
          <p:cNvPicPr>
            <a:picLocks noChangeAspect="true"/>
          </p:cNvPicPr>
          <p:nvPr/>
        </p:nvPicPr>
        <p:blipFill>
          <a:blip r:embed="rId15">
            <a:alphaModFix amt="31000"/>
          </a:blip>
          <a:stretch>
            <a:fillRect/>
          </a:stretch>
        </p:blipFill>
        <p:spPr>
          <a:xfrm rot="0">
            <a:off x="3048000" y="2984500"/>
            <a:ext cx="2641600" cy="660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>
            <a:alphaModFix amt="31000"/>
          </a:blip>
          <a:stretch>
            <a:fillRect/>
          </a:stretch>
        </p:blipFill>
        <p:spPr>
          <a:xfrm rot="0">
            <a:off x="16332200" y="3073400"/>
            <a:ext cx="2832100" cy="660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0307300" y="3898900"/>
            <a:ext cx="2273300" cy="2908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8">
            <a:alphaModFix amt="31000"/>
          </a:blip>
          <a:stretch>
            <a:fillRect/>
          </a:stretch>
        </p:blipFill>
        <p:spPr>
          <a:xfrm rot="0">
            <a:off x="19799300" y="3035300"/>
            <a:ext cx="3251200" cy="7239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251200" y="3124200"/>
            <a:ext cx="2755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81" b="tru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IMU 센서 데이터</a:t>
            </a:r>
            <a:r>
              <a:rPr lang="en-US" sz="2681" b="false" i="false" u="none" strike="noStrike">
                <a:solidFill>
                  <a:srgbClr val="D9492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48100" y="3149600"/>
            <a:ext cx="24511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5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 유형 분류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154900" y="3175000"/>
            <a:ext cx="2654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8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이중과제 운동 제공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1000"/>
          </a:blip>
          <a:stretch>
            <a:fillRect/>
          </a:stretch>
        </p:blipFill>
        <p:spPr>
          <a:xfrm rot="0">
            <a:off x="8547100" y="2997200"/>
            <a:ext cx="1600200" cy="584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>
            <a:alphaModFix amt="31000"/>
          </a:blip>
          <a:stretch>
            <a:fillRect/>
          </a:stretch>
        </p:blipFill>
        <p:spPr>
          <a:xfrm rot="0">
            <a:off x="12268200" y="2984500"/>
            <a:ext cx="2781300" cy="8382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7658100" y="3035300"/>
            <a:ext cx="3416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5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모델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11100" y="3060700"/>
            <a:ext cx="2095500" cy="508000"/>
          </a:xfrm>
          <a:prstGeom prst="rect">
            <a:avLst/>
          </a:prstGeom>
        </p:spPr>
        <p:txBody>
          <a:bodyPr anchor="t" rtlCol="false" lIns="0" tIns="73326" rIns="0" bIns="0"/>
          <a:lstStyle/>
          <a:p>
            <a:pPr algn="ctr" lvl="0">
              <a:lnSpc>
                <a:spcPct val="80509"/>
              </a:lnSpc>
            </a:pPr>
            <a:r>
              <a:rPr lang="en-US" sz="2685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IMU 센서 입력</a:t>
            </a:r>
            <a:r>
              <a:rPr lang="en-US" sz="2685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1">
            <a:alphaModFix amt="31000"/>
          </a:blip>
          <a:stretch>
            <a:fillRect/>
          </a:stretch>
        </p:blipFill>
        <p:spPr>
          <a:xfrm rot="0">
            <a:off x="19799300" y="6604000"/>
            <a:ext cx="3086100" cy="7620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9862800" y="7543800"/>
            <a:ext cx="3873500" cy="1295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맞춤 리포트 생성 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보호자 연계 · 알림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 Assistant 운동코칭</a:t>
            </a:r>
            <a: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79800" y="7454900"/>
            <a:ext cx="3606800" cy="172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Rule-based </a:t>
            </a:r>
            <a:b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8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Classification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80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보행, 인지 기능 </a:t>
            </a:r>
            <a:br>
              <a:rPr lang="en-US" sz="2380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380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정상(0) / 위험도(1) 분류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002000" y="9410700"/>
            <a:ext cx="7289800" cy="50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002000" y="9867900"/>
            <a:ext cx="7264400" cy="6985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6535400" y="9956800"/>
            <a:ext cx="5549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AI Assistant 펭트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6014700" y="10541000"/>
            <a:ext cx="7289800" cy="685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6332200" y="10642600"/>
            <a:ext cx="18796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기능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9481800" y="10629900"/>
            <a:ext cx="27432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8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기술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014700" y="11214100"/>
            <a:ext cx="7251700" cy="50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5989300" y="10541000"/>
            <a:ext cx="7277100" cy="508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-5400000">
            <a:off x="17665700" y="11722100"/>
            <a:ext cx="2374900" cy="50800"/>
          </a:xfrm>
          <a:prstGeom prst="rect">
            <a:avLst/>
          </a:prstGeom>
        </p:spPr>
      </p:pic>
      <p:sp>
        <p:nvSpPr>
          <p:cNvPr name="TextBox 50" id="50"/>
          <p:cNvSpPr txBox="true"/>
          <p:nvPr/>
        </p:nvSpPr>
        <p:spPr>
          <a:xfrm rot="0">
            <a:off x="20154900" y="6731000"/>
            <a:ext cx="2654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81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부가 솔루션 제공</a:t>
            </a:r>
          </a:p>
        </p:txBody>
      </p: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1742400" y="5194300"/>
            <a:ext cx="1155700" cy="1282700"/>
          </a:xfrm>
          <a:prstGeom prst="rect">
            <a:avLst/>
          </a:prstGeom>
        </p:spPr>
      </p:pic>
      <p:sp>
        <p:nvSpPr>
          <p:cNvPr name="TextBox 52" id="52"/>
          <p:cNvSpPr txBox="true"/>
          <p:nvPr/>
        </p:nvSpPr>
        <p:spPr>
          <a:xfrm rot="0">
            <a:off x="16103600" y="11290300"/>
            <a:ext cx="2844800" cy="246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Agentic AI 코치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실시간 UI 동적 제어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맥락 인식 자동 대응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지식 검색·주입</a:t>
            </a:r>
          </a:p>
          <a:p>
            <a:pPr algn="l" lvl="0">
              <a:lnSpc>
                <a:spcPct val="116199"/>
              </a:lnSpc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9138900" y="11252200"/>
            <a:ext cx="45339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LLM API + Function Calling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Android 네이티브 API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Context-aware - 상황 인식 처리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8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RAG (문항 설명·보행 가이드 청크) 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5400000">
            <a:off x="1079500" y="1028700"/>
            <a:ext cx="749300" cy="1397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676400" y="6096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기술 아키텍쳐_신체,인지,통합 솔루션</a:t>
            </a:r>
          </a:p>
        </p:txBody>
      </p:sp>
      <p:graphicFrame>
        <p:nvGraphicFramePr>
          <p:cNvPr name="Table 57" id="57"/>
          <p:cNvGraphicFramePr>
            <a:graphicFrameLocks noGrp="true"/>
          </p:cNvGraphicFramePr>
          <p:nvPr/>
        </p:nvGraphicFramePr>
        <p:xfrm>
          <a:off x="635000" y="8140700"/>
          <a:ext cx="15062200" cy="5245100"/>
        </p:xfrm>
        <a:graphic>
          <a:graphicData uri="http://schemas.openxmlformats.org/drawingml/2006/table">
            <a:tbl>
              <a:tblPr/>
              <a:tblGrid>
                <a:gridCol w="1272276"/>
                <a:gridCol w="5078067"/>
                <a:gridCol w="4425489"/>
                <a:gridCol w="4238177"/>
              </a:tblGrid>
              <a:tr h="2925663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4666" b="tru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인지</a:t>
                      </a:r>
                      <a:endParaRPr lang="en-US" sz="1100"/>
                    </a:p>
                  </a:txBody>
                  <a:tcPr anchor="ctr" marL="114300" marT="112818" marR="114300" marB="112818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B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</a:txBody>
                  <a:tcPr anchor="ctr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595959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75367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7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TTS (Text-to-Speech)</a:t>
                      </a: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b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287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기반 문제 생성</a:t>
                      </a:r>
                      <a:endParaRPr lang="en-US" sz="1100"/>
                    </a:p>
                  </a:txBody>
                  <a:tcPr anchor="t" marL="114300" marT="79289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076" b="false" i="false" u="none" strike="noStrike">
                          <a:solidFill>
                            <a:srgbClr val="FF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t" marL="114300" marT="64303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114300" marT="25400" marR="1143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58" id="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2217400" y="9232900"/>
            <a:ext cx="2692400" cy="13970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3169900" y="9867900"/>
            <a:ext cx="9144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11" b="tru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OPEN CV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32">
            <a:alphaModFix amt="31000"/>
          </a:blip>
          <a:stretch>
            <a:fillRect/>
          </a:stretch>
        </p:blipFill>
        <p:spPr>
          <a:xfrm rot="0">
            <a:off x="12280900" y="8305800"/>
            <a:ext cx="2641600" cy="850900"/>
          </a:xfrm>
          <a:prstGeom prst="rect">
            <a:avLst/>
          </a:prstGeom>
        </p:spPr>
      </p:pic>
      <p:sp>
        <p:nvSpPr>
          <p:cNvPr name="TextBox 61" id="61"/>
          <p:cNvSpPr txBox="true"/>
          <p:nvPr/>
        </p:nvSpPr>
        <p:spPr>
          <a:xfrm rot="0">
            <a:off x="12585700" y="8343900"/>
            <a:ext cx="22098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58" b="false" i="false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인지 평가 문항 </a:t>
            </a:r>
          </a:p>
          <a:p>
            <a:pPr algn="ctr" lvl="0">
              <a:lnSpc>
                <a:spcPct val="116199"/>
              </a:lnSpc>
            </a:pPr>
            <a:r>
              <a:rPr lang="en-US" sz="2658" b="false" i="false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채점 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915400" y="8928100"/>
            <a:ext cx="2146300" cy="15748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670800" y="8521700"/>
            <a:ext cx="1270000" cy="24257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35">
            <a:alphaModFix amt="31000"/>
          </a:blip>
          <a:stretch>
            <a:fillRect/>
          </a:stretch>
        </p:blipFill>
        <p:spPr>
          <a:xfrm rot="0">
            <a:off x="7874000" y="8229600"/>
            <a:ext cx="2654300" cy="8509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8140700" y="8458200"/>
            <a:ext cx="22225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1" b="false" i="false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MoCA 답변 입력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36">
            <a:alphaModFix amt="31000"/>
          </a:blip>
          <a:stretch>
            <a:fillRect/>
          </a:stretch>
        </p:blipFill>
        <p:spPr>
          <a:xfrm rot="0">
            <a:off x="2705100" y="8318500"/>
            <a:ext cx="2984500" cy="825500"/>
          </a:xfrm>
          <a:prstGeom prst="rect">
            <a:avLst/>
          </a:prstGeom>
        </p:spPr>
      </p:pic>
      <p:sp>
        <p:nvSpPr>
          <p:cNvPr name="TextBox 67" id="67"/>
          <p:cNvSpPr txBox="true"/>
          <p:nvPr/>
        </p:nvSpPr>
        <p:spPr>
          <a:xfrm rot="0">
            <a:off x="3035300" y="8318500"/>
            <a:ext cx="24003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02" b="false" i="false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인지 평가지 </a:t>
            </a:r>
          </a:p>
          <a:p>
            <a:pPr algn="ctr" lvl="0">
              <a:lnSpc>
                <a:spcPct val="116199"/>
              </a:lnSpc>
            </a:pPr>
            <a:r>
              <a:rPr lang="en-US" sz="2602" b="false" i="false" u="none" strike="noStrike" spc="-3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문항별 TTS 형성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997200" y="9258300"/>
            <a:ext cx="2387600" cy="1676400"/>
          </a:xfrm>
          <a:prstGeom prst="rect">
            <a:avLst/>
          </a:prstGeom>
        </p:spPr>
      </p:pic>
      <p:graphicFrame>
        <p:nvGraphicFramePr>
          <p:cNvPr name="Table 69" id="69"/>
          <p:cNvGraphicFramePr>
            <a:graphicFrameLocks noGrp="true"/>
          </p:cNvGraphicFramePr>
          <p:nvPr/>
        </p:nvGraphicFramePr>
        <p:xfrm>
          <a:off x="6997700" y="11099800"/>
          <a:ext cx="8737600" cy="2286000"/>
        </p:xfrm>
        <a:graphic>
          <a:graphicData uri="http://schemas.openxmlformats.org/drawingml/2006/table">
            <a:tbl>
              <a:tblPr/>
              <a:tblGrid>
                <a:gridCol w="2534787"/>
                <a:gridCol w="6160257"/>
              </a:tblGrid>
              <a:tr h="44935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08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어휘/기억/추상력 </a:t>
                      </a:r>
                      <a:endParaRPr lang="en-US" sz="1100"/>
                    </a:p>
                  </a:txBody>
                  <a:tcPr anchor="ctr" marL="25400" marT="64363" marR="25400" marB="64363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STT + Fuzzy Matching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5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08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언어능력 </a:t>
                      </a:r>
                      <a:endParaRPr lang="en-US" sz="1100"/>
                    </a:p>
                  </a:txBody>
                  <a:tcPr anchor="ctr" marL="25400" marT="64363" marR="25400" marB="64363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SequenceMatcher + 화이트리스트 구성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5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08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시공간 / 집행기능 </a:t>
                      </a:r>
                      <a:endParaRPr lang="en-US" sz="1100"/>
                    </a:p>
                  </a:txBody>
                  <a:tcPr anchor="ctr" marL="25400" marT="64363" marR="25400" marB="64363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Open CV </a:t>
                      </a: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터치 경로,그림 모양 검증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5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08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주의력</a:t>
                      </a:r>
                      <a:endParaRPr lang="en-US" sz="1100"/>
                    </a:p>
                  </a:txBody>
                  <a:tcPr anchor="ctr" marL="25400" marT="64363" marR="25400" marB="64363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STT + 숫자 파싱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5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080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지남력</a:t>
                      </a:r>
                      <a:endParaRPr lang="en-US" sz="1100"/>
                    </a:p>
                  </a:txBody>
                  <a:tcPr anchor="ctr" marL="25400" marT="64363" marR="25400" marB="64363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STT + Regex</a:t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70" id="7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997700" y="10706100"/>
            <a:ext cx="2527300" cy="3937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7251700" y="10706100"/>
            <a:ext cx="2082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7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[인지능력 영역]</a:t>
            </a:r>
          </a:p>
        </p:txBody>
      </p:sp>
      <p:pic>
        <p:nvPicPr>
          <p:cNvPr name="Picture 72" id="7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9550400" y="10706100"/>
            <a:ext cx="6184900" cy="393700"/>
          </a:xfrm>
          <a:prstGeom prst="rect">
            <a:avLst/>
          </a:prstGeom>
        </p:spPr>
      </p:pic>
      <p:sp>
        <p:nvSpPr>
          <p:cNvPr name="TextBox 73" id="73"/>
          <p:cNvSpPr txBox="true"/>
          <p:nvPr/>
        </p:nvSpPr>
        <p:spPr>
          <a:xfrm rot="0">
            <a:off x="11887200" y="10706100"/>
            <a:ext cx="19177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97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[기술 / 검사 방식]</a:t>
            </a:r>
          </a:p>
        </p:txBody>
      </p:sp>
      <p:pic>
        <p:nvPicPr>
          <p:cNvPr name="Picture 74" id="74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0802600" y="9258300"/>
            <a:ext cx="1257300" cy="14097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103600" y="12890500"/>
            <a:ext cx="7251700" cy="508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2">
            <a:alphaModFix amt="12000"/>
          </a:blip>
          <a:stretch>
            <a:fillRect/>
          </a:stretch>
        </p:blipFill>
        <p:spPr>
          <a:xfrm rot="0">
            <a:off x="16535400" y="4648200"/>
            <a:ext cx="1193800" cy="12192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43">
            <a:alphaModFix amt="12000"/>
          </a:blip>
          <a:stretch>
            <a:fillRect/>
          </a:stretch>
        </p:blipFill>
        <p:spPr>
          <a:xfrm rot="0">
            <a:off x="17741900" y="4648200"/>
            <a:ext cx="1193800" cy="12192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44">
            <a:alphaModFix amt="11000"/>
          </a:blip>
          <a:stretch>
            <a:fillRect/>
          </a:stretch>
        </p:blipFill>
        <p:spPr>
          <a:xfrm rot="0">
            <a:off x="16548100" y="5842000"/>
            <a:ext cx="1193800" cy="11938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16200000">
            <a:off x="16446500" y="5765800"/>
            <a:ext cx="2565400" cy="1778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5400000">
            <a:off x="16446500" y="5778500"/>
            <a:ext cx="2565400" cy="1778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10800000">
            <a:off x="16497300" y="5765800"/>
            <a:ext cx="2489200" cy="1778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6510000" y="5765800"/>
            <a:ext cx="2489200" cy="177800"/>
          </a:xfrm>
          <a:prstGeom prst="rect">
            <a:avLst/>
          </a:prstGeom>
        </p:spPr>
      </p:pic>
      <p:sp>
        <p:nvSpPr>
          <p:cNvPr name="TextBox 83" id="83"/>
          <p:cNvSpPr txBox="true"/>
          <p:nvPr/>
        </p:nvSpPr>
        <p:spPr>
          <a:xfrm rot="0">
            <a:off x="18910300" y="5651500"/>
            <a:ext cx="558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92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인지기능</a:t>
            </a:r>
            <a:r>
              <a:rPr lang="en-US" sz="1092" b="false" i="false" u="none" strike="noStrike">
                <a:solidFill>
                  <a:srgbClr val="01C576"/>
                </a:solidFill>
                <a:latin typeface="Pretendard Medium"/>
                <a:ea typeface="Pretendard Medium"/>
                <a:cs typeface="Pretendard Medium"/>
              </a:rPr>
              <a:t> 양호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6002000" y="5651500"/>
            <a:ext cx="5969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92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인지기능</a:t>
            </a:r>
            <a:r>
              <a:rPr lang="en-US" sz="1092" b="false" i="false" u="none" strike="noStrike">
                <a:solidFill>
                  <a:srgbClr val="FF1D25"/>
                </a:solidFill>
                <a:latin typeface="Pretendard Medium"/>
                <a:ea typeface="Pretendard Medium"/>
                <a:cs typeface="Pretendard Medium"/>
              </a:rPr>
              <a:t> 저하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297400" y="4368800"/>
            <a:ext cx="914400" cy="22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92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신체기능</a:t>
            </a:r>
            <a:r>
              <a:rPr lang="en-US" sz="1092" b="false" i="false" u="none" strike="noStrike">
                <a:solidFill>
                  <a:srgbClr val="01C576"/>
                </a:solidFill>
                <a:latin typeface="Pretendard Medium"/>
                <a:ea typeface="Pretendard Medium"/>
                <a:cs typeface="Pretendard Medium"/>
              </a:rPr>
              <a:t> 양호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7348200" y="7137400"/>
            <a:ext cx="863600" cy="22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92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신체기능</a:t>
            </a:r>
            <a:r>
              <a:rPr lang="en-US" sz="1092" b="false" i="false" u="none" strike="noStrike">
                <a:solidFill>
                  <a:srgbClr val="FF1D25"/>
                </a:solidFill>
                <a:latin typeface="Pretendard Medium"/>
                <a:ea typeface="Pretendard Medium"/>
                <a:cs typeface="Pretendard Medium"/>
              </a:rPr>
              <a:t> 저하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8186400" y="5283200"/>
            <a:ext cx="431800" cy="20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4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 유형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6941800" y="5283200"/>
            <a:ext cx="419100" cy="20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4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B 유형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916400" y="6502400"/>
            <a:ext cx="431800" cy="20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4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D 유형</a:t>
            </a:r>
          </a:p>
        </p:txBody>
      </p:sp>
      <p:pic>
        <p:nvPicPr>
          <p:cNvPr name="Picture 90" id="90"/>
          <p:cNvPicPr>
            <a:picLocks noChangeAspect="true"/>
          </p:cNvPicPr>
          <p:nvPr/>
        </p:nvPicPr>
        <p:blipFill>
          <a:blip r:embed="rId49">
            <a:alphaModFix amt="12000"/>
          </a:blip>
          <a:stretch>
            <a:fillRect/>
          </a:stretch>
        </p:blipFill>
        <p:spPr>
          <a:xfrm rot="0">
            <a:off x="17716500" y="5854700"/>
            <a:ext cx="1193800" cy="1193800"/>
          </a:xfrm>
          <a:prstGeom prst="rect">
            <a:avLst/>
          </a:prstGeom>
        </p:spPr>
      </p:pic>
      <p:sp>
        <p:nvSpPr>
          <p:cNvPr name="TextBox 91" id="91"/>
          <p:cNvSpPr txBox="true"/>
          <p:nvPr/>
        </p:nvSpPr>
        <p:spPr>
          <a:xfrm rot="0">
            <a:off x="18135600" y="6502400"/>
            <a:ext cx="431800" cy="20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4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 유형</a:t>
            </a:r>
          </a:p>
        </p:txBody>
      </p:sp>
      <p:pic>
        <p:nvPicPr>
          <p:cNvPr name="Picture 92" id="92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7513300" y="5638800"/>
            <a:ext cx="444500" cy="444500"/>
          </a:xfrm>
          <a:prstGeom prst="rect">
            <a:avLst/>
          </a:prstGeom>
        </p:spPr>
      </p:pic>
      <p:sp>
        <p:nvSpPr>
          <p:cNvPr name="TextBox 93" id="93"/>
          <p:cNvSpPr txBox="true"/>
          <p:nvPr/>
        </p:nvSpPr>
        <p:spPr>
          <a:xfrm rot="0">
            <a:off x="18046700" y="4978400"/>
            <a:ext cx="7112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70" b="true" i="false" u="none" strike="noStrike">
                <a:solidFill>
                  <a:srgbClr val="568A35"/>
                </a:solidFill>
                <a:latin typeface="Pretendard Regular"/>
                <a:ea typeface="Pretendard Regular"/>
                <a:cs typeface="Pretendard Regular"/>
              </a:rPr>
              <a:t>유지형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7818100" y="6184900"/>
            <a:ext cx="1104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70" b="true" i="false" u="none" strike="noStrike">
                <a:solidFill>
                  <a:srgbClr val="18A7F0"/>
                </a:solidFill>
                <a:latin typeface="Pretendard Regular"/>
                <a:ea typeface="Pretendard Regular"/>
                <a:cs typeface="Pretendard Regular"/>
              </a:rPr>
              <a:t>신체관리형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6637000" y="4965700"/>
            <a:ext cx="10795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70" b="true" i="false" u="none" strike="noStrike">
                <a:solidFill>
                  <a:srgbClr val="FD9F28"/>
                </a:solidFill>
                <a:latin typeface="Pretendard Regular"/>
                <a:ea typeface="Pretendard Regular"/>
                <a:cs typeface="Pretendard Regular"/>
              </a:rPr>
              <a:t>인지관리형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637000" y="6184900"/>
            <a:ext cx="11049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77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통합관리형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8800" y="482600"/>
            <a:ext cx="23279100" cy="127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116800" y="9994900"/>
            <a:ext cx="2997200" cy="257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57400" y="3543300"/>
            <a:ext cx="14795500" cy="18034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2E3D86"/>
                </a:solidFill>
                <a:latin typeface="Pretendard ExtraBold"/>
                <a:ea typeface="Pretendard ExtraBold"/>
                <a:cs typeface="Pretendard ExtraBold"/>
              </a:rPr>
              <a:t>4.</a:t>
            </a:r>
            <a:r>
              <a:rPr lang="en-US" sz="10000" b="false" i="false" u="none" strike="noStrike">
                <a:solidFill>
                  <a:srgbClr val="4467EF"/>
                </a:solidFill>
                <a:latin typeface="Pretendard ExtraBold"/>
                <a:ea typeface="Pretendard ExtraBold"/>
                <a:cs typeface="Pretendard ExtraBold"/>
              </a:rPr>
              <a:t> </a:t>
            </a:r>
            <a:r>
              <a:rPr lang="en-US" sz="1000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솔루션 소개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32200" y="5638800"/>
            <a:ext cx="419100" cy="419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292600" y="5473700"/>
            <a:ext cx="7581900" cy="711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85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'기억하지' 솔루션 아키텍처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32200" y="6997700"/>
            <a:ext cx="419100" cy="419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292600" y="6832600"/>
            <a:ext cx="7581900" cy="711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85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AI Assistant 펭트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32200" y="6324600"/>
            <a:ext cx="419100" cy="419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292600" y="6159500"/>
            <a:ext cx="7581900" cy="711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855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'기억하지' 솔루션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3568700"/>
            <a:ext cx="3530600" cy="613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9677400"/>
            <a:ext cx="3530600" cy="2247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2200" y="9893300"/>
            <a:ext cx="32258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 보호자 정보 DB 저장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9000" y="2616200"/>
            <a:ext cx="3530600" cy="977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41400" y="2819400"/>
            <a:ext cx="32258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시작/로그인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506200" y="3568700"/>
            <a:ext cx="3530600" cy="613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506200" y="9677400"/>
            <a:ext cx="3530600" cy="2247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709400" y="9893300"/>
            <a:ext cx="32258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Treshold 기반 위험도 산출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506200" y="2616200"/>
            <a:ext cx="3530600" cy="977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71300" y="2819400"/>
            <a:ext cx="32258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 분석 및 유형 분류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62200" y="3568700"/>
            <a:ext cx="3530600" cy="6134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062200" y="9677400"/>
            <a:ext cx="3530600" cy="2247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265400" y="9893300"/>
            <a:ext cx="32258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생성형 Ai 활용 다양 운동 컨텐츠 제공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AI Assistant 기반</a:t>
            </a:r>
            <a:b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운동 추천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062200" y="2628900"/>
            <a:ext cx="3530600" cy="977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214600" y="2832100"/>
            <a:ext cx="32258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맞춤 운동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62900" y="3568700"/>
            <a:ext cx="3530600" cy="6134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962900" y="9677400"/>
            <a:ext cx="3530600" cy="22479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8166100" y="9893300"/>
            <a:ext cx="32258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TTS/STT </a:t>
            </a: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활용한  </a:t>
            </a:r>
            <a: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MoCA 디지털화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룰베이스 </a:t>
            </a:r>
            <a:r>
              <a:rPr lang="en-US" sz="253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 채점 </a:t>
            </a:r>
            <a:br>
              <a:rPr lang="en-US" sz="253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535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로직 설계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62900" y="2603500"/>
            <a:ext cx="3530600" cy="9779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8115300" y="2806700"/>
            <a:ext cx="32258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디지털 인지검사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592800" y="3568700"/>
            <a:ext cx="5219700" cy="6134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605500" y="9677400"/>
            <a:ext cx="5219700" cy="22479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8808700" y="9893300"/>
            <a:ext cx="49022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확률 기반 위험도 산출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Longitudinal Monitoring 기반 </a:t>
            </a:r>
            <a:b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장기 변화 분석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592800" y="2628900"/>
            <a:ext cx="5219700" cy="9779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8745200" y="2832100"/>
            <a:ext cx="49149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리포트 제공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962900" y="8216900"/>
            <a:ext cx="3530600" cy="114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06200" y="8229600"/>
            <a:ext cx="35306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049500" y="8242300"/>
            <a:ext cx="3530600" cy="114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0574000" y="8902700"/>
            <a:ext cx="1346200" cy="114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8153400" y="8559800"/>
            <a:ext cx="2540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MoCA 디지털 </a:t>
            </a:r>
            <a:r>
              <a:rPr lang="en-US" sz="24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설문조사 진행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45900" y="8559800"/>
            <a:ext cx="34036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및 보행 검사 결과를 통한 </a:t>
            </a:r>
            <a:r>
              <a:rPr lang="en-US" sz="2474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맞춤 유형</a:t>
            </a: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확인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40000" y="8559800"/>
            <a:ext cx="34036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유형별 </a:t>
            </a:r>
            <a:r>
              <a:rPr lang="en-US" sz="24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이중과제  운동 서비스</a:t>
            </a:r>
            <a:r>
              <a:rPr lang="en-US" sz="2474" b="fals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4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수행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656300" y="8534400"/>
            <a:ext cx="2590800" cy="774700"/>
          </a:xfrm>
          <a:prstGeom prst="rect">
            <a:avLst/>
          </a:prstGeom>
        </p:spPr>
        <p:txBody>
          <a:bodyPr anchor="t" rtlCol="false" lIns="0" tIns="70721" rIns="0" bIns="0"/>
          <a:lstStyle/>
          <a:p>
            <a:pPr algn="l" lvl="1" marL="342900" indent="-342900">
              <a:lnSpc>
                <a:spcPct val="788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건강 상태 및     위험도 변화 추이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310600" y="8318500"/>
            <a:ext cx="2527300" cy="1371600"/>
          </a:xfrm>
          <a:prstGeom prst="rect">
            <a:avLst/>
          </a:prstGeom>
        </p:spPr>
        <p:txBody>
          <a:bodyPr anchor="t" rtlCol="false" lIns="0" tIns="70721" rIns="0" bIns="0"/>
          <a:lstStyle/>
          <a:p>
            <a:pPr algn="l" lvl="1" marL="342900" indent="-342900">
              <a:lnSpc>
                <a:spcPct val="788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낙상·인지 위험 알림</a:t>
            </a:r>
          </a:p>
          <a:p>
            <a:pPr algn="l" lvl="1" marL="342900" indent="-342900">
              <a:lnSpc>
                <a:spcPct val="7885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운동 수행 현황 확인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272500" y="7797800"/>
            <a:ext cx="1422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[보호자용]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7100" y="8216900"/>
            <a:ext cx="3530600" cy="1143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079500" y="8559800"/>
            <a:ext cx="2540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 전화 번호 및 학력 입력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585200" y="3924300"/>
            <a:ext cx="2209800" cy="40513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70900" y="3733800"/>
            <a:ext cx="2425700" cy="4305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860000">
            <a:off x="8864600" y="5549900"/>
            <a:ext cx="1714500" cy="14859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8560497">
            <a:off x="9563100" y="5905500"/>
            <a:ext cx="736600" cy="3683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4336291">
            <a:off x="9220200" y="5981700"/>
            <a:ext cx="520700" cy="304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525000" y="6286500"/>
            <a:ext cx="1524000" cy="12065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8669000" y="7785100"/>
            <a:ext cx="14986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2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[사용자용]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0800000">
            <a:off x="18656300" y="8216900"/>
            <a:ext cx="5168900" cy="114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24000" y="3822700"/>
            <a:ext cx="2260600" cy="4254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447800" y="3759200"/>
            <a:ext cx="2413000" cy="43815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065000" y="3797300"/>
            <a:ext cx="2400300" cy="43307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1976100" y="3733800"/>
            <a:ext cx="2565400" cy="4394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8859500" y="3873500"/>
            <a:ext cx="2159000" cy="39497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8796000" y="3708400"/>
            <a:ext cx="2286000" cy="40767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406900" y="3556000"/>
            <a:ext cx="3530600" cy="6134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06900" y="9664700"/>
            <a:ext cx="3530600" cy="2247900"/>
          </a:xfrm>
          <a:prstGeom prst="rect">
            <a:avLst/>
          </a:prstGeom>
        </p:spPr>
      </p:pic>
      <p:sp>
        <p:nvSpPr>
          <p:cNvPr name="TextBox 55" id="55"/>
          <p:cNvSpPr txBox="true"/>
          <p:nvPr/>
        </p:nvSpPr>
        <p:spPr>
          <a:xfrm rot="0">
            <a:off x="4610100" y="9880600"/>
            <a:ext cx="3225800" cy="182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디지털바이오마커</a:t>
            </a:r>
            <a:b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머신러닝</a:t>
            </a:r>
            <a:r>
              <a:rPr lang="en-US" sz="253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3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 보행 분석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406900" y="2616200"/>
            <a:ext cx="3530600" cy="977900"/>
          </a:xfrm>
          <a:prstGeom prst="rect">
            <a:avLst/>
          </a:prstGeom>
        </p:spPr>
      </p:pic>
      <p:sp>
        <p:nvSpPr>
          <p:cNvPr name="TextBox 57" id="57"/>
          <p:cNvSpPr txBox="true"/>
          <p:nvPr/>
        </p:nvSpPr>
        <p:spPr>
          <a:xfrm rot="0">
            <a:off x="4559300" y="2819400"/>
            <a:ext cx="32258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41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보행 기능 검사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06900" y="8204200"/>
            <a:ext cx="3530600" cy="1143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4622800" y="8521700"/>
            <a:ext cx="34036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스마트폰 허리부착 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7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20초 직선 보행 실시 </a:t>
            </a:r>
          </a:p>
        </p:txBody>
      </p:sp>
      <p:pic>
        <p:nvPicPr>
          <p:cNvPr name="Picture 60" id="6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4851400" y="3771900"/>
            <a:ext cx="2679700" cy="41529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기억하지 솔루션 아키텍쳐</a:t>
            </a:r>
          </a:p>
        </p:txBody>
      </p:sp>
      <p:pic>
        <p:nvPicPr>
          <p:cNvPr name="Picture 63" id="6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1310600" y="3797300"/>
            <a:ext cx="2286000" cy="39751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1310600" y="3683000"/>
            <a:ext cx="2286000" cy="40767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20789900" y="13157200"/>
            <a:ext cx="54102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6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 MoCA:몬트리올 인지 평가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4216400"/>
            <a:ext cx="2641600" cy="33274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5595600" y="3733800"/>
            <a:ext cx="2552700" cy="43307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5595600" y="3733800"/>
            <a:ext cx="2552700" cy="4445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7170400" y="5892800"/>
            <a:ext cx="1384300" cy="19812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838700" y="3733800"/>
            <a:ext cx="2654300" cy="43942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5760700" y="4127500"/>
            <a:ext cx="2286000" cy="838200"/>
          </a:xfrm>
          <a:prstGeom prst="rect">
            <a:avLst/>
          </a:prstGeom>
        </p:spPr>
      </p:pic>
      <p:sp>
        <p:nvSpPr>
          <p:cNvPr name="TextBox 72" id="72"/>
          <p:cNvSpPr txBox="true"/>
          <p:nvPr/>
        </p:nvSpPr>
        <p:spPr>
          <a:xfrm rot="0">
            <a:off x="15824200" y="4127500"/>
            <a:ext cx="21590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19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오늘의 운동</a:t>
            </a:r>
          </a:p>
          <a:p>
            <a:pPr algn="l" lvl="0">
              <a:lnSpc>
                <a:spcPct val="116199"/>
              </a:lnSpc>
            </a:pPr>
            <a:r>
              <a:rPr lang="en-US" sz="1300" b="tru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제자리 걷기 + 규칙 기반 얼음땡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5181600" y="7048500"/>
            <a:ext cx="2006600" cy="342900"/>
          </a:xfrm>
          <a:prstGeom prst="rect">
            <a:avLst/>
          </a:prstGeom>
        </p:spPr>
      </p:pic>
      <p:sp>
        <p:nvSpPr>
          <p:cNvPr name="TextBox 74" id="74"/>
          <p:cNvSpPr txBox="true"/>
          <p:nvPr/>
        </p:nvSpPr>
        <p:spPr>
          <a:xfrm rot="0">
            <a:off x="5638800" y="7010400"/>
            <a:ext cx="11176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3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측정 하기</a:t>
            </a:r>
          </a:p>
        </p:txBody>
      </p:sp>
      <p:pic>
        <p:nvPicPr>
          <p:cNvPr name="Picture 75" id="7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76" id="76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솔루션 소개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솔루션 소개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55600" y="2959100"/>
            <a:ext cx="8039100" cy="915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기억하지_ 예방형 홈케어 솔루션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8000" y="3810000"/>
            <a:ext cx="7569200" cy="4305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08000" y="2959100"/>
            <a:ext cx="7874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❶ 가정에서 가능한 디지털 기능 평가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8293100"/>
            <a:ext cx="7569200" cy="3556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9800" y="3898900"/>
            <a:ext cx="2565400" cy="660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55700" y="3962400"/>
            <a:ext cx="22479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07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신체 기능 평가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8496300"/>
            <a:ext cx="2565400" cy="660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55700" y="8547100"/>
            <a:ext cx="23368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07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인지 기능 평가</a:t>
            </a:r>
          </a:p>
        </p:txBody>
      </p:sp>
      <p:pic>
        <p:nvPicPr>
          <p:cNvPr name="Picture 15" id="15">
            <a:hlinkClick r:id=""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>
                  <p14:trim st="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 rot="0">
            <a:off x="1066800" y="4724400"/>
            <a:ext cx="4089400" cy="298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245100" y="4991100"/>
            <a:ext cx="2679700" cy="245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걷기만 해도 
신체 능력
(보행·균형)
평가가 가능</a:t>
            </a:r>
          </a:p>
        </p:txBody>
      </p:sp>
      <p:pic>
        <p:nvPicPr>
          <p:cNvPr name="Picture 17" id="17">
            <a:hlinkClick r:id="" action="ppaction://media"/>
          </p:cNvPr>
          <p:cNvPicPr>
            <a:picLocks noChangeAspect="true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>
                  <p14:trim st="0"/>
                </p14:media>
              </p:ext>
            </p:extLst>
          </p:nvPr>
        </p:nvPicPr>
        <p:blipFill>
          <a:blip r:embed="rId12"/>
          <a:stretch>
            <a:fillRect/>
          </a:stretch>
        </p:blipFill>
        <p:spPr>
          <a:xfrm rot="0">
            <a:off x="1066800" y="9232900"/>
            <a:ext cx="4102100" cy="2324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5461000" y="9169400"/>
            <a:ext cx="2514600" cy="245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MoCA</a:t>
            </a:r>
          </a:p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디지털화로</a:t>
            </a:r>
          </a:p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인지능력 평가</a:t>
            </a:r>
          </a:p>
          <a:p>
            <a:pPr algn="l" lvl="0">
              <a:lnSpc>
                <a:spcPct val="116199"/>
              </a:lnSpc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547100" y="2959100"/>
            <a:ext cx="4876800" cy="9156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534400" y="2959100"/>
            <a:ext cx="49784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❷ AI 맞춤형 예방 운동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928100" y="3187700"/>
            <a:ext cx="4191000" cy="6400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194800" y="9994900"/>
            <a:ext cx="38100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맞춤형 운동 제공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이중과제 운동 제공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true" i="false" u="none" strike="noStrike">
                <a:solidFill>
                  <a:srgbClr val="AE3A1E"/>
                </a:solidFill>
                <a:latin typeface="Pretendard Regular"/>
                <a:ea typeface="Pretendard Regular"/>
                <a:cs typeface="Pretendard Regular"/>
              </a:rPr>
              <a:t>AI 음성 코칭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538200" y="2959100"/>
            <a:ext cx="5143500" cy="9156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534400" y="7226300"/>
            <a:ext cx="1943100" cy="2171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70600" y="2959100"/>
            <a:ext cx="5143500" cy="91567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4046200" y="2959100"/>
            <a:ext cx="43688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❸ 건강 리포트 제공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40500" y="2959100"/>
            <a:ext cx="42291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❹ 보호자 모니터링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79600" y="3695700"/>
            <a:ext cx="35814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변화를 한눈에 확인 가능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710400" y="3708400"/>
            <a:ext cx="3403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7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보호자 비대면 관리 가능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697700" y="4635500"/>
            <a:ext cx="3543300" cy="5194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9443700" y="4445000"/>
            <a:ext cx="3975100" cy="53975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20459700" y="5397500"/>
            <a:ext cx="1397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>자세 어르신</a:t>
            </a:r>
            <a:r>
              <a:rPr lang="en-US" sz="2200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465300" y="4572000"/>
            <a:ext cx="3492500" cy="5168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224000" y="4470400"/>
            <a:ext cx="3975100" cy="53721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4351000" y="10058400"/>
            <a:ext cx="34290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변화 추이 그래프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운동 수행 결과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종합 건강 요약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380200" y="10058400"/>
            <a:ext cx="42926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 현황 확인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리포트 확인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4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알림수신 및 운동 독려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355600" y="12306300"/>
            <a:ext cx="23431500" cy="11684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384300" y="12407900"/>
            <a:ext cx="217932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274" b="false" i="false" u="none" strike="noStrike" spc="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가정에서 디지털로 평가하고, 맞춤 운동으로 관리하여 </a:t>
            </a:r>
            <a:r>
              <a:rPr lang="en-US" sz="5274" b="true" i="false" u="none" strike="noStrike" spc="100">
                <a:solidFill>
                  <a:srgbClr val="FDE32C"/>
                </a:solidFill>
                <a:latin typeface="Pretendard Regular"/>
                <a:ea typeface="Pretendard Regular"/>
                <a:cs typeface="Pretendard Regular"/>
              </a:rPr>
              <a:t>낙상과 치매를 예방</a:t>
            </a:r>
            <a:r>
              <a:rPr lang="en-US" sz="5274" b="false" i="false" u="none" strike="noStrike" spc="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542000" y="4267200"/>
            <a:ext cx="4495800" cy="6731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84800" y="2730500"/>
            <a:ext cx="5511800" cy="1075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93600" y="2730500"/>
            <a:ext cx="5511800" cy="1075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048500" y="4267200"/>
            <a:ext cx="44450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89700" y="2730500"/>
            <a:ext cx="5511800" cy="1075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2730500"/>
            <a:ext cx="5511800" cy="1075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0300" y="4432300"/>
            <a:ext cx="4775200" cy="664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9400" y="3124200"/>
            <a:ext cx="952500" cy="952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752600" y="3048000"/>
            <a:ext cx="762000" cy="1028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2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62800" y="3048000"/>
            <a:ext cx="952500" cy="952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366000" y="2971800"/>
            <a:ext cx="698500" cy="1028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2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B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954000" y="3048000"/>
            <a:ext cx="952500" cy="952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3169900" y="2971800"/>
            <a:ext cx="863600" cy="1028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2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796000" y="3048000"/>
            <a:ext cx="952500" cy="95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999200" y="2971800"/>
            <a:ext cx="863600" cy="1028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628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63800" y="3048000"/>
            <a:ext cx="609600" cy="9906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l" lvl="0">
              <a:lnSpc>
                <a:spcPct val="116199"/>
              </a:lnSpc>
            </a:pPr>
            <a:r>
              <a:rPr lang="en-US" sz="27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14700" y="3009900"/>
            <a:ext cx="23622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true" i="false" u="none" strike="noStrike">
                <a:solidFill>
                  <a:srgbClr val="28CE3F"/>
                </a:solidFill>
                <a:latin typeface="Pretendard Bold"/>
                <a:ea typeface="Pretendard Bold"/>
                <a:cs typeface="Pretendard Bold"/>
              </a:rPr>
              <a:t>유지형</a:t>
            </a:r>
          </a:p>
          <a:p>
            <a:pPr algn="l" lvl="0">
              <a:lnSpc>
                <a:spcPct val="116199"/>
              </a:lnSpc>
            </a:pP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(신체·인지 양호)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75600" y="3022600"/>
            <a:ext cx="609600" cy="9906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l" lvl="0">
              <a:lnSpc>
                <a:spcPct val="116199"/>
              </a:lnSpc>
            </a:pPr>
            <a:r>
              <a:rPr lang="en-US" sz="27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86800" y="2984500"/>
            <a:ext cx="2159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true" i="false" u="none" strike="noStrike">
                <a:solidFill>
                  <a:srgbClr val="FD9F28"/>
                </a:solidFill>
                <a:latin typeface="Pretendard Bold"/>
                <a:ea typeface="Pretendard Bold"/>
                <a:cs typeface="Pretendard Bold"/>
              </a:rPr>
              <a:t>인지 강화형</a:t>
            </a:r>
          </a:p>
          <a:p>
            <a:pPr algn="l" lvl="0">
              <a:lnSpc>
                <a:spcPct val="116199"/>
              </a:lnSpc>
            </a:pP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719" b="fals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인지 약함</a:t>
            </a: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17600" y="3022600"/>
            <a:ext cx="609600" cy="9906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l" lvl="0">
              <a:lnSpc>
                <a:spcPct val="116199"/>
              </a:lnSpc>
            </a:pPr>
            <a:r>
              <a:rPr lang="en-US" sz="27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01800" y="2984500"/>
            <a:ext cx="2159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true" i="false" u="none" strike="noStrike">
                <a:solidFill>
                  <a:srgbClr val="4467EF"/>
                </a:solidFill>
                <a:latin typeface="Pretendard Bold"/>
                <a:ea typeface="Pretendard Bold"/>
                <a:cs typeface="Pretendard Bold"/>
              </a:rPr>
              <a:t>신체 강화형</a:t>
            </a:r>
          </a:p>
          <a:p>
            <a:pPr algn="l" lvl="0">
              <a:lnSpc>
                <a:spcPct val="116199"/>
              </a:lnSpc>
            </a:pP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en-US" sz="2719" b="fals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신체 약함</a:t>
            </a: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697700" y="3022600"/>
            <a:ext cx="609600" cy="990600"/>
          </a:xfrm>
          <a:prstGeom prst="rect">
            <a:avLst/>
          </a:prstGeom>
        </p:spPr>
        <p:txBody>
          <a:bodyPr anchor="t" rtlCol="false" lIns="0" tIns="0" rIns="0" bIns="0" vert="eaVert"/>
          <a:lstStyle/>
          <a:p>
            <a:pPr algn="l" lvl="0">
              <a:lnSpc>
                <a:spcPct val="116199"/>
              </a:lnSpc>
            </a:pPr>
            <a:r>
              <a:rPr lang="en-US" sz="271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유형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332700" y="2984500"/>
            <a:ext cx="3048000" cy="113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true" i="false" u="none" strike="noStrike">
                <a:solidFill>
                  <a:srgbClr val="D94925"/>
                </a:solidFill>
                <a:latin typeface="Pretendard Bold"/>
                <a:ea typeface="Pretendard Bold"/>
                <a:cs typeface="Pretendard Bold"/>
              </a:rPr>
              <a:t>통합 강화형</a:t>
            </a:r>
          </a:p>
          <a:p>
            <a:pPr algn="l" lvl="0">
              <a:lnSpc>
                <a:spcPct val="116199"/>
              </a:lnSpc>
            </a:pPr>
            <a:r>
              <a:rPr lang="en-US" sz="271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(신체·인지 모두 약함)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605500" y="10795000"/>
            <a:ext cx="4483100" cy="128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10700" y="4876800"/>
            <a:ext cx="1714500" cy="1473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19200" y="10807700"/>
            <a:ext cx="4483100" cy="1282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>
            <a:alphaModFix amt="24000"/>
          </a:blip>
          <a:stretch>
            <a:fillRect/>
          </a:stretch>
        </p:blipFill>
        <p:spPr>
          <a:xfrm rot="0">
            <a:off x="6997700" y="10820400"/>
            <a:ext cx="4483100" cy="1270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alphaModFix amt="24000"/>
          </a:blip>
          <a:stretch>
            <a:fillRect/>
          </a:stretch>
        </p:blipFill>
        <p:spPr>
          <a:xfrm rot="0">
            <a:off x="12801600" y="10807700"/>
            <a:ext cx="4483100" cy="12827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384300" y="10972800"/>
            <a:ext cx="4356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 : 현재 기능 유지 
          및 건강한 습관 지속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1348700" y="4876800"/>
            <a:ext cx="1714500" cy="1727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기억하지_유형별 맞춤 이중과제 운동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62800" y="10934700"/>
            <a:ext cx="4229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 : 인지기능 강화 
          및</a:t>
            </a:r>
            <a:r>
              <a:rPr lang="en-US" sz="27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 치매 예방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17500" y="10947400"/>
            <a:ext cx="4356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 : 신체 기능 강화 및
          </a:t>
            </a:r>
            <a:r>
              <a:rPr lang="en-US" sz="27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낙상 예방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796000" y="10947400"/>
            <a:ext cx="4356100" cy="100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목표 : 인지·신체 통합 강화
          및 삶의 질 향상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8900" y="12179300"/>
            <a:ext cx="4165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추천 운동
: 기본 신체운동 + 가벼운 인지 과제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13600" y="12179300"/>
            <a:ext cx="3911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추천 운동
: 기본 신체운동 + </a:t>
            </a:r>
            <a:r>
              <a:rPr lang="en-US" sz="23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인지 자극 과제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6400" y="12179300"/>
            <a:ext cx="45085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추천 운동
: </a:t>
            </a:r>
            <a:r>
              <a:rPr lang="en-US" sz="2341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근력·균형 중심 운동</a:t>
            </a:r>
            <a:r>
              <a:rPr lang="en-US" sz="23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 단순 인지 과제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745200" y="12179300"/>
            <a:ext cx="39116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41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추천 운동
: 쉬운 신체운동 + 기초 인지 과제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344400" y="4089400"/>
            <a:ext cx="5397500" cy="647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966700" y="4114800"/>
            <a:ext cx="609600" cy="558800"/>
          </a:xfrm>
          <a:prstGeom prst="rect">
            <a:avLst/>
          </a:prstGeom>
        </p:spPr>
      </p:pic>
      <p:sp>
        <p:nvSpPr>
          <p:cNvPr name="TextBox 43" id="43"/>
          <p:cNvSpPr txBox="true"/>
          <p:nvPr/>
        </p:nvSpPr>
        <p:spPr>
          <a:xfrm rot="0">
            <a:off x="13233400" y="4152900"/>
            <a:ext cx="4216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4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낙상주의! 앉아서 운동 시행!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148300" y="4089400"/>
            <a:ext cx="5397500" cy="6477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783300" y="4114800"/>
            <a:ext cx="609600" cy="558800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19113500" y="4152900"/>
            <a:ext cx="3505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4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주의! 보호자 동반 안내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2725400" y="4432300"/>
            <a:ext cx="4813300" cy="64770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816985">
            <a:off x="8851900" y="6426200"/>
            <a:ext cx="2819400" cy="1778000"/>
          </a:xfrm>
          <a:prstGeom prst="rect">
            <a:avLst/>
          </a:prstGeom>
        </p:spPr>
      </p:pic>
      <p:sp>
        <p:nvSpPr>
          <p:cNvPr name="TextBox 49" id="49"/>
          <p:cNvSpPr txBox="true"/>
          <p:nvPr/>
        </p:nvSpPr>
        <p:spPr>
          <a:xfrm rot="0">
            <a:off x="9410700" y="6845300"/>
            <a:ext cx="2146300" cy="104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723" b="true" i="false" u="none" strike="noStrike">
                <a:solidFill>
                  <a:srgbClr val="18A8F1"/>
                </a:solidFill>
                <a:latin typeface="Pretendard Regular"/>
                <a:ea typeface="Pretendard Regular"/>
                <a:cs typeface="Pretendard Regular"/>
              </a:rPr>
              <a:t>오른쪽</a:t>
            </a:r>
            <a:r>
              <a:rPr lang="en-US" sz="172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</a:t>
            </a:r>
            <a:r>
              <a:rPr lang="en-US" sz="1723" b="true" i="false" u="none" strike="noStrike">
                <a:solidFill>
                  <a:srgbClr val="20A968"/>
                </a:solidFill>
                <a:latin typeface="Pretendard Regular"/>
                <a:ea typeface="Pretendard Regular"/>
                <a:cs typeface="Pretendard Regular"/>
              </a:rPr>
              <a:t>왼쪽</a:t>
            </a:r>
            <a:r>
              <a:rPr lang="en-US" sz="172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</a:t>
            </a:r>
            <a:r>
              <a:rPr lang="en-US" sz="1723" b="true" i="false" u="none" strike="noStrike">
                <a:solidFill>
                  <a:srgbClr val="20A968"/>
                </a:solidFill>
                <a:latin typeface="Pretendard Regular"/>
                <a:ea typeface="Pretendard Regular"/>
                <a:cs typeface="Pretendard Regular"/>
              </a:rPr>
              <a:t>왼쪽</a:t>
            </a:r>
            <a:r>
              <a:rPr lang="en-US" sz="172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</a:t>
            </a:r>
            <a:r>
              <a:rPr lang="en-US" sz="1723" b="true" i="false" u="none" strike="noStrike">
                <a:solidFill>
                  <a:srgbClr val="18A8F1"/>
                </a:solidFill>
                <a:latin typeface="Pretendard Regular"/>
                <a:ea typeface="Pretendard Regular"/>
                <a:cs typeface="Pretendard Regular"/>
              </a:rPr>
              <a:t>오른쪽</a:t>
            </a:r>
            <a:r>
              <a:rPr lang="en-US" sz="172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</a:t>
            </a:r>
            <a:r>
              <a:rPr lang="en-US" sz="1723" b="true" i="false" u="none" strike="noStrike">
                <a:solidFill>
                  <a:srgbClr val="18A8F1"/>
                </a:solidFill>
                <a:latin typeface="Pretendard Regular"/>
                <a:ea typeface="Pretendard Regular"/>
                <a:cs typeface="Pretendard Regular"/>
              </a:rPr>
              <a:t>오른쪽</a:t>
            </a:r>
            <a:br>
              <a:rPr lang="en-US" sz="1723" b="true" i="false" u="none" strike="noStrike">
                <a:solidFill>
                  <a:srgbClr val="18A8F1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172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순서 기억</a:t>
            </a:r>
            <a:r>
              <a:rPr lang="en-US" sz="1723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해서 걸으세요</a:t>
            </a:r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21425694">
            <a:off x="14744700" y="6007100"/>
            <a:ext cx="2489200" cy="15748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5138400" y="6197600"/>
            <a:ext cx="19431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48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단어 음절수 만큼</a:t>
            </a:r>
          </a:p>
          <a:p>
            <a:pPr algn="ctr" lvl="0">
              <a:lnSpc>
                <a:spcPct val="132800"/>
              </a:lnSpc>
            </a:pPr>
            <a:r>
              <a:rPr lang="en-US" sz="1487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다리를 들었다 올리세요</a:t>
            </a:r>
            <a:r>
              <a:rPr lang="en-US" sz="148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!</a:t>
            </a:r>
          </a:p>
          <a:p>
            <a:pPr algn="ctr" lvl="0">
              <a:lnSpc>
                <a:spcPct val="132800"/>
              </a:lnSpc>
            </a:pPr>
            <a:r>
              <a:rPr lang="en-US" sz="148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강 / 아 / 지</a:t>
            </a:r>
          </a:p>
          <a:p>
            <a:pPr algn="ctr" lvl="0">
              <a:lnSpc>
                <a:spcPct val="132800"/>
              </a:lnSpc>
            </a:pPr>
            <a:r>
              <a:rPr lang="en-US" sz="148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콩콩콩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21425694">
            <a:off x="20548600" y="6489700"/>
            <a:ext cx="2667000" cy="1574800"/>
          </a:xfrm>
          <a:prstGeom prst="rect">
            <a:avLst/>
          </a:prstGeom>
        </p:spPr>
      </p:pic>
      <p:sp>
        <p:nvSpPr>
          <p:cNvPr name="TextBox 53" id="53"/>
          <p:cNvSpPr txBox="true"/>
          <p:nvPr/>
        </p:nvSpPr>
        <p:spPr>
          <a:xfrm rot="0">
            <a:off x="21094700" y="6604000"/>
            <a:ext cx="18161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17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커진다~</a:t>
            </a:r>
          </a:p>
          <a:p>
            <a:pPr algn="ctr" lvl="0">
              <a:lnSpc>
                <a:spcPct val="132800"/>
              </a:lnSpc>
            </a:pPr>
            <a:r>
              <a:rPr lang="en-US" sz="17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(벌리기)</a:t>
            </a:r>
          </a:p>
          <a:p>
            <a:pPr algn="ctr" lvl="0">
              <a:lnSpc>
                <a:spcPct val="132800"/>
              </a:lnSpc>
            </a:pPr>
            <a:r>
              <a:rPr lang="en-US" sz="17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작아진다~</a:t>
            </a:r>
          </a:p>
          <a:p>
            <a:pPr algn="ctr" lvl="0">
              <a:lnSpc>
                <a:spcPct val="132800"/>
              </a:lnSpc>
            </a:pPr>
            <a:r>
              <a:rPr lang="en-US" sz="17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(모으기)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55" id="55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솔루션 소개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096500" y="3594100"/>
            <a:ext cx="12534900" cy="6248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442700" y="4445000"/>
            <a:ext cx="9626600" cy="466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안녕하세요. 저는 </a:t>
            </a:r>
            <a:r>
              <a:rPr lang="en-US" sz="439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펭트</a:t>
            </a: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(펭귄 +헬스트레이너)에요!</a:t>
            </a:r>
          </a:p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어르신의 맞춤형 건강 상담과 운동을 추천하는 </a:t>
            </a:r>
          </a:p>
          <a:p>
            <a:pPr algn="ctr" lvl="0">
              <a:lnSpc>
                <a:spcPct val="116199"/>
              </a:lnSpc>
            </a:pPr>
            <a:r>
              <a:rPr lang="en-US" sz="4123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AI 건강 코치</a:t>
            </a: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입니다.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500" y="11925300"/>
            <a:ext cx="245745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34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 펭귄은 얼음 위에서도 중심을 잃지 않는 뛰어난 </a:t>
            </a:r>
            <a:r>
              <a:rPr lang="en-US" sz="434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균형감각</a:t>
            </a:r>
            <a:r>
              <a:rPr lang="en-US" sz="434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 우수한 공간기억능력 (</a:t>
            </a:r>
            <a:r>
              <a:rPr lang="en-US" sz="4344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인지능력</a:t>
            </a:r>
            <a:r>
              <a:rPr lang="en-US" sz="434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)을 지닌 동물입니다.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AI Assistant 펭트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49500" y="3479800"/>
            <a:ext cx="7594600" cy="7594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솔루션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85300" y="4076700"/>
            <a:ext cx="5511800" cy="6642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AI Assistant 펭트 역할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55200" y="2921000"/>
            <a:ext cx="46863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19200" y="4521200"/>
            <a:ext cx="2120900" cy="48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51000" y="9055100"/>
            <a:ext cx="21209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89200" y="3149600"/>
            <a:ext cx="7251700" cy="297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32100" y="7899400"/>
            <a:ext cx="7023100" cy="2971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77200" y="4699000"/>
            <a:ext cx="21209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45400" y="8966200"/>
            <a:ext cx="2120900" cy="177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43100" y="3390900"/>
            <a:ext cx="7023100" cy="297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28800" y="7797800"/>
            <a:ext cx="7023100" cy="2971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690100" y="9410700"/>
            <a:ext cx="4889500" cy="1320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807" b="false" i="false" u="none" strike="noStrike">
                <a:solidFill>
                  <a:srgbClr val="2E3D86"/>
                </a:solidFill>
                <a:latin typeface="Pretendard Bold"/>
                <a:ea typeface="Pretendard Bold"/>
                <a:cs typeface="Pretendard Bold"/>
              </a:rPr>
              <a:t>AI Assistant 펭트</a:t>
            </a:r>
          </a:p>
          <a:p>
            <a:pPr algn="ctr" lvl="0">
              <a:lnSpc>
                <a:spcPct val="116199"/>
              </a:lnSpc>
            </a:pPr>
            <a:r>
              <a:rPr lang="en-US" sz="240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쉽고 이해하고, 함께 건강해지는 동반자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1200" y="3695700"/>
            <a:ext cx="3784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건강지식 &amp; 정보제공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46600" y="3479800"/>
            <a:ext cx="52959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시니어 맞춤 UI/UX 자동 조정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24300" y="8255000"/>
            <a:ext cx="48387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상황 인식 </a:t>
            </a:r>
            <a:r>
              <a:rPr lang="en-US" sz="3008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(Context-aware)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13200" y="8966200"/>
            <a:ext cx="4737100" cy="116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 상황 감지 모니터링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사용자의 행동 · 반응 인식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35500" y="4343400"/>
            <a:ext cx="42799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199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운동 방법</a:t>
            </a:r>
            <a:r>
              <a:rPr lang="en-US" sz="31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1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및 효과 설명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1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결과지 상세설명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1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칭찬과 격려로 동기부여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00600" y="4216400"/>
            <a:ext cx="40386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글자 크기 자동 조절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버튼 크기 최적화 조절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음량 · 음성 속도 조절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14900" y="8280400"/>
            <a:ext cx="30226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1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자연스러운 대화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05400" y="8991600"/>
            <a:ext cx="3949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질문에 자연어로 응답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운동 동기 부여 및</a:t>
            </a:r>
            <a:b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정서적 케어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06600" y="8610600"/>
            <a:ext cx="1651000" cy="1041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311400" y="3695700"/>
            <a:ext cx="1968500" cy="1968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430500" y="3695700"/>
            <a:ext cx="1701800" cy="1612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811500" y="8369300"/>
            <a:ext cx="1600200" cy="1536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33500" y="11899900"/>
            <a:ext cx="21742400" cy="12573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397000" y="11976100"/>
            <a:ext cx="216281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1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펭트는 어르신이 운동을 </a:t>
            </a:r>
            <a:r>
              <a:rPr lang="en-US" sz="4198" b="true" i="false" u="none" strike="noStrike">
                <a:solidFill>
                  <a:srgbClr val="FDE32C"/>
                </a:solidFill>
                <a:latin typeface="Pretendard Regular"/>
                <a:ea typeface="Pretendard Regular"/>
                <a:cs typeface="Pretendard Regular"/>
              </a:rPr>
              <a:t>쉽고 즐겁게, 꾸준히</a:t>
            </a:r>
            <a:r>
              <a:rPr lang="en-US" sz="41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 할수 있도록  </a:t>
            </a:r>
            <a:r>
              <a:rPr lang="en-US" sz="4198" b="true" i="false" u="none" strike="noStrike">
                <a:solidFill>
                  <a:srgbClr val="FDE32C"/>
                </a:solidFill>
                <a:latin typeface="Pretendard Regular"/>
                <a:ea typeface="Pretendard Regular"/>
                <a:cs typeface="Pretendard Regular"/>
              </a:rPr>
              <a:t>노인친화형 홈트레이닝 솔루션</a:t>
            </a:r>
            <a:r>
              <a:rPr lang="en-US" sz="4198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를 제공합니다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솔루션 소개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04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8800" y="482600"/>
            <a:ext cx="23279100" cy="12763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116800" y="9994900"/>
            <a:ext cx="2997200" cy="257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57400" y="3543300"/>
            <a:ext cx="12077700" cy="18034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2E3D86"/>
                </a:solidFill>
                <a:latin typeface="Pretendard ExtraBold"/>
                <a:ea typeface="Pretendard ExtraBold"/>
                <a:cs typeface="Pretendard ExtraBold"/>
              </a:rPr>
              <a:t>5.</a:t>
            </a:r>
            <a:r>
              <a:rPr lang="en-US" sz="10000" b="false" i="false" u="none" strike="noStrike">
                <a:solidFill>
                  <a:srgbClr val="005000"/>
                </a:solidFill>
                <a:latin typeface="Pretendard ExtraBold"/>
                <a:ea typeface="Pretendard ExtraBold"/>
                <a:cs typeface="Pretendard ExtraBold"/>
              </a:rPr>
              <a:t> </a:t>
            </a:r>
            <a:r>
              <a:rPr lang="en-US" sz="10000" b="false" i="false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확장성 및 사업화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67100" y="5473700"/>
            <a:ext cx="393700" cy="393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076700" y="5321300"/>
            <a:ext cx="70358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74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한계점 및 향후과제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67100" y="6184900"/>
            <a:ext cx="393700" cy="393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076700" y="6032500"/>
            <a:ext cx="7035800" cy="6731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574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기대효과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67100" y="6883400"/>
            <a:ext cx="419100" cy="419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114800" y="6731000"/>
            <a:ext cx="7505700" cy="7112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3823" b="false" i="false" u="none" strike="noStrike" spc="-100">
                <a:solidFill>
                  <a:srgbClr val="323232"/>
                </a:solidFill>
                <a:latin typeface="Pretendard Regular"/>
                <a:ea typeface="Pretendard Regular"/>
                <a:cs typeface="Pretendard Regular"/>
              </a:rPr>
              <a:t>비즈니스 모델 캔버스(BMC)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526500" y="622300"/>
            <a:ext cx="228600" cy="22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42500" y="622300"/>
            <a:ext cx="2286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1856700" y="622300"/>
            <a:ext cx="2286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199600" y="622300"/>
            <a:ext cx="228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872700" y="622300"/>
            <a:ext cx="228600" cy="22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15600" y="6223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558500" y="622300"/>
            <a:ext cx="228600" cy="22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46000" y="2755900"/>
            <a:ext cx="11061700" cy="115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6900" y="2755900"/>
            <a:ext cx="10515600" cy="1155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344400" y="2870200"/>
            <a:ext cx="11277600" cy="952500"/>
          </a:xfrm>
          <a:prstGeom prst="rect">
            <a:avLst/>
          </a:prstGeom>
        </p:spPr>
        <p:txBody>
          <a:bodyPr anchor="ctr" rtlCol="false" lIns="0" tIns="66040" rIns="0" bIns="66040"/>
          <a:lstStyle/>
          <a:p>
            <a:pPr algn="ctr" lvl="0">
              <a:lnSpc>
                <a:spcPct val="99600"/>
              </a:lnSpc>
            </a:pPr>
            <a:r>
              <a:rPr lang="en-US" sz="5200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향후 발전 방향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5300" y="2857500"/>
            <a:ext cx="10731500" cy="952500"/>
          </a:xfrm>
          <a:prstGeom prst="rect">
            <a:avLst/>
          </a:prstGeom>
        </p:spPr>
        <p:txBody>
          <a:bodyPr anchor="ctr" rtlCol="false" lIns="0" tIns="66040" rIns="0" bIns="66040"/>
          <a:lstStyle/>
          <a:p>
            <a:pPr algn="ctr" lvl="0">
              <a:lnSpc>
                <a:spcPct val="99600"/>
              </a:lnSpc>
            </a:pPr>
            <a:r>
              <a:rPr lang="en-US" sz="5200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한계점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596900" y="3873500"/>
          <a:ext cx="10515600" cy="9271000"/>
        </p:xfrm>
        <a:graphic>
          <a:graphicData uri="http://schemas.openxmlformats.org/drawingml/2006/table">
            <a:tbl>
              <a:tblPr/>
              <a:tblGrid>
                <a:gridCol w="10490072"/>
              </a:tblGrid>
              <a:tr h="2270233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① </a:t>
                      </a:r>
                      <a:r>
                        <a:rPr lang="en-US" sz="399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제한된 데이터 규모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
현재는 제한된 학습 데이터 기반으로 모델을 개발하여 </a:t>
                      </a:r>
                      <a:endParaRPr lang="en-US" sz="1100"/>
                    </a:p>
                    <a:p>
                      <a:pPr algn="l" lvl="0">
                        <a:lnSpc>
                          <a:spcPct val="10125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다양한 노인 특성을 충분히 반영하지 못함</a:t>
                      </a:r>
                    </a:p>
                  </a:txBody>
                  <a:tcPr anchor="t" marL="317500" marT="172718" marR="317500" marB="1270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</a:tr>
              <a:tr h="2270233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② </a:t>
                      </a:r>
                      <a:r>
                        <a:rPr lang="en-US" sz="399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고정된 운동 난이도 제공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
현재는 유형별 운동을 제공하지만 운동 수행 능력 변화에 </a:t>
                      </a:r>
                      <a:endParaRPr lang="en-US" sz="1100"/>
                    </a:p>
                    <a:p>
                      <a:pPr algn="l" lvl="0">
                        <a:lnSpc>
                          <a:spcPct val="10125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따른 실시간 난이도 조절은 지원하지 않음</a:t>
                      </a:r>
                    </a:p>
                  </a:txBody>
                  <a:tcPr anchor="t" marL="317500" marT="172718" marR="317500" marB="1270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</a:tr>
              <a:tr h="2270233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③ </a:t>
                      </a:r>
                      <a:r>
                        <a:rPr lang="en-US" sz="399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웹 기반 서비스 구현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
현재는 웹 기반으로 구현되어 네트워크 환경에 의존하고 </a:t>
                      </a:r>
                      <a:endParaRPr lang="en-US" sz="1100"/>
                    </a:p>
                    <a:p>
                      <a:pPr algn="l" lvl="0">
                        <a:lnSpc>
                          <a:spcPct val="10125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모바일 활용에 제약이 있음</a:t>
                      </a:r>
                    </a:p>
                  </a:txBody>
                  <a:tcPr anchor="t" marL="317500" marT="172718" marR="317500" marB="1270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</a:tr>
              <a:tr h="2414466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④ </a:t>
                      </a:r>
                      <a:r>
                        <a:rPr lang="en-US" sz="399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제한적인 AI Assistant 기능
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현재는 운동 안내와 기본 코칭 중심의 AI Assistant를 제공</a:t>
                      </a:r>
                      <a:endParaRPr lang="en-US" sz="1100"/>
                    </a:p>
                  </a:txBody>
                  <a:tcPr anchor="t" marL="317500" marT="172718" marR="317500" marB="1270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2446000" y="3873500"/>
          <a:ext cx="11061700" cy="9372600"/>
        </p:xfrm>
        <a:graphic>
          <a:graphicData uri="http://schemas.openxmlformats.org/drawingml/2006/table">
            <a:tbl>
              <a:tblPr/>
              <a:tblGrid>
                <a:gridCol w="11036024"/>
              </a:tblGrid>
              <a:tr h="226371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다양한 데이터 확보 및 모델 고도화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
지속적인 데이터 축적을 통해 모델의 일반화 성능과 예측 정확도 향상</a:t>
                      </a:r>
                      <a:endParaRPr lang="en-US" sz="1100"/>
                    </a:p>
                  </a:txBody>
                  <a:tcPr anchor="t" marL="304800" marT="185418" marR="304800" marB="1397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D8">
                        <a:alpha val="45882"/>
                      </a:srgbClr>
                    </a:solidFill>
                  </a:tcPr>
                </a:tc>
              </a:tr>
              <a:tr h="226371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실시간 적응형 난이도 조절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
운동 수행 데이터를 실시간 분석하여 개인 수행 능력에 맞게 </a:t>
                      </a:r>
                      <a:endParaRPr lang="en-US" sz="1100"/>
                    </a:p>
                    <a:p>
                      <a:pPr algn="l" lvl="0">
                        <a:lnSpc>
                          <a:spcPct val="10125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운동 강도와 난이도를 자동 조절</a:t>
                      </a:r>
                    </a:p>
                  </a:txBody>
                  <a:tcPr anchor="t" marL="304800" marT="185418" marR="304800" marB="1397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D8">
                        <a:alpha val="45882"/>
                      </a:srgbClr>
                    </a:solidFill>
                  </a:tcPr>
                </a:tc>
              </a:tr>
              <a:tr h="226371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온디바이스 AI 구현
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스마트폰 내 AI 추론을 통해 빠른 응답속도와 개인정보 보호를 강화하고 오프라인 환경에서도 서비스 제공</a:t>
                      </a:r>
                      <a:endParaRPr lang="en-US" sz="1100"/>
                    </a:p>
                  </a:txBody>
                  <a:tcPr anchor="t" marL="304800" marT="185418" marR="304800" marB="1397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D8">
                        <a:alpha val="45882"/>
                      </a:srgbClr>
                    </a:solidFill>
                  </a:tcPr>
                </a:tc>
              </a:tr>
              <a:tr h="253231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01259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AI Assistant 고도화</a:t>
                      </a: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
사용자의 행동과 대화 맥락을 이해하는 개인 맞춤형 AI 케어 </a:t>
                      </a:r>
                      <a:endParaRPr lang="en-US" sz="1100"/>
                    </a:p>
                    <a:p>
                      <a:pPr algn="l" lvl="0">
                        <a:lnSpc>
                          <a:spcPct val="101259"/>
                        </a:lnSpc>
                      </a:pPr>
                      <a:r>
                        <a:rPr lang="en-US" sz="3333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어시스턴트로 발전하여 건강 상담과 지속적인 동기부여까지 지원</a:t>
                      </a:r>
                    </a:p>
                  </a:txBody>
                  <a:tcPr anchor="t" marL="304800" marT="185418" marR="304800" marB="13970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D8">
                        <a:alpha val="45882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239500" y="7670800"/>
            <a:ext cx="1231900" cy="1054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확장성 및 사업화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한계점 및 발전 방향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0">
            <a:off x="8255000" y="3492500"/>
            <a:ext cx="7886700" cy="788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27200" y="2933700"/>
            <a:ext cx="9969500" cy="4114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057900" y="4267200"/>
            <a:ext cx="4241800" cy="214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859"/>
              </a:lnSpc>
            </a:pP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낙상·인지저하 예방
신체·인지 기능 유지 향상
독립적인 일상생활 지속
</a:t>
            </a:r>
            <a:r>
              <a:rPr lang="en-US" sz="294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건강한 노후 생활</a:t>
            </a: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 제공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35600" y="3276600"/>
            <a:ext cx="33147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A79D"/>
                </a:solidFill>
                <a:latin typeface="Pretendard Bold"/>
                <a:ea typeface="Pretendard Bold"/>
                <a:cs typeface="Pretendard Bold"/>
              </a:rPr>
              <a:t>사용자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27200" y="8013700"/>
            <a:ext cx="9969500" cy="4114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435600" y="8470900"/>
            <a:ext cx="59944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5470B6"/>
                </a:solidFill>
                <a:latin typeface="Pretendard Bold"/>
                <a:ea typeface="Pretendard Bold"/>
                <a:cs typeface="Pretendard Bold"/>
              </a:rPr>
              <a:t>의료 · 돌봄 서비스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38100" y="8013700"/>
            <a:ext cx="9969500" cy="4114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373600" y="8369300"/>
            <a:ext cx="42418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EF9D39"/>
                </a:solidFill>
                <a:latin typeface="Pretendard Bold"/>
                <a:ea typeface="Pretendard Bold"/>
                <a:cs typeface="Pretendard Bold"/>
              </a:rPr>
              <a:t>사회 · 경제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38100" y="2933700"/>
            <a:ext cx="9969500" cy="4114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7360900" y="3276600"/>
            <a:ext cx="48006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87AF3B"/>
                </a:solidFill>
                <a:latin typeface="Pretendard Bold"/>
                <a:ea typeface="Pretendard Bold"/>
                <a:cs typeface="Pretendard Bold"/>
              </a:rPr>
              <a:t>보호자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17100" y="4445000"/>
            <a:ext cx="5130800" cy="596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693900" y="3454400"/>
            <a:ext cx="2679700" cy="311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59000" y="3276600"/>
            <a:ext cx="2413000" cy="3187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59000" y="8470900"/>
            <a:ext cx="3200400" cy="320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058900" y="8293100"/>
            <a:ext cx="3429000" cy="3695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73700" y="4279900"/>
            <a:ext cx="482600" cy="482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057900" y="9499600"/>
            <a:ext cx="4241800" cy="161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859"/>
              </a:lnSpc>
            </a:pP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고위험군 조기 선별</a:t>
            </a:r>
            <a:r>
              <a:rPr lang="en-US" sz="294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
예방 중심 관리체계 구축</a:t>
            </a: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
돌봄 인력 운영 효율화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084800" y="4279900"/>
            <a:ext cx="4241800" cy="161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7859"/>
              </a:lnSpc>
            </a:pP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건강 상태 상시 모니터링
이상 징후 조기 발견
</a:t>
            </a:r>
            <a:r>
              <a:rPr lang="en-US" sz="294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돌봄 부담 및 불안 감소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72100" y="9423400"/>
            <a:ext cx="4241800" cy="2146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7859"/>
              </a:lnSpc>
            </a:pP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요양시설 입소 지연
낙상·치매 관련 </a:t>
            </a:r>
            <a:r>
              <a:rPr lang="en-US" sz="2945" b="true" i="false" u="none" strike="noStrike">
                <a:solidFill>
                  <a:srgbClr val="D94925"/>
                </a:solidFill>
                <a:latin typeface="Pretendard Regular"/>
                <a:ea typeface="Pretendard Regular"/>
                <a:cs typeface="Pretendard Regular"/>
              </a:rPr>
              <a:t>의료비 절감</a:t>
            </a:r>
            <a:r>
              <a:rPr lang="en-US" sz="2945" b="false" i="false" u="none" strike="noStrike">
                <a:solidFill>
                  <a:srgbClr val="171653"/>
                </a:solidFill>
                <a:latin typeface="Pretendard Regular"/>
                <a:ea typeface="Pretendard Regular"/>
                <a:cs typeface="Pretendard Regular"/>
              </a:rPr>
              <a:t>
돌봄 공백 완화
건강보험 재정 부담 감소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73700" y="4813300"/>
            <a:ext cx="482600" cy="482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73700" y="5346700"/>
            <a:ext cx="482600" cy="482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73700" y="5880100"/>
            <a:ext cx="482600" cy="482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473700" y="9512300"/>
            <a:ext cx="482600" cy="482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473700" y="10045700"/>
            <a:ext cx="482600" cy="482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473700" y="10579100"/>
            <a:ext cx="482600" cy="482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449800" y="4318000"/>
            <a:ext cx="482600" cy="482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449800" y="4851400"/>
            <a:ext cx="482600" cy="482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449800" y="5384800"/>
            <a:ext cx="482600" cy="482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449800" y="9436100"/>
            <a:ext cx="482600" cy="482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449800" y="9969500"/>
            <a:ext cx="482600" cy="482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449800" y="10502900"/>
            <a:ext cx="482600" cy="482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449800" y="11036300"/>
            <a:ext cx="4826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752600" y="12331700"/>
            <a:ext cx="20980400" cy="12954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5321300" y="12458700"/>
            <a:ext cx="15468600" cy="101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541" b="true" i="false" u="none" strike="noStrike" spc="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노인이 원하는 삶의 공간에서 더 오래, 더 건강하게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375900" y="5499100"/>
            <a:ext cx="4076700" cy="2552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515600" y="5080000"/>
            <a:ext cx="3454400" cy="2971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기대 효과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확장성 및 사업화 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7000"/>
          </a:blip>
          <a:stretch>
            <a:fillRect/>
          </a:stretch>
        </p:blipFill>
        <p:spPr>
          <a:xfrm rot="0">
            <a:off x="2286000" y="7150100"/>
            <a:ext cx="21412200" cy="685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rot="0">
            <a:off x="2273300" y="2946400"/>
            <a:ext cx="7213600" cy="10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 rot="0">
            <a:off x="9347200" y="2921000"/>
            <a:ext cx="7035800" cy="10160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69900" y="3924300"/>
          <a:ext cx="23241000" cy="8496300"/>
        </p:xfrm>
        <a:graphic>
          <a:graphicData uri="http://schemas.openxmlformats.org/drawingml/2006/table">
            <a:tbl>
              <a:tblPr/>
              <a:tblGrid>
                <a:gridCol w="1799045"/>
                <a:gridCol w="6955790"/>
                <a:gridCol w="7042150"/>
                <a:gridCol w="7397750"/>
              </a:tblGrid>
              <a:tr h="391940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76" b="false" i="false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대상자</a:t>
                      </a:r>
                      <a:endParaRPr lang="en-US" sz="1100"/>
                    </a:p>
                  </a:txBody>
                  <a:tcPr anchor="ctr" marL="25400" marT="86782" marR="25400" marB="86782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A9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2" b="false" i="false" u="none" strike="noStrike">
                          <a:solidFill>
                            <a:srgbClr val="787878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ctr" marL="25400" marT="66665" marR="25400" marB="66665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600" b="false" i="false" u="none" strike="noStrike">
                          <a:solidFill>
                            <a:srgbClr val="787878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55371" marR="25400" marB="55371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76" b="false" i="false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1796" marR="25400" marB="71796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77478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69" b="false" i="false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제공 가치</a:t>
                      </a:r>
                      <a:endParaRPr lang="en-US" sz="1100"/>
                    </a:p>
                  </a:txBody>
                  <a:tcPr anchor="ctr" marL="25400" marT="86647" marR="25400" marB="86647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A9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6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신체 · 인지 기능 평가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운동 수행 관리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건강 위험도 리포트 제공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이상 징후 알림 서비스</a:t>
                      </a:r>
                    </a:p>
                  </a:txBody>
                  <a:tcPr anchor="t" marL="228600" marT="79154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이용자 통합 관리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운영 프로그램 운영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기능 평가 및 </a:t>
                      </a:r>
                      <a:r>
                        <a:rPr lang="en-US" sz="286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리포트 자동생성</a:t>
                      </a:r>
                    </a:p>
                  </a:txBody>
                  <a:tcPr anchor="t" marL="228600" marT="79154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독거노인 예방관리</a:t>
                      </a:r>
                      <a:endParaRPr lang="en-US" sz="1100"/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디지털 돌봄 연계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위험도 모니터링 및 조기개입</a:t>
                      </a:r>
                    </a:p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정책/사업 데이터 기반 관리</a:t>
                      </a:r>
                    </a:p>
                  </a:txBody>
                  <a:tcPr anchor="t" marL="228600" marT="79154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058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69" b="false" i="false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수익구조</a:t>
                      </a:r>
                      <a:endParaRPr lang="en-US" sz="1100"/>
                    </a:p>
                  </a:txBody>
                  <a:tcPr anchor="ctr" marL="25400" marT="86647" marR="25400" marB="86647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A9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월 구독 서비스 </a:t>
                      </a:r>
                      <a:b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273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</a:t>
                      </a:r>
                      <a:r>
                        <a:rPr lang="en-US" sz="273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</a:t>
                      </a:r>
                      <a:r>
                        <a:rPr lang="en-US" sz="273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,990원</a:t>
                      </a:r>
                      <a:r>
                        <a:rPr lang="en-US" sz="2069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/월</a:t>
                      </a:r>
                      <a:r>
                        <a:rPr lang="en-US" sz="2736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x 1,000명</a:t>
                      </a:r>
                      <a:r>
                        <a:rPr lang="en-US" sz="2736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</a:t>
                      </a: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→</a:t>
                      </a:r>
                      <a:r>
                        <a:rPr lang="en-US" sz="2736" b="fals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73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월 399만원</a:t>
                      </a: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)</a:t>
                      </a:r>
                      <a:endParaRPr lang="en-US" sz="1100"/>
                    </a:p>
                  </a:txBody>
                  <a:tcPr anchor="t" marL="228600" marT="79154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분기 구독 / 라이선스 </a:t>
                      </a:r>
                      <a:r>
                        <a:rPr lang="en-US" sz="3002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기관별 구독</a:t>
                      </a:r>
                      <a:br>
                        <a:rPr lang="en-US" sz="3002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</a:t>
                      </a:r>
                      <a:r>
                        <a:rPr lang="en-US" sz="273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30만원</a:t>
                      </a:r>
                      <a:r>
                        <a:rPr lang="en-US" sz="206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/월</a:t>
                      </a:r>
                      <a:r>
                        <a:rPr lang="en-US" sz="2736" b="tru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</a:t>
                      </a: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→ 100개 기관 → </a:t>
                      </a:r>
                      <a:r>
                        <a:rPr lang="en-US" sz="2736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월 3,000만원</a:t>
                      </a:r>
                      <a:r>
                        <a:rPr lang="en-US" sz="2736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)</a:t>
                      </a:r>
                      <a:endParaRPr lang="en-US" sz="1100"/>
                    </a:p>
                  </a:txBody>
                  <a:tcPr anchor="t" marL="228600" marT="81651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1" marL="342900" indent="-342900">
                        <a:lnSpc>
                          <a:spcPct val="91714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86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공공사업 계약</a:t>
                      </a:r>
                      <a:br>
                        <a:rPr lang="en-US" sz="286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</a:t>
                      </a:r>
                      <a:r>
                        <a:rPr lang="en-US" sz="286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5천만원</a:t>
                      </a:r>
                      <a:r>
                        <a:rPr lang="en-US" sz="206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/1건</a:t>
                      </a: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x 10개 지자체 → </a:t>
                      </a:r>
                      <a:r>
                        <a:rPr lang="en-US" sz="2869" b="true" i="false" u="none" strike="noStrike">
                          <a:solidFill>
                            <a:srgbClr val="D94925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5억원</a:t>
                      </a: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)</a:t>
                      </a:r>
                      <a:endParaRPr lang="en-US" sz="1100"/>
                    </a:p>
                  </a:txBody>
                  <a:tcPr anchor="t" marL="228600" marT="79154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691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3269" b="false" i="false" u="none" strike="noStrike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운영 
시나리오</a:t>
                      </a:r>
                      <a:endParaRPr lang="en-US" sz="1100"/>
                    </a:p>
                  </a:txBody>
                  <a:tcPr anchor="ctr" marL="25400" marT="86647" marR="25400" marB="86647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A98"/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2869" b="false" i="false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</a:p>
                  </a:txBody>
                  <a:tcPr anchor="t" marL="228600" marT="79154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28600" marT="25400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28600" marT="25400" marR="228600" marB="25400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 rot="0">
            <a:off x="16357600" y="2921000"/>
            <a:ext cx="73406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721100" y="3124200"/>
            <a:ext cx="43307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597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① B2C 구독형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15600" y="3111500"/>
            <a:ext cx="46482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597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② B2B2C 기관 연계형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00600" y="3111500"/>
            <a:ext cx="5080000" cy="67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597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③ B2B/B2G 공공 연계형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00500" y="4025900"/>
            <a:ext cx="6426200" cy="3175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191000" y="7226300"/>
            <a:ext cx="32258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0" b="true" i="false" u="none" strike="noStrike" spc="-300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노인, 보호자(가족)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54300" y="4102100"/>
            <a:ext cx="6184900" cy="3035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613900" y="7226300"/>
            <a:ext cx="72771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0" b="true" i="false" u="none" strike="noStrike" spc="-300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복지관, 주야간보호센터, 방문건강관리 기관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859500" y="7239000"/>
            <a:ext cx="2476500" cy="635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00" b="true" i="false" u="none" strike="noStrike" spc="-300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지자체, 보건소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626600" y="3937000"/>
            <a:ext cx="6616700" cy="327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alphaModFix amt="15000"/>
          </a:blip>
          <a:stretch>
            <a:fillRect/>
          </a:stretch>
        </p:blipFill>
        <p:spPr>
          <a:xfrm rot="0">
            <a:off x="3797300" y="10706100"/>
            <a:ext cx="3175000" cy="1612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alphaModFix amt="15000"/>
          </a:blip>
          <a:stretch>
            <a:fillRect/>
          </a:stretch>
        </p:blipFill>
        <p:spPr>
          <a:xfrm rot="0">
            <a:off x="7429500" y="10706100"/>
            <a:ext cx="3175000" cy="1612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11061700" y="10706100"/>
            <a:ext cx="3175000" cy="1612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54000"/>
          </a:blip>
          <a:stretch>
            <a:fillRect/>
          </a:stretch>
        </p:blipFill>
        <p:spPr>
          <a:xfrm rot="0">
            <a:off x="14693900" y="10706100"/>
            <a:ext cx="3175000" cy="1612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326100" y="10706100"/>
            <a:ext cx="3175000" cy="16129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4000500" y="10833100"/>
            <a:ext cx="29083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8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1단계 PoC/ 무료체험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94600" y="10833100"/>
            <a:ext cx="2946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8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2단계 유료 구독 전환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7800" y="10833100"/>
            <a:ext cx="2222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8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3단계 기관 계약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47900" y="10833100"/>
            <a:ext cx="2794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8" b="true" i="false" u="none" strike="noStrike">
                <a:solidFill>
                  <a:srgbClr val="2E3D86"/>
                </a:solidFill>
                <a:latin typeface="Pretendard Medium"/>
                <a:ea typeface="Pretendard Medium"/>
                <a:cs typeface="Pretendard Medium"/>
              </a:rPr>
              <a:t>4단계 공공사업 연계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16600" y="10833100"/>
            <a:ext cx="2882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8" b="tru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5단계 확장 및 고도화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52900" y="11404600"/>
            <a:ext cx="24892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개인 사용자 대상
무료 체험 제공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51800" y="11404600"/>
            <a:ext cx="1905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만족도 기반
유료 구독 전환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50600" y="11404600"/>
            <a:ext cx="29972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복지관, 주관보호센터, </a:t>
            </a:r>
          </a:p>
          <a:p>
            <a:pPr algn="ctr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방문건강관리 기관 도입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566900" y="11404600"/>
            <a:ext cx="34671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지자체, 보건소, 예방사업 
및 공공 서비스 확대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402300" y="11404600"/>
            <a:ext cx="3009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병원, 보험사, 기업 등
연계 사업 확장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72300" y="11315700"/>
            <a:ext cx="596900" cy="406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211300" y="11315700"/>
            <a:ext cx="596900" cy="406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42600" y="11315700"/>
            <a:ext cx="596900" cy="4064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19700" y="11315700"/>
            <a:ext cx="596900" cy="406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930400" y="889000"/>
            <a:ext cx="5765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확장성 및 사업화 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4300" y="889000"/>
            <a:ext cx="762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1F99DF"/>
                </a:solidFill>
                <a:latin typeface="Pretendard Regular"/>
                <a:ea typeface="Pretendard Regular"/>
                <a:cs typeface="Pretendard Regular"/>
              </a:rPr>
              <a:t>05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비즈니스 모델 (BMC)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78700" y="8394700"/>
            <a:ext cx="5816600" cy="426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01100" y="7937500"/>
            <a:ext cx="2959100" cy="939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775700" y="8166100"/>
            <a:ext cx="30480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ide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6700" y="8394700"/>
            <a:ext cx="6692900" cy="426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30400" y="7937500"/>
            <a:ext cx="2959100" cy="939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05000" y="8166100"/>
            <a:ext cx="30480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lANGUAGE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2476500"/>
            <a:ext cx="5880100" cy="939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8077200" y="2705100"/>
            <a:ext cx="8369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lIBRARY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73400" y="4102100"/>
            <a:ext cx="2768600" cy="2768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708400" y="66167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O</a:t>
            </a: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pen</a:t>
            </a: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 CV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461000" y="3708400"/>
            <a:ext cx="3378200" cy="3378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6451600" y="66548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P</a:t>
            </a: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yTorch 2.5.1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45400" y="9321800"/>
            <a:ext cx="2413000" cy="2413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556500" y="118491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vs </a:t>
            </a: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code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805400" y="8394700"/>
            <a:ext cx="6375400" cy="426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262600" y="7937500"/>
            <a:ext cx="5461000" cy="939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6789400" y="8166100"/>
            <a:ext cx="8369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COLLABORATION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440400" y="9334500"/>
            <a:ext cx="2374900" cy="23749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8237200" y="118491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Slack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043900" y="9423400"/>
            <a:ext cx="2362200" cy="2362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487400" y="8394700"/>
            <a:ext cx="3911600" cy="42672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0840700" y="118745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GitHub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81100" y="7937500"/>
            <a:ext cx="2959100" cy="9398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3855700" y="8166100"/>
            <a:ext cx="30480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cloud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33500" y="118491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Flask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127000" y="-12700"/>
            <a:ext cx="24523700" cy="215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079500" y="2057400"/>
            <a:ext cx="749300" cy="1397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676400" y="1638300"/>
            <a:ext cx="178435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Hakgyoansim Allimjang TTF R"/>
                <a:ea typeface="Hakgyoansim Allimjang TTF R"/>
                <a:cs typeface="Hakgyoansim Allimjang TTF R"/>
              </a:rPr>
              <a:t>개발환경 및 기술 스택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636000" y="3848100"/>
            <a:ext cx="2768600" cy="28067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9410700" y="66167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Numpy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53900" y="66548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pandas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871700" y="66548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scipy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3970000" y="8978900"/>
            <a:ext cx="2819400" cy="29083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8618200" y="66548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 cap="all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scitkit-learn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620500" y="3924300"/>
            <a:ext cx="2705100" cy="2705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929100" y="3784600"/>
            <a:ext cx="5511800" cy="2895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4300200" y="3810000"/>
            <a:ext cx="2844800" cy="2844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3683000" y="118491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Kotlin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37800" y="118491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Android Studio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911600" y="9131300"/>
            <a:ext cx="2692400" cy="2679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172700" y="8775700"/>
            <a:ext cx="3187700" cy="3136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787400" y="9118600"/>
            <a:ext cx="2679700" cy="267970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787400" y="11760200"/>
            <a:ext cx="2781300" cy="5588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spc="-100">
                <a:solidFill>
                  <a:srgbClr val="171B40"/>
                </a:solidFill>
                <a:latin typeface="Pretendard Regular"/>
                <a:ea typeface="Pretendard Regular"/>
                <a:cs typeface="Pretendard Regular"/>
              </a:rPr>
              <a:t>Python 3.11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